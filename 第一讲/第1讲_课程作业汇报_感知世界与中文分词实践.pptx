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A5B2F4-348A-4E32-8DEF-1080B9574E9B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8629E-C6C4-49A6-8992-6390853A1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73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8629E-C6C4-49A6-8992-6390853A1B3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132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xt_mining_lecture1_assignmen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9/18/2026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ext_mining_lecture1_assignmen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9/18/2026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62000" y="571500"/>
            <a:ext cx="10668000" cy="571500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 w="14288">
            <a:solidFill>
              <a:srgbClr val="3A506B"/>
            </a:solidFill>
          </a:ln>
        </p:spPr>
      </p:sp>
      <p:sp>
        <p:nvSpPr>
          <p:cNvPr id="3" name="Rectangle 3"/>
          <p:cNvSpPr/>
          <p:nvPr/>
        </p:nvSpPr>
        <p:spPr>
          <a:xfrm>
            <a:off x="1333500" y="1143000"/>
            <a:ext cx="2952750" cy="361950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  <a:ln w="14288">
            <a:solidFill>
              <a:srgbClr val="818CF8"/>
            </a:solidFill>
          </a:ln>
        </p:spPr>
      </p:sp>
      <p:sp>
        <p:nvSpPr>
          <p:cNvPr id="4" name="Ellipse 4"/>
          <p:cNvSpPr/>
          <p:nvPr/>
        </p:nvSpPr>
        <p:spPr>
          <a:xfrm>
            <a:off x="1485900" y="1266825"/>
            <a:ext cx="114300" cy="1143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08785" y="1259681"/>
            <a:ext cx="218933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文本数据采集与知识图谱 · 第1讲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4450" y="1864995"/>
            <a:ext cx="843838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感知世界：中文分词与知识抽取实践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24356" y="2663190"/>
            <a:ext cx="65608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从词典规则分词到大语言模型实体抽取的实验探索与深度反思</a:t>
            </a:r>
          </a:p>
        </p:txBody>
      </p:sp>
      <p:sp>
        <p:nvSpPr>
          <p:cNvPr id="8" name="Line 8"/>
          <p:cNvSpPr/>
          <p:nvPr/>
        </p:nvSpPr>
        <p:spPr>
          <a:xfrm>
            <a:off x="1333500" y="3286125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14288">
            <a:solidFill>
              <a:srgbClr val="3A506B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1333500" y="3571875"/>
            <a:ext cx="2190750" cy="1428750"/>
          </a:xfrm>
          <a:prstGeom prst="roundRect">
            <a:avLst>
              <a:gd name="adj" fmla="val 9333"/>
            </a:avLst>
          </a:prstGeom>
          <a:solidFill>
            <a:srgbClr val="0B132B">
              <a:alpha val="60000"/>
            </a:srgbClr>
          </a:solidFill>
          <a:ln w="11430">
            <a:solidFill>
              <a:srgbClr val="334155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1524000" y="37623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38BDF8">
              <a:alpha val="20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580453" y="3842385"/>
            <a:ext cx="1918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17523" y="4196239"/>
            <a:ext cx="104683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基础分词对比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19047" y="4514374"/>
            <a:ext cx="1061220" cy="3811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00"/>
              </a:lnSpc>
            </a:pPr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Jieba分词机制与</a:t>
            </a:r>
            <a:br/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SnowNLP算法评测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714750" y="3571875"/>
            <a:ext cx="2190750" cy="1428750"/>
          </a:xfrm>
          <a:prstGeom prst="roundRect">
            <a:avLst>
              <a:gd name="adj" fmla="val 9333"/>
            </a:avLst>
          </a:prstGeom>
          <a:solidFill>
            <a:srgbClr val="0B132B">
              <a:alpha val="60000"/>
            </a:srgbClr>
          </a:solidFill>
          <a:ln w="11430">
            <a:solidFill>
              <a:srgbClr val="334155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3905250" y="37623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818CF8">
              <a:alpha val="20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3961703" y="3842385"/>
            <a:ext cx="1918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98773" y="4196239"/>
            <a:ext cx="121914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科学家传记切分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00297" y="4514374"/>
            <a:ext cx="1005586" cy="3811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00"/>
              </a:lnSpc>
            </a:pPr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黄旭华院士传记与</a:t>
            </a:r>
            <a:br/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专有用户词典保护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096000" y="3571875"/>
            <a:ext cx="2190750" cy="1428750"/>
          </a:xfrm>
          <a:prstGeom prst="roundRect">
            <a:avLst>
              <a:gd name="adj" fmla="val 9333"/>
            </a:avLst>
          </a:prstGeom>
          <a:solidFill>
            <a:srgbClr val="0B132B">
              <a:alpha val="60000"/>
            </a:srgbClr>
          </a:solidFill>
          <a:ln w="11430">
            <a:solidFill>
              <a:srgbClr val="334155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6286500" y="37623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34D399">
              <a:alpha val="20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342953" y="3842385"/>
            <a:ext cx="1918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280023" y="4196239"/>
            <a:ext cx="139146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企业年报词频分析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81547" y="4514374"/>
            <a:ext cx="1130046" cy="3811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00"/>
              </a:lnSpc>
            </a:pPr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数字化与安全实体</a:t>
            </a:r>
            <a:br/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词频价值与局限反思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477250" y="3571875"/>
            <a:ext cx="2190750" cy="1428750"/>
          </a:xfrm>
          <a:prstGeom prst="roundRect">
            <a:avLst>
              <a:gd name="adj" fmla="val 9333"/>
            </a:avLst>
          </a:prstGeom>
          <a:solidFill>
            <a:srgbClr val="0B132B">
              <a:alpha val="60000"/>
            </a:srgbClr>
          </a:solidFill>
          <a:ln w="11430">
            <a:solidFill>
              <a:srgbClr val="334155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667750" y="37623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724203" y="3842385"/>
            <a:ext cx="1918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61273" y="4196239"/>
            <a:ext cx="12917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Gemini实体抽取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662797" y="4514374"/>
            <a:ext cx="1130046" cy="3811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00"/>
              </a:lnSpc>
            </a:pPr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大模型结构化抽取</a:t>
            </a:r>
            <a:br/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与识别逻辑深度解析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35AE700-3898-6DE8-8BAE-F9FFD8194127}"/>
              </a:ext>
            </a:extLst>
          </p:cNvPr>
          <p:cNvSpPr txBox="1"/>
          <p:nvPr/>
        </p:nvSpPr>
        <p:spPr>
          <a:xfrm>
            <a:off x="1382894" y="5512757"/>
            <a:ext cx="700865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solidFill>
                  <a:schemeClr val="bg1"/>
                </a:solidFill>
                <a:latin typeface="+mn-ea"/>
              </a:rPr>
              <a:t>PPT</a:t>
            </a:r>
            <a:r>
              <a:rPr lang="zh-CN" altLang="en-US" sz="1100" dirty="0">
                <a:solidFill>
                  <a:schemeClr val="bg1"/>
                </a:solidFill>
                <a:latin typeface="+mn-ea"/>
              </a:rPr>
              <a:t>由</a:t>
            </a:r>
            <a:r>
              <a:rPr lang="en-US" altLang="zh-CN" sz="1100" dirty="0">
                <a:solidFill>
                  <a:schemeClr val="bg1"/>
                </a:solidFill>
                <a:latin typeface="+mn-ea"/>
              </a:rPr>
              <a:t>Antigravity</a:t>
            </a:r>
            <a:r>
              <a:rPr lang="zh-CN" altLang="en-US" sz="1100" dirty="0">
                <a:solidFill>
                  <a:schemeClr val="bg1"/>
                </a:solidFill>
                <a:latin typeface="+mn-ea"/>
              </a:rPr>
              <a:t>辅助制作</a:t>
            </a:r>
            <a:endParaRPr lang="en-US" altLang="zh-CN" sz="1100" dirty="0">
              <a:solidFill>
                <a:schemeClr val="bg1"/>
              </a:solidFill>
              <a:latin typeface="+mn-ea"/>
            </a:endParaRPr>
          </a:p>
          <a:p>
            <a:r>
              <a:rPr lang="zh-CN" altLang="en-US" sz="1100" dirty="0">
                <a:solidFill>
                  <a:schemeClr val="bg1"/>
                </a:solidFill>
              </a:rPr>
              <a:t>制作流程：手动给出模版</a:t>
            </a:r>
            <a:r>
              <a:rPr lang="en-US" altLang="zh-CN" sz="1100" dirty="0">
                <a:solidFill>
                  <a:schemeClr val="bg1"/>
                </a:solidFill>
              </a:rPr>
              <a:t>ppt</a:t>
            </a:r>
            <a:r>
              <a:rPr lang="zh-CN" altLang="en-US" sz="1100" dirty="0">
                <a:solidFill>
                  <a:schemeClr val="bg1"/>
                </a:solidFill>
              </a:rPr>
              <a:t>，框架，重点，作业完成过程等，让</a:t>
            </a:r>
            <a:r>
              <a:rPr lang="en-US" altLang="zh-CN" sz="1100" dirty="0">
                <a:solidFill>
                  <a:schemeClr val="bg1"/>
                </a:solidFill>
              </a:rPr>
              <a:t>Antigravity</a:t>
            </a:r>
            <a:r>
              <a:rPr lang="zh-CN" altLang="en-US" sz="1100" dirty="0">
                <a:solidFill>
                  <a:schemeClr val="bg1"/>
                </a:solidFill>
              </a:rPr>
              <a:t>使用</a:t>
            </a:r>
            <a:r>
              <a:rPr lang="en-US" altLang="zh-CN" sz="1100" dirty="0" err="1">
                <a:solidFill>
                  <a:schemeClr val="bg1"/>
                </a:solidFill>
              </a:rPr>
              <a:t>pptmaster</a:t>
            </a:r>
            <a:r>
              <a:rPr lang="zh-CN" altLang="en-US" sz="1100" dirty="0">
                <a:solidFill>
                  <a:schemeClr val="bg1"/>
                </a:solidFill>
              </a:rPr>
              <a:t>完善措辞与视觉效果</a:t>
            </a:r>
          </a:p>
          <a:p>
            <a:endParaRPr lang="zh-CN" altLang="en-US" sz="1100" dirty="0">
              <a:solidFill>
                <a:schemeClr val="bg1"/>
              </a:solidFill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55295"/>
            <a:ext cx="357835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实践内容大纲与演进逻辑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5904" y="870585"/>
            <a:ext cx="5020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从浅层字词切分到企业实务分析，再到大模型实体识别与关系抽取构想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9062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4288">
            <a:solidFill>
              <a:srgbClr val="1E293B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476375"/>
            <a:ext cx="2476500" cy="3619500"/>
          </a:xfrm>
          <a:prstGeom prst="roundRect">
            <a:avLst>
              <a:gd name="adj" fmla="val 6154"/>
            </a:avLst>
          </a:prstGeom>
          <a:solidFill>
            <a:srgbClr val="1C2541"/>
          </a:solidFill>
          <a:ln w="14288">
            <a:solidFill>
              <a:srgbClr val="334155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000125" y="17145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38BDF8">
              <a:alpha val="15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18317" y="1866900"/>
            <a:ext cx="2398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505" y="2362200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基础分词机制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4791" y="26965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算法原理与对比</a:t>
            </a:r>
          </a:p>
        </p:txBody>
      </p:sp>
      <p:sp>
        <p:nvSpPr>
          <p:cNvPr id="10" name="Line 10"/>
          <p:cNvSpPr/>
          <p:nvPr/>
        </p:nvSpPr>
        <p:spPr>
          <a:xfrm>
            <a:off x="1000125" y="3000375"/>
            <a:ext cx="2000250" cy="9525"/>
          </a:xfrm>
          <a:custGeom>
            <a:avLst/>
            <a:gdLst/>
            <a:ahLst/>
            <a:cxnLst/>
            <a:rect l="l" t="t" r="r" b="b"/>
            <a:pathLst>
              <a:path w="2000250" h="9525">
                <a:moveTo>
                  <a:pt x="0" y="0"/>
                </a:moveTo>
                <a:lnTo>
                  <a:pt x="200025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994791" y="3172778"/>
            <a:ext cx="13239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Jieba 精确切分模式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4791" y="3458528"/>
            <a:ext cx="15079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用户字典解决未登录词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4791" y="3744278"/>
            <a:ext cx="136655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停用词清洗虚词噪声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4791" y="4030028"/>
            <a:ext cx="16299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Jieba 与 SnowNLP 对比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5172" y="4466749"/>
            <a:ext cx="146111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基础工程环境与规则构建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486150" y="1476375"/>
            <a:ext cx="2476500" cy="3619500"/>
          </a:xfrm>
          <a:prstGeom prst="roundRect">
            <a:avLst>
              <a:gd name="adj" fmla="val 6154"/>
            </a:avLst>
          </a:prstGeom>
          <a:solidFill>
            <a:srgbClr val="1C2541"/>
          </a:solidFill>
          <a:ln w="14288">
            <a:solidFill>
              <a:srgbClr val="334155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3724275" y="17145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818CF8">
              <a:alpha val="15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3842467" y="1866900"/>
            <a:ext cx="2398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16655" y="2362200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科学家传记切分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718941" y="2696528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专业实体保护实战</a:t>
            </a:r>
          </a:p>
        </p:txBody>
      </p:sp>
      <p:sp>
        <p:nvSpPr>
          <p:cNvPr id="21" name="Line 21"/>
          <p:cNvSpPr/>
          <p:nvPr/>
        </p:nvSpPr>
        <p:spPr>
          <a:xfrm>
            <a:off x="3724275" y="3000375"/>
            <a:ext cx="2000250" cy="9525"/>
          </a:xfrm>
          <a:custGeom>
            <a:avLst/>
            <a:gdLst/>
            <a:ahLst/>
            <a:cxnLst/>
            <a:rect l="l" t="t" r="r" b="b"/>
            <a:pathLst>
              <a:path w="2000250" h="9525">
                <a:moveTo>
                  <a:pt x="0" y="0"/>
                </a:moveTo>
                <a:lnTo>
                  <a:pt x="200025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718941" y="3172778"/>
            <a:ext cx="136655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黄旭华院士生平文本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18941" y="3458528"/>
            <a:ext cx="136655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专有名词碎片化痛点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718941" y="3744278"/>
            <a:ext cx="13037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机构/职位/荣誉保护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718941" y="4030028"/>
            <a:ext cx="131934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“词典先行”实践准则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719322" y="4466749"/>
            <a:ext cx="1329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垂直领域语料实操验证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219825" y="1476375"/>
            <a:ext cx="2476500" cy="3619500"/>
          </a:xfrm>
          <a:prstGeom prst="roundRect">
            <a:avLst>
              <a:gd name="adj" fmla="val 6154"/>
            </a:avLst>
          </a:prstGeom>
          <a:solidFill>
            <a:srgbClr val="1C2541"/>
          </a:solidFill>
          <a:ln w="14288">
            <a:solidFill>
              <a:srgbClr val="334155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6457950" y="17145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34D399">
              <a:alpha val="15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576142" y="1866900"/>
            <a:ext cx="2398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450330" y="2362200"/>
            <a:ext cx="1630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企业年报词频分析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452616" y="2696528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数字化与安全实务</a:t>
            </a:r>
          </a:p>
        </p:txBody>
      </p:sp>
      <p:sp>
        <p:nvSpPr>
          <p:cNvPr id="32" name="Line 32"/>
          <p:cNvSpPr/>
          <p:nvPr/>
        </p:nvSpPr>
        <p:spPr>
          <a:xfrm>
            <a:off x="6457950" y="3000375"/>
            <a:ext cx="2000250" cy="9525"/>
          </a:xfrm>
          <a:custGeom>
            <a:avLst/>
            <a:gdLst/>
            <a:ahLst/>
            <a:cxnLst/>
            <a:rect l="l" t="t" r="r" b="b"/>
            <a:pathLst>
              <a:path w="2000250" h="9525">
                <a:moveTo>
                  <a:pt x="0" y="0"/>
                </a:moveTo>
                <a:lnTo>
                  <a:pt x="200025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452616" y="3172778"/>
            <a:ext cx="15079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经管顶刊研究范式探索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52616" y="3458528"/>
            <a:ext cx="16652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PDF数据提取与断行挑战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452616" y="3744278"/>
            <a:ext cx="15079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目标实体词频统计结果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452616" y="4030028"/>
            <a:ext cx="15079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词频价值与局限性思考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452997" y="4466749"/>
            <a:ext cx="146111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经管大数据实务分析路径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953500" y="1476375"/>
            <a:ext cx="2476500" cy="3619500"/>
          </a:xfrm>
          <a:prstGeom prst="roundRect">
            <a:avLst>
              <a:gd name="adj" fmla="val 6154"/>
            </a:avLst>
          </a:prstGeom>
          <a:solidFill>
            <a:srgbClr val="1C2541"/>
          </a:solidFill>
          <a:ln w="14288">
            <a:solidFill>
              <a:srgbClr val="334155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9191625" y="17145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F59E0B">
              <a:alpha val="15000"/>
            </a:srgbClr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9309817" y="1866900"/>
            <a:ext cx="2398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184005" y="2362200"/>
            <a:ext cx="151387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Gemini实体抽取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186291" y="26965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前沿大模型赋能</a:t>
            </a:r>
          </a:p>
        </p:txBody>
      </p:sp>
      <p:sp>
        <p:nvSpPr>
          <p:cNvPr id="43" name="Line 43"/>
          <p:cNvSpPr/>
          <p:nvPr/>
        </p:nvSpPr>
        <p:spPr>
          <a:xfrm>
            <a:off x="9191625" y="3000375"/>
            <a:ext cx="2000250" cy="9525"/>
          </a:xfrm>
          <a:custGeom>
            <a:avLst/>
            <a:gdLst/>
            <a:ahLst/>
            <a:cxnLst/>
            <a:rect l="l" t="t" r="r" b="b"/>
            <a:pathLst>
              <a:path w="2000250" h="9525">
                <a:moveTo>
                  <a:pt x="0" y="0"/>
                </a:moveTo>
                <a:lnTo>
                  <a:pt x="200025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9186291" y="3172778"/>
            <a:ext cx="15742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Gemini API 工程化接入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186291" y="3458528"/>
            <a:ext cx="158644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理论/方法/工具三类抽取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186291" y="3744278"/>
            <a:ext cx="15079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实体识别逻辑深度解析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186291" y="4030028"/>
            <a:ext cx="164925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走向关系抽取与知识图谱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186672" y="4466749"/>
            <a:ext cx="146088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生成式AI的知识挖掘跃迁</a:t>
            </a:r>
          </a:p>
        </p:txBody>
      </p:sp>
      <p:sp>
        <p:nvSpPr>
          <p:cNvPr id="49" name="Rectangle 49"/>
          <p:cNvSpPr/>
          <p:nvPr/>
        </p:nvSpPr>
        <p:spPr>
          <a:xfrm>
            <a:off x="762000" y="5334000"/>
            <a:ext cx="10668000" cy="714375"/>
          </a:xfrm>
          <a:prstGeom prst="roundRect">
            <a:avLst>
              <a:gd name="adj" fmla="val 18667"/>
            </a:avLst>
          </a:prstGeom>
          <a:solidFill>
            <a:srgbClr val="1E293B"/>
          </a:solidFill>
          <a:ln w="14288">
            <a:solidFill>
              <a:srgbClr val="3A506B"/>
            </a:solidFill>
          </a:ln>
        </p:spPr>
      </p:sp>
      <p:sp>
        <p:nvSpPr>
          <p:cNvPr id="50" name="Ellipse 50"/>
          <p:cNvSpPr/>
          <p:nvPr/>
        </p:nvSpPr>
        <p:spPr>
          <a:xfrm>
            <a:off x="990600" y="5534025"/>
            <a:ext cx="304800" cy="3048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1052093" y="5614035"/>
            <a:ext cx="18181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★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470279" y="54902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贯穿全讲的核心思想演进脉络：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471041" y="5744528"/>
            <a:ext cx="730170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浅层文本切分 (Tokenization) ➔ 词频统计 (Word Frequency) ➔ 上下文实体抽取 (NER) ➔ 语义关系与图谱构建 (KG)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55295"/>
            <a:ext cx="483471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模块一 · 中文分词基础与机制对比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5904" y="870585"/>
            <a:ext cx="51830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Jieba分词模式、用户自定义词典增强、停用词过滤与SnowNLP横向评测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9062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4288">
            <a:solidFill>
              <a:srgbClr val="1E293B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428750"/>
            <a:ext cx="3333750" cy="40005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4288">
            <a:solidFill>
              <a:srgbClr val="334155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047750" y="1714500"/>
            <a:ext cx="1333500" cy="304800"/>
          </a:xfrm>
          <a:prstGeom prst="roundRect">
            <a:avLst>
              <a:gd name="adj" fmla="val 25000"/>
            </a:avLst>
          </a:prstGeom>
          <a:solidFill>
            <a:srgbClr val="38BDF8">
              <a:alpha val="15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214438" y="181070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用户自定义词典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9368" y="2203132"/>
            <a:ext cx="201587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专有名词完整性保护</a:t>
            </a:r>
          </a:p>
        </p:txBody>
      </p:sp>
      <p:sp>
        <p:nvSpPr>
          <p:cNvPr id="9" name="Rectangle 9"/>
          <p:cNvSpPr/>
          <p:nvPr/>
        </p:nvSpPr>
        <p:spPr>
          <a:xfrm>
            <a:off x="1047750" y="2619375"/>
            <a:ext cx="2762250" cy="714375"/>
          </a:xfrm>
          <a:prstGeom prst="roundRect">
            <a:avLst>
              <a:gd name="adj" fmla="val 10667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85672" y="2752249"/>
            <a:ext cx="22966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EF4444"/>
                </a:solidFill>
                <a:latin typeface="+mn-lt"/>
                <a:ea typeface="+mn-ea"/>
                <a:cs typeface="+mn-cs"/>
              </a:rPr>
              <a:t>未加词典：二次元 / 小 / 魔仙 / 是 / 无感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5672" y="3037999"/>
            <a:ext cx="20767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+mn-lt"/>
                <a:ea typeface="+mn-ea"/>
                <a:cs typeface="+mn-cs"/>
              </a:rPr>
              <a:t>加载词典：二次元小魔仙 / 是 / 无感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2035" y="3498056"/>
            <a:ext cx="12176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2E8F0"/>
                </a:solidFill>
                <a:latin typeface="+mn-lt"/>
                <a:ea typeface="+mn-ea"/>
                <a:cs typeface="+mn-cs"/>
              </a:rPr>
              <a:t>机制与实践价值：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2416" y="3791902"/>
            <a:ext cx="22639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94A3B8"/>
              </a:buClr>
              <a:buSzTx/>
              <a:buFontTx/>
              <a:buChar char="•"/>
            </a:pPr>
            <a:r>
              <a: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解决未登录词（OOV）与歧义切分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2416" y="4077652"/>
            <a:ext cx="24716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94A3B8"/>
              </a:buClr>
              <a:buSzTx/>
              <a:buFontTx/>
              <a:buChar char="•"/>
            </a:pPr>
            <a:r>
              <a: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将专业领域术语整体绑定（如LSTM）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2416" y="4363402"/>
            <a:ext cx="2450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94A3B8"/>
              </a:buClr>
              <a:buSzTx/>
              <a:buFontTx/>
              <a:buChar char="•"/>
            </a:pPr>
            <a:r>
              <a: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保证科技名词“长短期记忆网络”一体性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2797" y="4847749"/>
            <a:ext cx="218380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代码：jieba.load_userdict('dict.txt')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429125" y="1428750"/>
            <a:ext cx="3333750" cy="40005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4288">
            <a:solidFill>
              <a:srgbClr val="334155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714875" y="1714500"/>
            <a:ext cx="1333500" cy="304800"/>
          </a:xfrm>
          <a:prstGeom prst="roundRect">
            <a:avLst>
              <a:gd name="adj" fmla="val 25000"/>
            </a:avLst>
          </a:prstGeom>
          <a:solidFill>
            <a:srgbClr val="818CF8">
              <a:alpha val="15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952238" y="181070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停用词表过滤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06493" y="2203132"/>
            <a:ext cx="201587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剔除虚词提升信噪比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714875" y="2619375"/>
            <a:ext cx="2762250" cy="714375"/>
          </a:xfrm>
          <a:prstGeom prst="roundRect">
            <a:avLst>
              <a:gd name="adj" fmla="val 10667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852797" y="2752249"/>
            <a:ext cx="274402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EF4444"/>
                </a:solidFill>
                <a:latin typeface="+mn-lt"/>
                <a:ea typeface="+mn-ea"/>
                <a:cs typeface="+mn-cs"/>
              </a:rPr>
              <a:t>无停用词：没有*使用*停用*词表*的*结果*，*就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52797" y="3037999"/>
            <a:ext cx="26926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+mn-lt"/>
                <a:ea typeface="+mn-ea"/>
                <a:cs typeface="+mn-cs"/>
              </a:rPr>
              <a:t>过滤停用：使用*词表*之后*效果*好看*很多*词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709160" y="3498056"/>
            <a:ext cx="12176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2E8F0"/>
                </a:solidFill>
                <a:latin typeface="+mn-lt"/>
                <a:ea typeface="+mn-ea"/>
                <a:cs typeface="+mn-cs"/>
              </a:rPr>
              <a:t>机制与实践价值：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09541" y="3791902"/>
            <a:ext cx="23560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94A3B8"/>
              </a:buClr>
              <a:buSzTx/>
              <a:buFontTx/>
              <a:buChar char="•"/>
            </a:pPr>
            <a:r>
              <a: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清洗标点、虚词（的、了、是、啊）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709541" y="4077652"/>
            <a:ext cx="20733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94A3B8"/>
              </a:buClr>
              <a:buSzTx/>
              <a:buFontTx/>
              <a:buChar char="•"/>
            </a:pPr>
            <a:r>
              <a: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经典台词切分去除口语助词干扰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709541" y="4363402"/>
            <a:ext cx="23560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94A3B8"/>
              </a:buClr>
              <a:buSzTx/>
              <a:buFontTx/>
              <a:buChar char="•"/>
            </a:pPr>
            <a:r>
              <a: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为后续特征提取与词频统计压降噪音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709922" y="4847749"/>
            <a:ext cx="25675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核心：[w for w in words if w not in stops]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096250" y="1428750"/>
            <a:ext cx="3333750" cy="40005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4288">
            <a:solidFill>
              <a:srgbClr val="334155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8382000" y="1714500"/>
            <a:ext cx="1333500" cy="304800"/>
          </a:xfrm>
          <a:prstGeom prst="roundRect">
            <a:avLst>
              <a:gd name="adj" fmla="val 25000"/>
            </a:avLst>
          </a:prstGeom>
          <a:solidFill>
            <a:srgbClr val="34D399">
              <a:alpha val="15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402294" y="1810702"/>
            <a:ext cx="12929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Jieba vs SnowNLP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73618" y="2203132"/>
            <a:ext cx="201587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中文分词的首选定性</a:t>
            </a:r>
          </a:p>
        </p:txBody>
      </p:sp>
      <p:sp>
        <p:nvSpPr>
          <p:cNvPr id="33" name="Rectangle 33"/>
          <p:cNvSpPr/>
          <p:nvPr/>
        </p:nvSpPr>
        <p:spPr>
          <a:xfrm>
            <a:off x="8382000" y="2619375"/>
            <a:ext cx="2762250" cy="714375"/>
          </a:xfrm>
          <a:prstGeom prst="roundRect">
            <a:avLst>
              <a:gd name="adj" fmla="val 10667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519922" y="2752249"/>
            <a:ext cx="182482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Jieba: 质量 , 不大好 (语义完整)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519922" y="3037999"/>
            <a:ext cx="22229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EF4444"/>
                </a:solidFill>
                <a:latin typeface="+mn-lt"/>
                <a:ea typeface="+mn-ea"/>
                <a:cs typeface="+mn-cs"/>
              </a:rPr>
              <a:t>SnowNLP: 质量 , 不大 , 好 (过度细碎)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76285" y="3498056"/>
            <a:ext cx="15191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2E8F0"/>
                </a:solidFill>
                <a:latin typeface="+mn-lt"/>
                <a:ea typeface="+mn-ea"/>
                <a:cs typeface="+mn-cs"/>
              </a:rPr>
              <a:t>对比实测与最终结论：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76666" y="3791902"/>
            <a:ext cx="27312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94A3B8"/>
              </a:buClr>
              <a:buSzTx/>
              <a:buFontTx/>
              <a:buChar char="•"/>
            </a:pPr>
            <a:r>
              <a: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SnowNLP 出现“二/次/元/小/魔仙”单字切分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76666" y="4077652"/>
            <a:ext cx="27627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94A3B8"/>
              </a:buClr>
              <a:buSzTx/>
              <a:buFontTx/>
              <a:buChar char="•"/>
            </a:pPr>
            <a:r>
              <a: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SnowNLP 适合英文及情绪分析，分词较弱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376666" y="4363402"/>
            <a:ext cx="28114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94A3B8"/>
              </a:buClr>
              <a:buSzTx/>
              <a:buFontTx/>
              <a:buChar char="•"/>
            </a:pPr>
            <a:r>
              <a: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Jieba 基于前缀词典与HMM，中文适应极强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77047" y="4847749"/>
            <a:ext cx="236706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实验明确结论：中文通用分词首选 Jieba</a:t>
            </a:r>
          </a:p>
        </p:txBody>
      </p:sp>
      <p:sp>
        <p:nvSpPr>
          <p:cNvPr id="41" name="Rectangle 41"/>
          <p:cNvSpPr/>
          <p:nvPr/>
        </p:nvSpPr>
        <p:spPr>
          <a:xfrm>
            <a:off x="762000" y="5619750"/>
            <a:ext cx="10668000" cy="4762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1042416" y="5811202"/>
            <a:ext cx="74394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💡 阶段总结：分词绝不仅是简单调用 cut()，必须结合「领域专有词典」与「场景化停用词」，才能产出高纯度文本流。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55295"/>
            <a:ext cx="483471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模块二 · 功勋科学家文本分词实战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5904" y="870585"/>
            <a:ext cx="5504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以黄旭华院士传记为例：对比原生切分、词典增强与停用词清洗的三阶段实效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9062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4288">
            <a:solidFill>
              <a:srgbClr val="1E293B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428750"/>
            <a:ext cx="4000500" cy="4000500"/>
          </a:xfrm>
          <a:prstGeom prst="roundRect">
            <a:avLst>
              <a:gd name="adj" fmla="val 3810"/>
            </a:avLst>
          </a:prstGeom>
          <a:solidFill>
            <a:srgbClr val="1C2541"/>
          </a:solidFill>
          <a:ln w="14288">
            <a:solidFill>
              <a:srgbClr val="334155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000125" y="1666875"/>
            <a:ext cx="1143000" cy="285750"/>
          </a:xfrm>
          <a:prstGeom prst="roundRect">
            <a:avLst>
              <a:gd name="adj" fmla="val 26667"/>
            </a:avLst>
          </a:prstGeom>
          <a:solidFill>
            <a:srgbClr val="6366F1">
              <a:alpha val="20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42238" y="175355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实验语料对象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1743" y="2107882"/>
            <a:ext cx="201587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功勋科学家传记文本</a:t>
            </a:r>
          </a:p>
        </p:txBody>
      </p:sp>
      <p:sp>
        <p:nvSpPr>
          <p:cNvPr id="9" name="Rectangle 9"/>
          <p:cNvSpPr/>
          <p:nvPr/>
        </p:nvSpPr>
        <p:spPr>
          <a:xfrm>
            <a:off x="1000125" y="2476500"/>
            <a:ext cx="3524250" cy="1428750"/>
          </a:xfrm>
          <a:prstGeom prst="roundRect">
            <a:avLst>
              <a:gd name="adj" fmla="val 6667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75005" y="2562892"/>
            <a:ext cx="2776005" cy="11431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75"/>
              </a:lnSpc>
            </a:pPr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“黄旭华，1926年3月12日出生于广东省汕尾市，</a:t>
            </a:r>
            <a:br>
              <a:rPr dirty="0"/>
            </a:br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原籍广东省揭阳市。1949年毕业于上海交通大学。</a:t>
            </a:r>
            <a:br>
              <a:rPr dirty="0"/>
            </a:br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历任北京海军核潜艇研究室副总工程师、</a:t>
            </a:r>
            <a:br>
              <a:rPr dirty="0"/>
            </a:br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中船重工集团公司核潜艇总体研究设计所研究员、</a:t>
            </a:r>
            <a:br>
              <a:rPr dirty="0"/>
            </a:br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名誉所长。1994年当选为中国工程院院士。”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4410" y="4117181"/>
            <a:ext cx="15685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⚠️ 领域文本核心挑战：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4791" y="4411028"/>
            <a:ext cx="26387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机构名称超长复合（中船重工集团公司）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4791" y="4696778"/>
            <a:ext cx="26387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专业职务与职称混编（中国工程院院士）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4791" y="4982528"/>
            <a:ext cx="278006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年份日期与地理实体交织，通用词库易错切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048250" y="1428750"/>
            <a:ext cx="6381750" cy="1190625"/>
          </a:xfrm>
          <a:prstGeom prst="roundRect">
            <a:avLst>
              <a:gd name="adj" fmla="val 11200"/>
            </a:avLst>
          </a:prstGeom>
          <a:solidFill>
            <a:srgbClr val="1C2541"/>
          </a:solidFill>
          <a:ln w="14288">
            <a:solidFill>
              <a:srgbClr val="334155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5210175" y="1590675"/>
            <a:ext cx="342900" cy="342900"/>
          </a:xfrm>
          <a:prstGeom prst="ellipse">
            <a:avLst/>
          </a:prstGeom>
          <a:solidFill>
            <a:srgbClr val="EF4444">
              <a:alpha val="20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330604" y="1689735"/>
            <a:ext cx="10204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F4444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708142" y="1616392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原生简单分词：实体严重破碎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10047" y="1942624"/>
            <a:ext cx="316886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EF4444"/>
                </a:solidFill>
                <a:latin typeface="+mn-lt"/>
                <a:ea typeface="+mn-ea"/>
                <a:cs typeface="+mn-cs"/>
              </a:rPr>
              <a:t>切分结果：中/船/重工/集团公司/……/中国工程院/院士/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10047" y="2228374"/>
            <a:ext cx="467117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缺陷剖析：将知名重工集团切碎为“中”、“船”，国家级最高荣誉头衔被腰斩拆散。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048250" y="2809875"/>
            <a:ext cx="6381750" cy="1190625"/>
          </a:xfrm>
          <a:prstGeom prst="roundRect">
            <a:avLst>
              <a:gd name="adj" fmla="val 11200"/>
            </a:avLst>
          </a:prstGeom>
          <a:solidFill>
            <a:srgbClr val="1C2541"/>
          </a:solidFill>
          <a:ln w="14288">
            <a:solidFill>
              <a:srgbClr val="334155"/>
            </a:solidFill>
          </a:ln>
        </p:spPr>
      </p:sp>
      <p:sp>
        <p:nvSpPr>
          <p:cNvPr id="22" name="Ellipse 22"/>
          <p:cNvSpPr/>
          <p:nvPr/>
        </p:nvSpPr>
        <p:spPr>
          <a:xfrm>
            <a:off x="5210175" y="2971800"/>
            <a:ext cx="342900" cy="342900"/>
          </a:xfrm>
          <a:prstGeom prst="ellipse">
            <a:avLst/>
          </a:prstGeom>
          <a:solidFill>
            <a:srgbClr val="38BDF8">
              <a:alpha val="20000"/>
            </a:srgbClr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330604" y="3070860"/>
            <a:ext cx="10204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708142" y="2997518"/>
            <a:ext cx="27397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注入用户词典：关键概念完整回归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10047" y="3323749"/>
            <a:ext cx="33227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切分结果：……/中船重工集团公司/……/中国工程院院士/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710047" y="3609499"/>
            <a:ext cx="50231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效果跃升：词典作为强制性约束，精准保全了重大科研实体和学术头衔的语义独立性。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048250" y="4191000"/>
            <a:ext cx="6381750" cy="1238250"/>
          </a:xfrm>
          <a:prstGeom prst="roundRect">
            <a:avLst>
              <a:gd name="adj" fmla="val 10769"/>
            </a:avLst>
          </a:prstGeom>
          <a:solidFill>
            <a:srgbClr val="1C2541"/>
          </a:solidFill>
          <a:ln w="14288">
            <a:solidFill>
              <a:srgbClr val="334155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5210175" y="4352925"/>
            <a:ext cx="342900" cy="342900"/>
          </a:xfrm>
          <a:prstGeom prst="ellipse">
            <a:avLst/>
          </a:prstGeom>
          <a:solidFill>
            <a:srgbClr val="10B981">
              <a:alpha val="20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330604" y="4451985"/>
            <a:ext cx="10204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0B981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708142" y="4378642"/>
            <a:ext cx="292150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结合停用词表：提炼高纯度实体序列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710047" y="4704874"/>
            <a:ext cx="478164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+mn-lt"/>
                <a:ea typeface="+mn-ea"/>
                <a:cs typeface="+mn-cs"/>
              </a:rPr>
              <a:t>纯净结果：黄旭华/1926/广东省/汕尾市/上海交通大学/核潜艇/中国工程院院士/……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710047" y="4990624"/>
            <a:ext cx="53748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清洗价值：剔除“，、。出生于原籍历任为”等干扰词，纯实词序列可直接作为图谱实体储备。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762000" y="5619750"/>
            <a:ext cx="10668000" cy="4762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1430">
            <a:solidFill>
              <a:srgbClr val="3A506B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1042416" y="5811202"/>
            <a:ext cx="73758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📌 作业深度反思：dict用户词典对于保证专有名词不被拆分具有极大意义，实际工程应用前应当先定义行业专属词典！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55295"/>
            <a:ext cx="709632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模块三 · 经管实务：企业年报词频统计与文本分析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5904" y="870585"/>
            <a:ext cx="5020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聚焦化工企业年报：探索数字化转型与安全生产的文本测度与统计表征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9062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4288">
            <a:solidFill>
              <a:srgbClr val="1E293B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428750"/>
            <a:ext cx="4381500" cy="4000500"/>
          </a:xfrm>
          <a:prstGeom prst="roundRect">
            <a:avLst>
              <a:gd name="adj" fmla="val 3810"/>
            </a:avLst>
          </a:prstGeom>
          <a:solidFill>
            <a:srgbClr val="1C2541"/>
          </a:solidFill>
          <a:ln w="14288">
            <a:solidFill>
              <a:srgbClr val="334155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39368" y="1679258"/>
            <a:ext cx="29043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经管顶刊研究风向与前置挑战</a:t>
            </a:r>
          </a:p>
        </p:txBody>
      </p:sp>
      <p:sp>
        <p:nvSpPr>
          <p:cNvPr id="7" name="Rectangle 7"/>
          <p:cNvSpPr/>
          <p:nvPr/>
        </p:nvSpPr>
        <p:spPr>
          <a:xfrm>
            <a:off x="1047750" y="2047875"/>
            <a:ext cx="3810000" cy="1047750"/>
          </a:xfrm>
          <a:prstGeom prst="roundRect">
            <a:avLst>
              <a:gd name="adj" fmla="val 9091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232916" y="2220278"/>
            <a:ext cx="132916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📊 学术顶刊风向标：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33297" y="2514124"/>
            <a:ext cx="3328756" cy="4288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75"/>
              </a:lnSpc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近三年来，《管理世界》《经济研究》等顶刊频繁关注</a:t>
            </a:r>
            <a:br/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“文本分析”在企业数字化转型与技术风险中的量化测度价值。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1654" y="3299460"/>
            <a:ext cx="26498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⚠️ 原始数据处理难点（作业复盘）：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2416" y="3649028"/>
            <a:ext cx="33608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94A3B8"/>
              </a:buClr>
              <a:buSzTx/>
              <a:buFontTx/>
              <a:buChar char="•"/>
            </a:pPr>
            <a:r>
              <a: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格式转换缺陷：PDF转TXT常见跨页断行、表格错位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2416" y="3934778"/>
            <a:ext cx="334547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94A3B8"/>
              </a:buClr>
              <a:buSzTx/>
              <a:buFontTx/>
              <a:buChar char="•"/>
            </a:pPr>
            <a:r>
              <a: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实体断裂割裂：长句被强制换行，导致实体无法闭合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2416" y="4220528"/>
            <a:ext cx="34868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94A3B8"/>
              </a:buClr>
              <a:buSzTx/>
              <a:buFontTx/>
              <a:buChar char="•"/>
            </a:pPr>
            <a:r>
              <a: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句法结构复杂：企业公文多长难修饰句，需高精度切分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047750" y="4667250"/>
            <a:ext cx="3810000" cy="523875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233297" y="4895374"/>
            <a:ext cx="360860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✅ 解决方案：先进行人工校对清洗，再编写自动化分词流水线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429250" y="1428750"/>
            <a:ext cx="1905000" cy="1238250"/>
          </a:xfrm>
          <a:prstGeom prst="roundRect">
            <a:avLst>
              <a:gd name="adj" fmla="val 10769"/>
            </a:avLst>
          </a:prstGeom>
          <a:solidFill>
            <a:srgbClr val="1C2541"/>
          </a:solidFill>
          <a:ln w="19050">
            <a:solidFill>
              <a:srgbClr val="38BDF8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729478" y="16802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目标实体：智能化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56950" y="1945958"/>
            <a:ext cx="44959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3</a:t>
            </a:r>
            <a:r>
              <a:rPr lang="zh-CN" sz="1350" b="1" dirty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次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660132" y="2426970"/>
            <a:ext cx="144323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安全智能化工厂 / 制造升级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524750" y="1428750"/>
            <a:ext cx="1905000" cy="1238250"/>
          </a:xfrm>
          <a:prstGeom prst="roundRect">
            <a:avLst>
              <a:gd name="adj" fmla="val 10769"/>
            </a:avLst>
          </a:prstGeom>
          <a:solidFill>
            <a:srgbClr val="1C2541"/>
          </a:solidFill>
          <a:ln w="19050">
            <a:solidFill>
              <a:srgbClr val="818CF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824978" y="16802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目标实体：数字化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52450" y="1945958"/>
            <a:ext cx="44959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2</a:t>
            </a:r>
            <a:r>
              <a:rPr lang="zh-CN" sz="1350" b="1" dirty="0">
                <a:solidFill>
                  <a:srgbClr val="818CF8"/>
                </a:solidFill>
                <a:latin typeface="Microsoft YaHei"/>
                <a:ea typeface="Microsoft YaHei"/>
                <a:cs typeface="Microsoft YaHei"/>
              </a:rPr>
              <a:t>次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849869" y="2426970"/>
            <a:ext cx="125476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自动化/数字化升级改造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620250" y="1428750"/>
            <a:ext cx="1809750" cy="1238250"/>
          </a:xfrm>
          <a:prstGeom prst="roundRect">
            <a:avLst>
              <a:gd name="adj" fmla="val 10769"/>
            </a:avLst>
          </a:prstGeom>
          <a:solidFill>
            <a:srgbClr val="1C2541"/>
          </a:solidFill>
          <a:ln w="19050">
            <a:solidFill>
              <a:srgbClr val="34D399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953625" y="16802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目标实体：安全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300325" y="1945958"/>
            <a:ext cx="44959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2</a:t>
            </a:r>
            <a:r>
              <a:rPr lang="zh-CN" sz="1350" b="1" dirty="0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次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864086" y="2426970"/>
            <a:ext cx="132207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体系安全稳定 / 本质安全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429250" y="2857500"/>
            <a:ext cx="6000750" cy="2571750"/>
          </a:xfrm>
          <a:prstGeom prst="roundRect">
            <a:avLst>
              <a:gd name="adj" fmla="val 5185"/>
            </a:avLst>
          </a:prstGeom>
          <a:solidFill>
            <a:srgbClr val="1C2541"/>
          </a:solidFill>
          <a:ln w="14288">
            <a:solidFill>
              <a:srgbClr val="33415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5660517" y="3045142"/>
            <a:ext cx="276019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词频降序统计（前20位特征分布）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667375" y="3429000"/>
            <a:ext cx="1333500" cy="342900"/>
          </a:xfrm>
          <a:prstGeom prst="roundRect">
            <a:avLst>
              <a:gd name="adj" fmla="val 16667"/>
            </a:avLst>
          </a:prstGeom>
          <a:solidFill>
            <a:srgbClr val="0B132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776722" y="3542824"/>
            <a:ext cx="84553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EF4444"/>
                </a:solidFill>
                <a:latin typeface="+mn-lt"/>
                <a:ea typeface="+mn-ea"/>
                <a:cs typeface="+mn-cs"/>
              </a:rPr>
              <a:t>，(标点): 13次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096125" y="3429000"/>
            <a:ext cx="1333500" cy="342900"/>
          </a:xfrm>
          <a:prstGeom prst="roundRect">
            <a:avLst>
              <a:gd name="adj" fmla="val 16667"/>
            </a:avLst>
          </a:prstGeom>
          <a:solidFill>
            <a:srgbClr val="0B132B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205472" y="3542824"/>
            <a:ext cx="6402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EF4444"/>
                </a:solidFill>
                <a:latin typeface="+mn-lt"/>
                <a:ea typeface="+mn-ea"/>
                <a:cs typeface="+mn-cs"/>
              </a:rPr>
              <a:t>(换行): 9次</a:t>
            </a:r>
          </a:p>
        </p:txBody>
      </p:sp>
      <p:sp>
        <p:nvSpPr>
          <p:cNvPr id="34" name="Rectangle 34"/>
          <p:cNvSpPr/>
          <p:nvPr/>
        </p:nvSpPr>
        <p:spPr>
          <a:xfrm>
            <a:off x="8524875" y="3429000"/>
            <a:ext cx="1333500" cy="342900"/>
          </a:xfrm>
          <a:prstGeom prst="roundRect">
            <a:avLst>
              <a:gd name="adj" fmla="val 16667"/>
            </a:avLst>
          </a:prstGeom>
          <a:solidFill>
            <a:srgbClr val="0B132B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634222" y="3542824"/>
            <a:ext cx="5523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管理: 5次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953625" y="3429000"/>
            <a:ext cx="1333500" cy="342900"/>
          </a:xfrm>
          <a:prstGeom prst="roundRect">
            <a:avLst>
              <a:gd name="adj" fmla="val 16667"/>
            </a:avLst>
          </a:prstGeom>
          <a:solidFill>
            <a:srgbClr val="0B132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0062972" y="3542824"/>
            <a:ext cx="42043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与: 4次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667375" y="3867150"/>
            <a:ext cx="1333500" cy="342900"/>
          </a:xfrm>
          <a:prstGeom prst="roundRect">
            <a:avLst>
              <a:gd name="adj" fmla="val 16667"/>
            </a:avLst>
          </a:prstGeom>
          <a:solidFill>
            <a:srgbClr val="0B132B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776722" y="3980974"/>
            <a:ext cx="5523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企业: 3次</a:t>
            </a:r>
          </a:p>
        </p:txBody>
      </p:sp>
      <p:sp>
        <p:nvSpPr>
          <p:cNvPr id="40" name="Rectangle 40"/>
          <p:cNvSpPr/>
          <p:nvPr/>
        </p:nvSpPr>
        <p:spPr>
          <a:xfrm>
            <a:off x="7096125" y="3867150"/>
            <a:ext cx="1333500" cy="342900"/>
          </a:xfrm>
          <a:prstGeom prst="roundRect">
            <a:avLst>
              <a:gd name="adj" fmla="val 16667"/>
            </a:avLst>
          </a:prstGeom>
          <a:solidFill>
            <a:srgbClr val="0B132B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7205472" y="3980974"/>
            <a:ext cx="5523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体系: 3次</a:t>
            </a:r>
          </a:p>
        </p:txBody>
      </p:sp>
      <p:sp>
        <p:nvSpPr>
          <p:cNvPr id="42" name="Rectangle 42"/>
          <p:cNvSpPr/>
          <p:nvPr/>
        </p:nvSpPr>
        <p:spPr>
          <a:xfrm>
            <a:off x="8524875" y="3867150"/>
            <a:ext cx="1333500" cy="342900"/>
          </a:xfrm>
          <a:prstGeom prst="roundRect">
            <a:avLst>
              <a:gd name="adj" fmla="val 16667"/>
            </a:avLst>
          </a:prstGeom>
          <a:solidFill>
            <a:srgbClr val="0B132B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634222" y="3980974"/>
            <a:ext cx="68429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智能化: 3次</a:t>
            </a:r>
          </a:p>
        </p:txBody>
      </p:sp>
      <p:sp>
        <p:nvSpPr>
          <p:cNvPr id="44" name="Rectangle 44"/>
          <p:cNvSpPr/>
          <p:nvPr/>
        </p:nvSpPr>
        <p:spPr>
          <a:xfrm>
            <a:off x="9953625" y="3867150"/>
            <a:ext cx="1333500" cy="342900"/>
          </a:xfrm>
          <a:prstGeom prst="roundRect">
            <a:avLst>
              <a:gd name="adj" fmla="val 16667"/>
            </a:avLst>
          </a:prstGeom>
          <a:solidFill>
            <a:srgbClr val="0B132B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0062972" y="3980974"/>
            <a:ext cx="68429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供应链: 3次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667375" y="4305300"/>
            <a:ext cx="1333500" cy="342900"/>
          </a:xfrm>
          <a:prstGeom prst="roundRect">
            <a:avLst>
              <a:gd name="adj" fmla="val 16667"/>
            </a:avLst>
          </a:prstGeom>
          <a:solidFill>
            <a:srgbClr val="0B132B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5776722" y="4419124"/>
            <a:ext cx="5523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打造: 3次</a:t>
            </a:r>
          </a:p>
        </p:txBody>
      </p:sp>
      <p:sp>
        <p:nvSpPr>
          <p:cNvPr id="48" name="Rectangle 48"/>
          <p:cNvSpPr/>
          <p:nvPr/>
        </p:nvSpPr>
        <p:spPr>
          <a:xfrm>
            <a:off x="7096125" y="4305300"/>
            <a:ext cx="1333500" cy="342900"/>
          </a:xfrm>
          <a:prstGeom prst="roundRect">
            <a:avLst>
              <a:gd name="adj" fmla="val 16667"/>
            </a:avLst>
          </a:prstGeom>
          <a:solidFill>
            <a:srgbClr val="0B132B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7205472" y="4419124"/>
            <a:ext cx="5523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经营: 3次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524875" y="4305300"/>
            <a:ext cx="1333500" cy="342900"/>
          </a:xfrm>
          <a:prstGeom prst="roundRect">
            <a:avLst>
              <a:gd name="adj" fmla="val 16667"/>
            </a:avLst>
          </a:prstGeom>
          <a:solidFill>
            <a:srgbClr val="0B132B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8634222" y="4419124"/>
            <a:ext cx="68429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自动化: 2次</a:t>
            </a:r>
          </a:p>
        </p:txBody>
      </p:sp>
      <p:sp>
        <p:nvSpPr>
          <p:cNvPr id="52" name="Rectangle 52"/>
          <p:cNvSpPr/>
          <p:nvPr/>
        </p:nvSpPr>
        <p:spPr>
          <a:xfrm>
            <a:off x="9953625" y="4305300"/>
            <a:ext cx="1333500" cy="342900"/>
          </a:xfrm>
          <a:prstGeom prst="roundRect">
            <a:avLst>
              <a:gd name="adj" fmla="val 16667"/>
            </a:avLst>
          </a:prstGeom>
          <a:solidFill>
            <a:srgbClr val="0B132B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10062972" y="4419124"/>
            <a:ext cx="68429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数字化: 2次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662422" y="4942999"/>
            <a:ext cx="60125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观察特征：未做深度清洗时标点与换行占首位；实词中“管理/体系/供应链/智能”呈现密集企业管理导向。</a:t>
            </a:r>
          </a:p>
        </p:txBody>
      </p:sp>
      <p:sp>
        <p:nvSpPr>
          <p:cNvPr id="55" name="Rectangle 55"/>
          <p:cNvSpPr/>
          <p:nvPr/>
        </p:nvSpPr>
        <p:spPr>
          <a:xfrm>
            <a:off x="762000" y="5619750"/>
            <a:ext cx="10668000" cy="4762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1042416" y="5811202"/>
            <a:ext cx="67610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🔍 实践验证：通过 Counter 统计迅速获取了年报在“数字化”“安全”维度的频次映射，为宏观测度提供了基础。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55295"/>
            <a:ext cx="580397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模块三深度思考 · 词频分析的价值与局限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5904" y="870585"/>
            <a:ext cx="5666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回应课后提问：词频反映了什么？自身存在何种缺陷？如何突破孤立词频瓶颈？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9062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4288">
            <a:solidFill>
              <a:srgbClr val="1E293B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428750"/>
            <a:ext cx="3333750" cy="40005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4288">
            <a:solidFill>
              <a:srgbClr val="38BDF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047750" y="1714500"/>
            <a:ext cx="1238250" cy="304800"/>
          </a:xfrm>
          <a:prstGeom prst="roundRect">
            <a:avLst>
              <a:gd name="adj" fmla="val 25000"/>
            </a:avLst>
          </a:prstGeom>
          <a:solidFill>
            <a:srgbClr val="38BDF8">
              <a:alpha val="20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07869" y="1810702"/>
            <a:ext cx="11180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提问 1：价值所在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0130" y="2171700"/>
            <a:ext cx="20345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词频到底能反映什么？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2035" y="2688431"/>
            <a:ext cx="182072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企业战略导向与资源倾斜：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2416" y="2982278"/>
            <a:ext cx="19319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反映企业管理层汇报关注重心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2416" y="3268028"/>
            <a:ext cx="221466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频次高低映射了管理资源倾斜程度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2416" y="3553778"/>
            <a:ext cx="20733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在经管实证研究中，词频是测度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2416" y="3839528"/>
            <a:ext cx="22722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企业数字化转型强度的成熟代用指标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2416" y="4125278"/>
            <a:ext cx="221466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可以揭示年度间的战略关键词变迁</a:t>
            </a:r>
          </a:p>
        </p:txBody>
      </p:sp>
      <p:sp>
        <p:nvSpPr>
          <p:cNvPr id="15" name="Rectangle 15"/>
          <p:cNvSpPr/>
          <p:nvPr/>
        </p:nvSpPr>
        <p:spPr>
          <a:xfrm>
            <a:off x="1047750" y="4619625"/>
            <a:ext cx="2762250" cy="571500"/>
          </a:xfrm>
          <a:prstGeom prst="roundRect">
            <a:avLst>
              <a:gd name="adj" fmla="val 13333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185672" y="4714954"/>
            <a:ext cx="2083904" cy="36625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00"/>
              </a:lnSpc>
            </a:pPr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🎯 总结：词频是宏观感知的晴雨表，</a:t>
            </a:r>
            <a:br>
              <a:rPr dirty="0"/>
            </a:br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能快速锚定年报的战略聚焦点。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429125" y="1428750"/>
            <a:ext cx="3333750" cy="40005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4288">
            <a:solidFill>
              <a:srgbClr val="F59E0B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714875" y="1714500"/>
            <a:ext cx="1238250" cy="304800"/>
          </a:xfrm>
          <a:prstGeom prst="roundRect">
            <a:avLst>
              <a:gd name="adj" fmla="val 25000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774994" y="1810702"/>
            <a:ext cx="11180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提问 2：固有缺陷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07255" y="217170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词频本身存在什么问题？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09160" y="2688431"/>
            <a:ext cx="15191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噪声污染与权重失真：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09541" y="2982278"/>
            <a:ext cx="25132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标点与换行符占据前席（如逗号13次）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09541" y="3268028"/>
            <a:ext cx="230880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说明必须引入高强度“去停用词”流程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709541" y="3553778"/>
            <a:ext cx="23560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简单频次容易被口号化、空泛词刷榜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09541" y="3839528"/>
            <a:ext cx="23560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无法区分真正实质性投入与应付披露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709541" y="4125278"/>
            <a:ext cx="24973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长尾稀有实体可能具重大价值却被淹没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714875" y="4619625"/>
            <a:ext cx="2762250" cy="571500"/>
          </a:xfrm>
          <a:prstGeom prst="roundRect">
            <a:avLst>
              <a:gd name="adj" fmla="val 13333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4837130" y="4733322"/>
            <a:ext cx="2208938" cy="36625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00"/>
              </a:lnSpc>
            </a:pPr>
            <a:r>
              <a:rPr lang="zh-CN" sz="980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⚠️ 总结：若不洗停用词，统计将失效；</a:t>
            </a:r>
            <a:br>
              <a:rPr dirty="0"/>
            </a:br>
            <a:r>
              <a:rPr lang="zh-CN" sz="980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若单看频次，极易产生定性误判。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096250" y="1428750"/>
            <a:ext cx="3333750" cy="40005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4288">
            <a:solidFill>
              <a:srgbClr val="EF4444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8382000" y="1714500"/>
            <a:ext cx="1238250" cy="304800"/>
          </a:xfrm>
          <a:prstGeom prst="roundRect">
            <a:avLst>
              <a:gd name="adj" fmla="val 25000"/>
            </a:avLst>
          </a:prstGeom>
          <a:solidFill>
            <a:srgbClr val="EF4444">
              <a:alpha val="20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442119" y="1810702"/>
            <a:ext cx="11180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F4444"/>
                </a:solidFill>
                <a:latin typeface="+mn-lt"/>
                <a:ea typeface="+mn-ea"/>
                <a:cs typeface="+mn-cs"/>
              </a:rPr>
              <a:t>提问 3：终极瓶颈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74380" y="217170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能确定实体间的关系吗？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76285" y="2688431"/>
            <a:ext cx="19714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F4444"/>
                </a:solidFill>
                <a:latin typeface="+mn-lt"/>
                <a:ea typeface="+mn-ea"/>
                <a:cs typeface="+mn-cs"/>
              </a:rPr>
              <a:t>孤立词频无法还原语义因果：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6666" y="2982278"/>
            <a:ext cx="188475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词频只能反映“孤立点的存在”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76666" y="3268028"/>
            <a:ext cx="240294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根本无法确定“数字化”与“安全”的关系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76666" y="3553778"/>
            <a:ext cx="26387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是数字化赋能安全，还是安全制约转型？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76666" y="3839528"/>
            <a:ext cx="23560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破局之路：引入共现网络与文本分析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76666" y="4125278"/>
            <a:ext cx="24973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终极演进：迈向大语言模型与知识图谱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382000" y="4619625"/>
            <a:ext cx="2762250" cy="571500"/>
          </a:xfrm>
          <a:prstGeom prst="roundRect">
            <a:avLst>
              <a:gd name="adj" fmla="val 13333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8510856" y="4710579"/>
            <a:ext cx="2333972" cy="36625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00"/>
              </a:lnSpc>
            </a:pPr>
            <a:r>
              <a:rPr lang="zh-CN" sz="980" dirty="0">
                <a:solidFill>
                  <a:srgbClr val="EF4444"/>
                </a:solidFill>
                <a:latin typeface="+mn-lt"/>
                <a:ea typeface="+mn-ea"/>
                <a:cs typeface="+mn-cs"/>
              </a:rPr>
              <a:t>🚀 洞察：必须引入语义抽取与关联模型，</a:t>
            </a:r>
            <a:br>
              <a:rPr dirty="0"/>
            </a:br>
            <a:r>
              <a:rPr lang="zh-CN" sz="980" dirty="0">
                <a:solidFill>
                  <a:srgbClr val="EF4444"/>
                </a:solidFill>
                <a:latin typeface="+mn-lt"/>
                <a:ea typeface="+mn-ea"/>
                <a:cs typeface="+mn-cs"/>
              </a:rPr>
              <a:t>才能建立真正的因果逻辑！</a:t>
            </a:r>
          </a:p>
        </p:txBody>
      </p:sp>
      <p:sp>
        <p:nvSpPr>
          <p:cNvPr id="41" name="Rectangle 41"/>
          <p:cNvSpPr/>
          <p:nvPr/>
        </p:nvSpPr>
        <p:spPr>
          <a:xfrm>
            <a:off x="762000" y="5619750"/>
            <a:ext cx="10668000" cy="4762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1430">
            <a:solidFill>
              <a:srgbClr val="3A506B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1042416" y="5781485"/>
            <a:ext cx="73057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⚡ 核心结语：传统分词统计让我们“感知”了词频的存在；但要“理解”世界的知识关系，必须引入大模型实体关系抽取。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55295"/>
            <a:ext cx="709064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模块四 · 前沿演进：基于 Gemini 的文献实体抽取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5904" y="870585"/>
            <a:ext cx="61972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利用 Google Gemini API 提取科技文献中的「理论、方法、工具」实体及识别依据分析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9062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4288">
            <a:solidFill>
              <a:srgbClr val="1E293B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381125"/>
            <a:ext cx="10668000" cy="523875"/>
          </a:xfrm>
          <a:prstGeom prst="roundRect">
            <a:avLst>
              <a:gd name="adj" fmla="val 18182"/>
            </a:avLst>
          </a:prstGeom>
          <a:solidFill>
            <a:srgbClr val="1C2541"/>
          </a:solidFill>
          <a:ln w="11430">
            <a:solidFill>
              <a:srgbClr val="334155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94791" y="15821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工程管线：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4416" y="1582102"/>
            <a:ext cx="6112251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前沿文献文本输入 ➔ Gemini  API (gemini-3.5-flash-lite) ➔ 结构化 Prompt 约束 ➔ JSON 字典精准输出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2095500"/>
            <a:ext cx="3333750" cy="333375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4288">
            <a:solidFill>
              <a:srgbClr val="6366F1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1000125" y="2333625"/>
            <a:ext cx="1143000" cy="285750"/>
          </a:xfrm>
          <a:prstGeom prst="roundRect">
            <a:avLst>
              <a:gd name="adj" fmla="val 26667"/>
            </a:avLst>
          </a:prstGeom>
          <a:solidFill>
            <a:srgbClr val="6366F1">
              <a:alpha val="20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12619" y="2420302"/>
            <a:ext cx="11180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类别 1：理论实体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505" y="2790825"/>
            <a:ext cx="179104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Theory / Concepts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000125" y="3143250"/>
            <a:ext cx="2857500" cy="342900"/>
          </a:xfrm>
          <a:prstGeom prst="roundRect">
            <a:avLst>
              <a:gd name="adj" fmla="val 16667"/>
            </a:avLst>
          </a:prstGeom>
          <a:solidFill>
            <a:srgbClr val="0B132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137666" y="3258502"/>
            <a:ext cx="16082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10387" indent="-110387" algn="l">
              <a:buClr>
                <a:srgbClr val="38BDF8"/>
              </a:buClr>
              <a:buSzTx/>
              <a:buFontTx/>
              <a:buChar char="●"/>
            </a:pPr>
            <a:r>
              <a:rPr lang="zh-CN" sz="105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肿瘤免疫微环境 (TIME)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000125" y="3571875"/>
            <a:ext cx="2857500" cy="342900"/>
          </a:xfrm>
          <a:prstGeom prst="roundRect">
            <a:avLst>
              <a:gd name="adj" fmla="val 16667"/>
            </a:avLst>
          </a:prstGeom>
          <a:solidFill>
            <a:srgbClr val="0B132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137666" y="3687128"/>
            <a:ext cx="19763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10387" indent="-110387" algn="l">
              <a:buClr>
                <a:srgbClr val="38BDF8"/>
              </a:buClr>
              <a:buSzTx/>
              <a:buFontTx/>
              <a:buChar char="●"/>
            </a:pPr>
            <a:r>
              <a:rPr lang="zh-CN" sz="105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T细胞耗竭 (T cell exhaustion)</a:t>
            </a:r>
          </a:p>
        </p:txBody>
      </p:sp>
      <p:sp>
        <p:nvSpPr>
          <p:cNvPr id="16" name="Rectangle 16"/>
          <p:cNvSpPr/>
          <p:nvPr/>
        </p:nvSpPr>
        <p:spPr>
          <a:xfrm>
            <a:off x="1000125" y="4000500"/>
            <a:ext cx="2857500" cy="342900"/>
          </a:xfrm>
          <a:prstGeom prst="roundRect">
            <a:avLst>
              <a:gd name="adj" fmla="val 16667"/>
            </a:avLst>
          </a:prstGeom>
          <a:solidFill>
            <a:srgbClr val="0B132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37666" y="4115752"/>
            <a:ext cx="9691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10387" indent="-110387" algn="l">
              <a:buClr>
                <a:srgbClr val="38BDF8"/>
              </a:buClr>
              <a:buSzTx/>
              <a:buFontTx/>
              <a:buChar char="●"/>
            </a:pPr>
            <a:r>
              <a:rPr lang="zh-CN" sz="105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免疫编辑理论</a:t>
            </a:r>
          </a:p>
        </p:txBody>
      </p:sp>
      <p:sp>
        <p:nvSpPr>
          <p:cNvPr id="18" name="Line 18"/>
          <p:cNvSpPr/>
          <p:nvPr/>
        </p:nvSpPr>
        <p:spPr>
          <a:xfrm>
            <a:off x="1000125" y="4524375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95172" y="4657249"/>
            <a:ext cx="15043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🔍 大模型识别依据说明：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95362" y="4903470"/>
            <a:ext cx="19837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6200" indent="-76200" algn="l">
              <a:buClr>
                <a:srgbClr val="94A3B8"/>
              </a:buClr>
              <a:buSzTx/>
              <a:buFontTx/>
              <a:buChar char="•"/>
            </a:pPr>
            <a:r>
              <a:rPr lang="zh-CN" sz="9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显式特征词（直接包含“理论”字样）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5362" y="5093970"/>
            <a:ext cx="21454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6200" indent="-76200" algn="l">
              <a:buClr>
                <a:srgbClr val="94A3B8"/>
              </a:buClr>
              <a:buSzTx/>
              <a:buFontTx/>
              <a:buChar char="•"/>
            </a:pPr>
            <a:r>
              <a:rPr lang="zh-CN" sz="9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充当全局宏观病理机制与科学研究假说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429125" y="2095500"/>
            <a:ext cx="3333750" cy="333375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4288">
            <a:solidFill>
              <a:srgbClr val="34D399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4714875" y="2333625"/>
            <a:ext cx="1143000" cy="285750"/>
          </a:xfrm>
          <a:prstGeom prst="roundRect">
            <a:avLst>
              <a:gd name="adj" fmla="val 26667"/>
            </a:avLst>
          </a:prstGeom>
          <a:solidFill>
            <a:srgbClr val="34D399">
              <a:alpha val="20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727369" y="2420302"/>
            <a:ext cx="11180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类别 2：方法实体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07255" y="2790825"/>
            <a:ext cx="16890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Method / Pipeline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714875" y="3143250"/>
            <a:ext cx="2762250" cy="342900"/>
          </a:xfrm>
          <a:prstGeom prst="roundRect">
            <a:avLst>
              <a:gd name="adj" fmla="val 16667"/>
            </a:avLst>
          </a:prstGeom>
          <a:solidFill>
            <a:srgbClr val="0B132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852416" y="3258502"/>
            <a:ext cx="16257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10387" indent="-110387" algn="l">
              <a:buClr>
                <a:srgbClr val="34D399"/>
              </a:buClr>
              <a:buSzTx/>
              <a:buFontTx/>
              <a:buChar char="●"/>
            </a:pPr>
            <a:r>
              <a:rPr lang="zh-CN" sz="1050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T细胞状态动态识别方法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714875" y="3571875"/>
            <a:ext cx="2762250" cy="342900"/>
          </a:xfrm>
          <a:prstGeom prst="roundRect">
            <a:avLst>
              <a:gd name="adj" fmla="val 16667"/>
            </a:avLst>
          </a:prstGeom>
          <a:solidFill>
            <a:srgbClr val="0B132B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852416" y="3687128"/>
            <a:ext cx="16759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10387" indent="-110387" algn="l">
              <a:buClr>
                <a:srgbClr val="34D399"/>
              </a:buClr>
              <a:buSzTx/>
              <a:buFontTx/>
              <a:buChar char="●"/>
            </a:pPr>
            <a:r>
              <a:rPr lang="zh-CN" sz="1050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细胞亚群聚类与轨迹分析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714875" y="4000500"/>
            <a:ext cx="2762250" cy="342900"/>
          </a:xfrm>
          <a:prstGeom prst="roundRect">
            <a:avLst>
              <a:gd name="adj" fmla="val 16667"/>
            </a:avLst>
          </a:prstGeom>
          <a:solidFill>
            <a:srgbClr val="0B132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852416" y="4115752"/>
            <a:ext cx="21004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10387" indent="-110387" algn="l">
              <a:buClr>
                <a:srgbClr val="34D399"/>
              </a:buClr>
              <a:buSzTx/>
              <a:buFontTx/>
              <a:buChar char="●"/>
            </a:pPr>
            <a:r>
              <a:rPr lang="zh-CN" sz="1050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pseudotime推断 / 通讯网络构建</a:t>
            </a:r>
          </a:p>
        </p:txBody>
      </p:sp>
      <p:sp>
        <p:nvSpPr>
          <p:cNvPr id="32" name="Line 32"/>
          <p:cNvSpPr/>
          <p:nvPr/>
        </p:nvSpPr>
        <p:spPr>
          <a:xfrm>
            <a:off x="4714875" y="4524375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4709922" y="4657249"/>
            <a:ext cx="15043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🔍 大模型识别依据说明：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710112" y="4903470"/>
            <a:ext cx="21386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6200" indent="-76200" algn="l">
              <a:buClr>
                <a:srgbClr val="94A3B8"/>
              </a:buClr>
              <a:buSzTx/>
              <a:buFontTx/>
              <a:buChar char="•"/>
            </a:pPr>
            <a:r>
              <a:rPr lang="zh-CN" sz="9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动宾语法结构（如“进行…分析/推断”）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710112" y="5093970"/>
            <a:ext cx="19030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6200" indent="-76200" algn="l">
              <a:buClr>
                <a:srgbClr val="94A3B8"/>
              </a:buClr>
              <a:buSzTx/>
              <a:buFontTx/>
              <a:buChar char="•"/>
            </a:pPr>
            <a:r>
              <a:rPr lang="zh-CN" sz="9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算法流程与具体生信数据分析路线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096250" y="2095500"/>
            <a:ext cx="3333750" cy="333375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4288">
            <a:solidFill>
              <a:srgbClr val="F59E0B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8382000" y="2333625"/>
            <a:ext cx="1143000" cy="285750"/>
          </a:xfrm>
          <a:prstGeom prst="roundRect">
            <a:avLst>
              <a:gd name="adj" fmla="val 26667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394494" y="2420302"/>
            <a:ext cx="11180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类别 3：工具实体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374380" y="2790825"/>
            <a:ext cx="147608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Tool / Software</a:t>
            </a:r>
          </a:p>
        </p:txBody>
      </p:sp>
      <p:sp>
        <p:nvSpPr>
          <p:cNvPr id="40" name="Rectangle 40"/>
          <p:cNvSpPr/>
          <p:nvPr/>
        </p:nvSpPr>
        <p:spPr>
          <a:xfrm>
            <a:off x="8382000" y="3143250"/>
            <a:ext cx="2762250" cy="342900"/>
          </a:xfrm>
          <a:prstGeom prst="roundRect">
            <a:avLst>
              <a:gd name="adj" fmla="val 16667"/>
            </a:avLst>
          </a:prstGeom>
          <a:solidFill>
            <a:srgbClr val="0B132B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519541" y="3258502"/>
            <a:ext cx="20093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10387" indent="-110387" algn="l">
              <a:buClr>
                <a:srgbClr val="F59E0B"/>
              </a:buClr>
              <a:buSzTx/>
              <a:buFontTx/>
              <a:buChar char="●"/>
            </a:pPr>
            <a:r>
              <a:rPr lang="zh-CN" sz="1050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单细胞RNA测序 (scRNA-seq)</a:t>
            </a:r>
          </a:p>
        </p:txBody>
      </p:sp>
      <p:sp>
        <p:nvSpPr>
          <p:cNvPr id="42" name="Rectangle 42"/>
          <p:cNvSpPr/>
          <p:nvPr/>
        </p:nvSpPr>
        <p:spPr>
          <a:xfrm>
            <a:off x="8382000" y="3571875"/>
            <a:ext cx="2762250" cy="342900"/>
          </a:xfrm>
          <a:prstGeom prst="roundRect">
            <a:avLst>
              <a:gd name="adj" fmla="val 16667"/>
            </a:avLst>
          </a:prstGeom>
          <a:solidFill>
            <a:srgbClr val="0B132B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519541" y="3687128"/>
            <a:ext cx="15705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10387" indent="-110387" algn="l">
              <a:buClr>
                <a:srgbClr val="F59E0B"/>
              </a:buClr>
              <a:buSzTx/>
              <a:buFontTx/>
              <a:buChar char="●"/>
            </a:pPr>
            <a:r>
              <a:rPr lang="zh-CN" sz="1050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Seurat 生物信息学工具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382000" y="4000500"/>
            <a:ext cx="2762250" cy="342900"/>
          </a:xfrm>
          <a:prstGeom prst="roundRect">
            <a:avLst>
              <a:gd name="adj" fmla="val 16667"/>
            </a:avLst>
          </a:prstGeom>
          <a:solidFill>
            <a:srgbClr val="0B132B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8519541" y="4115752"/>
            <a:ext cx="17307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10387" indent="-110387" algn="l">
              <a:buClr>
                <a:srgbClr val="F59E0B"/>
              </a:buClr>
              <a:buSzTx/>
              <a:buFontTx/>
              <a:buChar char="●"/>
            </a:pPr>
            <a:r>
              <a:rPr lang="zh-CN" sz="1050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Monocle3 / CellChat 软件</a:t>
            </a:r>
          </a:p>
        </p:txBody>
      </p:sp>
      <p:sp>
        <p:nvSpPr>
          <p:cNvPr id="46" name="Line 46"/>
          <p:cNvSpPr/>
          <p:nvPr/>
        </p:nvSpPr>
        <p:spPr>
          <a:xfrm>
            <a:off x="8382000" y="4524375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8377047" y="4657249"/>
            <a:ext cx="15043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🔍 大模型识别依据说明：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377238" y="4903470"/>
            <a:ext cx="182435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6200" indent="-76200" algn="l">
              <a:buClr>
                <a:srgbClr val="94A3B8"/>
              </a:buClr>
              <a:buSzTx/>
              <a:buFontTx/>
              <a:buChar char="•"/>
            </a:pPr>
            <a:r>
              <a:rPr lang="zh-CN" sz="9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首字母大写的 R 语言开源分析包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377238" y="5093970"/>
            <a:ext cx="238091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6200" indent="-76200" algn="l">
              <a:buClr>
                <a:srgbClr val="94A3B8"/>
              </a:buClr>
              <a:buSzTx/>
              <a:buFontTx/>
              <a:buChar char="•"/>
            </a:pPr>
            <a:r>
              <a:rPr lang="zh-CN" sz="9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上下文由“使用…工具/借助…软件”明确定位</a:t>
            </a:r>
          </a:p>
        </p:txBody>
      </p:sp>
      <p:sp>
        <p:nvSpPr>
          <p:cNvPr id="50" name="Rectangle 50"/>
          <p:cNvSpPr/>
          <p:nvPr/>
        </p:nvSpPr>
        <p:spPr>
          <a:xfrm>
            <a:off x="762000" y="5619750"/>
            <a:ext cx="10668000" cy="4762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1430">
            <a:solidFill>
              <a:srgbClr val="3A506B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1042416" y="5811202"/>
            <a:ext cx="81069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💡 技术跃进：大语言模型具备强大的先验知识库与深层上下文理解力，成功实现了从「机械分词」到「结构化知识抽取」的跨越！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55295"/>
            <a:ext cx="612706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课程总结与反思 · 走向语义关系与知识图谱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5904" y="870585"/>
            <a:ext cx="60302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综合复盘：工具效能感悟、Prompt调优体会、以及从实体走向关系图谱的下一步探索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9062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4288">
            <a:solidFill>
              <a:srgbClr val="1E293B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428750"/>
            <a:ext cx="3333750" cy="38100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4288">
            <a:solidFill>
              <a:srgbClr val="38BDF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047750" y="17145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38BDF8">
              <a:alpha val="15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53948" y="1850708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0130" y="231457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工具效能实感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2416" y="2648902"/>
            <a:ext cx="1706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“多快好省，极大改善条件”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2416" y="3077528"/>
            <a:ext cx="21798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使用 Gemini API 显著提升了效率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2416" y="3363278"/>
            <a:ext cx="20733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毫秒级流式响应降低了调试门槛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2416" y="3649028"/>
            <a:ext cx="221466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摆脱了传统正则规则编写的高成本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2416" y="3934778"/>
            <a:ext cx="23560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为大规模复杂科研文献处理带来可能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047750" y="4429125"/>
            <a:ext cx="2762250" cy="571500"/>
          </a:xfrm>
          <a:prstGeom prst="roundRect">
            <a:avLst>
              <a:gd name="adj" fmla="val 13333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194604" y="4531748"/>
            <a:ext cx="1875513" cy="36625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00"/>
              </a:lnSpc>
            </a:pPr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🌟 心声：极大改善了工作条件，</a:t>
            </a:r>
            <a:br>
              <a:rPr dirty="0"/>
            </a:br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体现出生成式大模型的技术红利。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429125" y="1428750"/>
            <a:ext cx="3333750" cy="38100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4288">
            <a:solidFill>
              <a:srgbClr val="818CF8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714875" y="17145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818CF8">
              <a:alpha val="15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821073" y="1850708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07255" y="2314575"/>
            <a:ext cx="15930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Prompt 调优体会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09541" y="2648902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“未经设计勉强，精心迭代飞跃”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09541" y="3077528"/>
            <a:ext cx="21884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未进行专门 Prompt 时，效果勉强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09541" y="3363278"/>
            <a:ext cx="221466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模型可能遗漏关键维度或格式混乱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09541" y="3649028"/>
            <a:ext cx="27543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加入角色定位、明确JSON字典与依据要求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709541" y="3934778"/>
            <a:ext cx="24973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多次调优后质量显著改善，准确度大增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714875" y="4429125"/>
            <a:ext cx="2762250" cy="571500"/>
          </a:xfrm>
          <a:prstGeom prst="roundRect">
            <a:avLst>
              <a:gd name="adj" fmla="val 13333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4850921" y="4495417"/>
            <a:ext cx="2471575" cy="3811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00"/>
              </a:lnSpc>
            </a:pPr>
            <a:r>
              <a:rPr lang="zh-CN" sz="980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🎯 调优核心：Prompt 是与模型对话的接口，</a:t>
            </a:r>
            <a:br>
              <a:rPr dirty="0"/>
            </a:br>
            <a:r>
              <a:rPr lang="zh-CN" sz="980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清晰的结构要求决定了产出上限。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96250" y="1428750"/>
            <a:ext cx="3333750" cy="38100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4288">
            <a:solidFill>
              <a:srgbClr val="34D399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8382000" y="17145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34D399">
              <a:alpha val="15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488198" y="1850708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4380" y="231457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终极探索：关系抽取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76666" y="2648902"/>
            <a:ext cx="15655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从孤立实体走向知识图谱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76666" y="3077528"/>
            <a:ext cx="20733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实体只是知识图谱中的离散节点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76666" y="3363278"/>
            <a:ext cx="24973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核心挑战：如何判定实体之间的关系？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6666" y="3649028"/>
            <a:ext cx="23560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利用大模型深层语法与语义因果理解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76666" y="3934778"/>
            <a:ext cx="235584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抽取 (主语 - 谓词关系 - 宾语) 三元组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382000" y="4429125"/>
            <a:ext cx="2762250" cy="571500"/>
          </a:xfrm>
          <a:prstGeom prst="roundRect">
            <a:avLst>
              <a:gd name="adj" fmla="val 13333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519922" y="4537139"/>
            <a:ext cx="2160301" cy="3811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00"/>
              </a:lnSpc>
            </a:pPr>
            <a:r>
              <a:rPr lang="zh-CN" sz="980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🚀 未来方向：将实体连接成因果网络，</a:t>
            </a:r>
            <a:br>
              <a:rPr dirty="0"/>
            </a:br>
            <a:r>
              <a:rPr lang="zh-CN" sz="980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构建真正的垂直领域科技知识图谱！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62000" y="5476875"/>
            <a:ext cx="10668000" cy="619125"/>
          </a:xfrm>
          <a:prstGeom prst="roundRect">
            <a:avLst>
              <a:gd name="adj" fmla="val 21538"/>
            </a:avLst>
          </a:prstGeom>
          <a:solidFill>
            <a:srgbClr val="1E293B"/>
          </a:solidFill>
          <a:ln w="14288">
            <a:solidFill>
              <a:srgbClr val="3A506B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3850349" y="5695950"/>
            <a:ext cx="449130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感谢聆听 · 欢迎交流与探讨！ 感知世界，洞见知识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text_mining_lecture1_assignment">
  <a:themeElements>
    <a:clrScheme name="text_mining_lecture1_assignmen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xt_mining_lecture1_assignmen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xt_mining_lecture1_assignme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3713</Words>
  <Application>Microsoft Office PowerPoint</Application>
  <PresentationFormat>宽屏</PresentationFormat>
  <Paragraphs>227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Microsoft YaHei</vt:lpstr>
      <vt:lpstr>Arial</vt:lpstr>
      <vt:lpstr>text_mining_lecture1_assignment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梓祺 钟</cp:lastModifiedBy>
  <cp:revision>6</cp:revision>
  <dcterms:created xsi:type="dcterms:W3CDTF">2026-09-18T07:00:04Z</dcterms:created>
  <dcterms:modified xsi:type="dcterms:W3CDTF">2026-09-18T08:57:44Z</dcterms:modified>
  <cp:category/>
  <cp:contentStatus/>
  <dc:language>zh-CN</dc:language>
</cp:coreProperties>
</file>