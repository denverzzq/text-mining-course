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_mining_lecture3_assignme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10/23/2026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ext_mining_lecture3_assignme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10/23/2026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10668000" cy="571500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4288">
            <a:solidFill>
              <a:srgbClr val="3A506B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Rectangle 3"/>
          <p:cNvSpPr/>
          <p:nvPr/>
        </p:nvSpPr>
        <p:spPr>
          <a:xfrm>
            <a:off x="1333500" y="1143000"/>
            <a:ext cx="2952750" cy="36195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 w="14288">
            <a:solidFill>
              <a:srgbClr val="818CF8"/>
            </a:solidFill>
          </a:ln>
        </p:spPr>
      </p:sp>
      <p:sp>
        <p:nvSpPr>
          <p:cNvPr id="4" name="Ellipse 4"/>
          <p:cNvSpPr/>
          <p:nvPr/>
        </p:nvSpPr>
        <p:spPr>
          <a:xfrm>
            <a:off x="1485900" y="1266825"/>
            <a:ext cx="114300" cy="1143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08785" y="1259681"/>
            <a:ext cx="21893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文本数据采集与知识图谱 · 第3讲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4450" y="1864995"/>
            <a:ext cx="896340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感知世界：词云生成与多维可视化实践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4356" y="2663190"/>
            <a:ext cx="70454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从文本分词、停用词过滤到特定形状遮罩与高维可视化的认知跃迁</a:t>
            </a:r>
          </a:p>
        </p:txBody>
      </p:sp>
      <p:sp>
        <p:nvSpPr>
          <p:cNvPr id="8" name="Line 8"/>
          <p:cNvSpPr/>
          <p:nvPr/>
        </p:nvSpPr>
        <p:spPr>
          <a:xfrm>
            <a:off x="1333500" y="3286125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4288">
            <a:solidFill>
              <a:srgbClr val="3A506B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33350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52400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58045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7523" y="4196239"/>
            <a:ext cx="10468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词云生成基础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9047" y="4514374"/>
            <a:ext cx="1178685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WordCloud核心机制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Jieba分词与字体映射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71475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390525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18CF8">
              <a:alpha val="2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96170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98773" y="419623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停用词与遮罩实战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00297" y="4514374"/>
            <a:ext cx="1254506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《是，大臣》台词分析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bg2.jpg特定形状遮罩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09600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28650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4D399">
              <a:alpha val="2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4295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80023" y="4196239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科学家传记词云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81547" y="4514374"/>
            <a:ext cx="1130046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黄旭华院士传记语料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肖像遮罩与高清输出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47725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66775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72420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61273" y="4196239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参数体系与拓展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62797" y="4514374"/>
            <a:ext cx="1303070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多维参数精细控制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Echarts图表与认知反思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357835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实践内容大纲与演进逻辑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从基础文本解析到形状遮罩构建，再到参数控制与高维图表认知的完整链路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1430">
            <a:solidFill>
              <a:srgbClr val="33415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0012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18317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5" y="236220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基础架构与原理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4791" y="26965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算法流程与字体映射</a:t>
            </a:r>
          </a:p>
        </p:txBody>
      </p:sp>
      <p:sp>
        <p:nvSpPr>
          <p:cNvPr id="10" name="Line 10"/>
          <p:cNvSpPr/>
          <p:nvPr/>
        </p:nvSpPr>
        <p:spPr>
          <a:xfrm>
            <a:off x="1000125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94791" y="3172778"/>
            <a:ext cx="13239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Jieba 中文分词切片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4791" y="3458528"/>
            <a:ext cx="14868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SimSun 中文字体绑定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791" y="3744278"/>
            <a:ext cx="14155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WordCloud 矩阵渲染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4791" y="4030028"/>
            <a:ext cx="13076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Matplotlib 无轴绘图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5172" y="4466749"/>
            <a:ext cx="19888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底层逻辑：非结构文本到词汇空间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486150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1430">
            <a:solidFill>
              <a:srgbClr val="334155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72427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818CF8">
              <a:alpha val="15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842467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16655" y="236220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文本清洗与特征过滤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18941" y="26965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停用词表与无噪词流</a:t>
            </a:r>
          </a:p>
        </p:txBody>
      </p:sp>
      <p:sp>
        <p:nvSpPr>
          <p:cNvPr id="21" name="Line 21"/>
          <p:cNvSpPr/>
          <p:nvPr/>
        </p:nvSpPr>
        <p:spPr>
          <a:xfrm>
            <a:off x="3724275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718941" y="3172778"/>
            <a:ext cx="13277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加载 stop_words.txt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18941" y="3458528"/>
            <a:ext cx="12252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虚词助词高效过滤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18941" y="3744278"/>
            <a:ext cx="12252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词语序列重构拼接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18941" y="4030028"/>
            <a:ext cx="13665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词频重要度自然加权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19322" y="4466749"/>
            <a:ext cx="19888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底层逻辑：原始噪音到纯净信息流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19825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1430">
            <a:solidFill>
              <a:srgbClr val="334155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457950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4D399">
              <a:alpha val="15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76142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50330" y="236220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形状遮罩与视觉叙事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52616" y="26965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像素遮罩与轮廓填充</a:t>
            </a:r>
          </a:p>
        </p:txBody>
      </p:sp>
      <p:sp>
        <p:nvSpPr>
          <p:cNvPr id="32" name="Line 32"/>
          <p:cNvSpPr/>
          <p:nvPr/>
        </p:nvSpPr>
        <p:spPr>
          <a:xfrm>
            <a:off x="6457950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452616" y="3172778"/>
            <a:ext cx="12252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图像像素矩阵读取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52616" y="3458528"/>
            <a:ext cx="16723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纯白(#FFFFFF)留白法则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52616" y="3744278"/>
            <a:ext cx="12252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非白轮廓密集排词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52616" y="4030028"/>
            <a:ext cx="13117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scale 画布等比放大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52997" y="4466749"/>
            <a:ext cx="21207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底层逻辑：普通矩形到具象图形叙事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953500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1430">
            <a:solidFill>
              <a:srgbClr val="334155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919162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309817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84005" y="236220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参数体系与高维跃迁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186291" y="26965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多维调控与认知图谱</a:t>
            </a:r>
          </a:p>
        </p:txBody>
      </p:sp>
      <p:sp>
        <p:nvSpPr>
          <p:cNvPr id="43" name="Line 43"/>
          <p:cNvSpPr/>
          <p:nvPr/>
        </p:nvSpPr>
        <p:spPr>
          <a:xfrm>
            <a:off x="9191625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186291" y="3172778"/>
            <a:ext cx="13665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全参数控制空间剖析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86291" y="3458528"/>
            <a:ext cx="16100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原图色彩重着色(recolor)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186291" y="3744278"/>
            <a:ext cx="1507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科学传记核心语义洞察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86291" y="4030028"/>
            <a:ext cx="15047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延伸 Echarts 交互图表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86672" y="4466749"/>
            <a:ext cx="21207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底层逻辑：感性直觉跃迁至知识推理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62000" y="5334000"/>
            <a:ext cx="10668000" cy="714375"/>
          </a:xfrm>
          <a:prstGeom prst="roundRect">
            <a:avLst>
              <a:gd name="adj" fmla="val 18667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1000125" y="55054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38BDF8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69305" y="5588318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B132B"/>
                </a:solidFill>
                <a:latin typeface="+mn-lt"/>
                <a:ea typeface="+mn-ea"/>
                <a:cs typeface="+mn-cs"/>
              </a:rPr>
              <a:t>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70279" y="55187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认知跃迁路径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71422" y="5781199"/>
            <a:ext cx="58807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原始字词切分 ➔ 停用词清洗提纯 ➔ 肖像/背景形状具象化 ➔ 参数精细化调控 ➔ 多维图表与知识推理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612706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模块一 · 中文词云生成原理与基础实践流程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602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基于 WordCloud 与 Jieba 的端到端流程：从原始文本到可视化图像的渲染机制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38BDF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714500"/>
            <a:ext cx="1524000" cy="304800"/>
          </a:xfrm>
          <a:prstGeom prst="roundRect">
            <a:avLst>
              <a:gd name="adj" fmla="val 25000"/>
            </a:avLst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68336" y="18107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技术架构与三步流程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130" y="22002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中文词云渲染管线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2571750"/>
            <a:ext cx="2762250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85672" y="2723674"/>
            <a:ext cx="196644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① 文本分词流：jieba.cut 分词切片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5672" y="2961799"/>
            <a:ext cx="20641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② 字体绑定：font_path="simsun.ttf"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5672" y="3199924"/>
            <a:ext cx="2091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③ 画布呈现：plt.imshow(wordcloud)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5862" y="3398520"/>
            <a:ext cx="128771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plt.axis('off') 隐藏坐标轴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416" y="37919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核心底层机制：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797" y="4066699"/>
            <a:ext cx="24627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94A3B8"/>
              </a:buClr>
              <a:buSzTx/>
              <a:buFontTx/>
              <a:buChar char="•"/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中文无天然空格分界，必须由分词器切分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2797" y="4323874"/>
            <a:ext cx="25946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94A3B8"/>
              </a:buClr>
              <a:buSzTx/>
              <a:buFontTx/>
              <a:buChar char="•"/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默认英文字体无法识别汉字，必需显式映射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2797" y="4581049"/>
            <a:ext cx="2726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94A3B8"/>
              </a:buClr>
              <a:buSzTx/>
              <a:buFontTx/>
              <a:buChar char="•"/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词语字号由词频统计与矩阵贪心排布共同决定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29125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818CF8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714875" y="1714500"/>
            <a:ext cx="1524000" cy="304800"/>
          </a:xfrm>
          <a:prstGeom prst="roundRect">
            <a:avLst>
              <a:gd name="adj" fmla="val 25000"/>
            </a:avLst>
          </a:prstGeom>
          <a:solidFill>
            <a:srgbClr val="818CF8">
              <a:alpha val="1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047488" y="18107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经典语料实践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7255" y="2200275"/>
            <a:ext cx="261289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《</a:t>
            </a:r>
            <a:r>
              <a:rPr lang="zh-CN" altLang="zh-CN" sz="1600" dirty="0">
                <a:solidFill>
                  <a:srgbClr val="818CF8"/>
                </a:solidFill>
              </a:rPr>
              <a:t> </a:t>
            </a:r>
            <a:r>
              <a:rPr lang="zh-CN" altLang="zh-CN" sz="1600" dirty="0">
                <a:solidFill>
                  <a:schemeClr val="bg1"/>
                </a:solidFill>
              </a:rPr>
              <a:t>yes_minister </a:t>
            </a:r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》文本初体验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714875" y="2571750"/>
            <a:ext cx="2762250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852797" y="2723674"/>
            <a:ext cx="17986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语料文件：yes_minister_cn.txt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52797" y="2961799"/>
            <a:ext cx="19216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切词连接："/".join(jieba.cut(text))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52797" y="3199924"/>
            <a:ext cx="21826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生成对象：WordCloud().generate(...)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52988" y="3398520"/>
            <a:ext cx="15845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基础词云：矩形纯白背景展示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09541" y="37919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初版视觉呈现效果：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9922" y="4066699"/>
            <a:ext cx="21988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成功将剧本全量台词转化为平面排版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09922" y="4323874"/>
            <a:ext cx="193504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汉字显示清晰完整，无乱码方块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09922" y="4581049"/>
            <a:ext cx="23308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高频词在画布居中排布，字号显著偏大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334155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382000" y="1714500"/>
            <a:ext cx="15240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714613" y="18107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初始效果诊断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4380" y="220027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信息噪音与清洗迫切性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382000" y="2571750"/>
            <a:ext cx="2762250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19922" y="2723674"/>
            <a:ext cx="185662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高频虚词霸榜：“的”、“了”、“是”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19922" y="2961799"/>
            <a:ext cx="185662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占位干扰：“在”、“我们”、“什么”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19922" y="3199924"/>
            <a:ext cx="22524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关键实词受抑：“大臣”、“政府”、“政策”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20112" y="3398520"/>
            <a:ext cx="19480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视觉失真：无法有效提炼核心故事线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76666" y="37919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方法论认识：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77047" y="4066699"/>
            <a:ext cx="25065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词云不仅仅是“文本绘图”，更是“特征选择”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77047" y="4323874"/>
            <a:ext cx="24627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语言中的功能虚词会严重遮蔽实质性知识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77047" y="4581049"/>
            <a:ext cx="24627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必须引入停用词清洗机制与形态升级方案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2848635" y="5793581"/>
            <a:ext cx="64947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核心法则：分词是中文词云的基础，字体是正确渲染的前提，特征清洗则是决定词云价值的关键！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612706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模块一续 · 停用词清洗与特定形状遮罩实战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3167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以《是，大臣》台词与 bg2.jpg 遮罩为例：从单调矩形迈向具象化图形叙事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34D399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714500"/>
            <a:ext cx="1428750" cy="304800"/>
          </a:xfrm>
          <a:prstGeom prst="roundRect">
            <a:avLst>
              <a:gd name="adj" fmla="val 25000"/>
            </a:avLst>
          </a:prstGeom>
          <a:solidFill>
            <a:srgbClr val="34D399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62062" y="18107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停用词过滤机制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130" y="22002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剔除语言高频虚词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2571750"/>
            <a:ext cx="2762250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85672" y="2723674"/>
            <a:ext cx="1951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词表读取：open('stop_words.txt')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5672" y="2961799"/>
            <a:ext cx="17903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拆分切片：stopwords.split('\n')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5672" y="3199924"/>
            <a:ext cx="20188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有效校验：if seg not in stopwords: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5862" y="3398520"/>
            <a:ext cx="14597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清洗串联：final += seg + '/'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416" y="37919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清洗成效对比：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797" y="4066699"/>
            <a:ext cx="23308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虚词干扰瞬间归零，画布空间充分释放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2797" y="4323874"/>
            <a:ext cx="193504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政治讽刺核心主题词汇迅速突显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2797" y="4581049"/>
            <a:ext cx="2829621" cy="1508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“大臣”“首相”“政策”“白厅”占据视觉中心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29125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38BDF8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714875" y="1714500"/>
            <a:ext cx="1428750" cy="304800"/>
          </a:xfrm>
          <a:prstGeom prst="roundRect">
            <a:avLst>
              <a:gd name="adj" fmla="val 25000"/>
            </a:avLst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999863" y="18107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形状遮罩机理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7255" y="22002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二维图像像素映射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714875" y="2571750"/>
            <a:ext cx="2762250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852797" y="2723674"/>
            <a:ext cx="22123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底图读取：big_pic = imread('bg2.jpg')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52797" y="2961799"/>
            <a:ext cx="1667123" cy="1508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色彩判定：纯白区域忽略不绘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52797" y="3199924"/>
            <a:ext cx="22526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轮廓填充：其余非白区域用于词汇排布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52988" y="339852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画布自适应：遮罩形态直接取代指定宽高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09541" y="37919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遮罩技术要点：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9922" y="4066699"/>
            <a:ext cx="24627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底图背景必须为纯白色，确保无边缘噪点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09922" y="4323874"/>
            <a:ext cx="24627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目标轮廓需具备良好连通性，避免碎片化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09922" y="4581049"/>
            <a:ext cx="24627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形状语义需与文本题材契合，增强叙事感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818CF8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382000" y="1714500"/>
            <a:ext cx="1428750" cy="304800"/>
          </a:xfrm>
          <a:prstGeom prst="roundRect">
            <a:avLst>
              <a:gd name="adj" fmla="val 25000"/>
            </a:avLst>
          </a:prstGeom>
          <a:solidFill>
            <a:srgbClr val="818CF8">
              <a:alpha val="15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596312" y="18107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具象输出与落地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4380" y="22002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高清图形导出保存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382000" y="2571750"/>
            <a:ext cx="2762250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19922" y="2723674"/>
            <a:ext cx="16387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WordCloud 组合参数设置：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19922" y="2961799"/>
            <a:ext cx="23778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mask=big_pic, background_color='white'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19922" y="3199924"/>
            <a:ext cx="207362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scale=2.5 (长宽2.5倍等比高清放大)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20112" y="3398520"/>
            <a:ext cx="2068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文件输出：to_file('yes_minister_x.jpg')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76666" y="37919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视觉与传播价值：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77047" y="4066699"/>
            <a:ext cx="24627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突破普通矩形束缚，呈现生动图形外轮廓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77047" y="4323874"/>
            <a:ext cx="22796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scale 机制保证图片局部放大依然锐利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77047" y="4581049"/>
            <a:ext cx="24627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具备直接应用于出版、汇报与海报的品质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2547087" y="5793581"/>
            <a:ext cx="70978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技术沉淀：停用词剔除语言噪声，形状遮罩赋予图表灵魂，二者结合实现信息密度与视觉艺术的双重突破！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741941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模块二 · 功勋科学家文本词云实战：黄旭华院士传记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以黄旭华院士传记序言文本为语料：文本清洗、分词抽取与多阶段词云演进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38BDF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714500"/>
            <a:ext cx="1524000" cy="304800"/>
          </a:xfrm>
          <a:prstGeom prst="roundRect">
            <a:avLst>
              <a:gd name="adj" fmla="val 25000"/>
            </a:avLst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68336" y="18107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传记语料与处理流程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130" y="22002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科学家生平文本解析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2571750"/>
            <a:ext cx="2762250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85672" y="2723674"/>
            <a:ext cx="24285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文本：功勋科学家黄旭华传记序言文本.txt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5672" y="2961799"/>
            <a:ext cx="22526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题材：我国第一代核潜艇研制先驱传记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5672" y="3199924"/>
            <a:ext cx="189726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读取：open(..., encoding='utf-8')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5862" y="3398520"/>
            <a:ext cx="18139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分词：jieba.cut(text_cn) 切出词流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416" y="37919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语料特色与挑战：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797" y="4066699"/>
            <a:ext cx="180311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科技词汇与严谨纪实语言并存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2797" y="4323874"/>
            <a:ext cx="206696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人物名称与国家战略工程高度交织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2797" y="4581049"/>
            <a:ext cx="23308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需通过停用词过滤提炼科学家人生精髓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29125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34D399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714875" y="1714500"/>
            <a:ext cx="1524000" cy="304800"/>
          </a:xfrm>
          <a:prstGeom prst="roundRect">
            <a:avLst>
              <a:gd name="adj" fmla="val 25000"/>
            </a:avLst>
          </a:prstGeom>
          <a:solidFill>
            <a:srgbClr val="34D399">
              <a:alpha val="1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976812" y="18107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三阶段形态演进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7255" y="220027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从混沌矩形到肖像词云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714875" y="2571750"/>
            <a:ext cx="2762250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852797" y="2723674"/>
            <a:ext cx="23699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阶段一 · 原始词云：字词密集但杂词混入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52797" y="2961799"/>
            <a:ext cx="23699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阶段二 · 停用词清洗：核心专业词汇显现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52797" y="3199924"/>
            <a:ext cx="242214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阶段三 · 头像遮罩：引入 huangxuhua.jpg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52988" y="3398520"/>
            <a:ext cx="18279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最终输出：huangxuhua_ciyun.jpg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09541" y="37919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视觉呈现飞跃：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9922" y="4066699"/>
            <a:ext cx="21988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肖像遮罩赋予文字鲜活的具象生命力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09922" y="4323874"/>
            <a:ext cx="21988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院士面部与服饰轮廓由汉字自然勾勒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09922" y="4581049"/>
            <a:ext cx="193504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兼具学术纪实深度与艺术震撼力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F59E0B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382000" y="1714500"/>
            <a:ext cx="15240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714613" y="18107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高频核心透视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4380" y="22002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科学家生平轨迹凝练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381999" y="2571750"/>
            <a:ext cx="2811729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19922" y="2723674"/>
            <a:ext cx="19006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领军人物核心：“黄旭华”、“院士”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19922" y="2961799"/>
            <a:ext cx="23843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大国重器事业：“核潜艇”、“研制”、“工程”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19922" y="3199924"/>
            <a:ext cx="22524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学术科研纪实：“采集”、“学术”、“资料”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20112" y="3398520"/>
            <a:ext cx="2068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技术工作积淀：“技术”、“成长”、“工作”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76666" y="37919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精神内涵升华：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77047" y="4066699"/>
            <a:ext cx="23308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词云直观凝缩了科学家三十载隐姓埋名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77047" y="4323874"/>
            <a:ext cx="22426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“核潜艇”与“黄旭华”紧密咬合居于核心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77047" y="4581049"/>
            <a:ext cx="23308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视觉呈现高度契合大国科学家奉献精神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2396312" y="5793581"/>
            <a:ext cx="73993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实践价值：科学家文本词云不仅是自然语言切词成果的可视化，更是大国重器研制历史与崇高精神的艺术再现！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580397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模块二续 · 肖像遮罩与多维视觉参数体系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6060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深入 WordCloud 核心参数配置空间：控制画布形态、文字排版与视觉传达效果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5143500" cy="4000500"/>
          </a:xfrm>
          <a:prstGeom prst="roundRect">
            <a:avLst>
              <a:gd name="adj" fmla="val 3810"/>
            </a:avLst>
          </a:prstGeom>
          <a:solidFill>
            <a:srgbClr val="1C2541"/>
          </a:solidFill>
          <a:ln w="11430">
            <a:solidFill>
              <a:srgbClr val="38BDF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666875"/>
            <a:ext cx="1714500" cy="285750"/>
          </a:xfrm>
          <a:prstGeom prst="roundRect">
            <a:avLst>
              <a:gd name="adj" fmla="val 26667"/>
            </a:avLst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334262" y="175355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参数体系全景剖析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9368" y="2107882"/>
            <a:ext cx="262361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WordCloud 核心构造参数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2476500"/>
            <a:ext cx="4572000" cy="2667000"/>
          </a:xfrm>
          <a:prstGeom prst="roundRect">
            <a:avLst>
              <a:gd name="adj" fmla="val 3571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233297" y="2656999"/>
            <a:ext cx="353255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38BDF8"/>
              </a:buClr>
              <a:buSzTx/>
              <a:buFontTx/>
              <a:buChar char="•"/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font_path：字体文件路径（如 'simsun.ttf'），中文显示必需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3297" y="2942749"/>
            <a:ext cx="385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mask：二维形状遮罩矩阵，纯白(#FFFFFF)留空，非白填充文字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3297" y="3228499"/>
            <a:ext cx="40828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scale：画布按比例等比放大（如 2.5 倍），成倍提升清晰度与分辨率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3297" y="3514249"/>
            <a:ext cx="38851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max_words：容纳最大词语个数（默认200），控制画面紧凑程度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3297" y="3799999"/>
            <a:ext cx="39001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prefer_horizontal：词语水平排版比例（默认0.9），控制排版节律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3297" y="4085749"/>
            <a:ext cx="38699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background_color：画布背景色（'white'），与白底遮罩紧密贴合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3297" y="4371499"/>
            <a:ext cx="35555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relative_scaling：词频与字体大小的比例关联度（默认0.5）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3297" y="4657249"/>
            <a:ext cx="356300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94A3B8"/>
              </a:buClr>
              <a:buSzTx/>
              <a:buFontTx/>
              <a:buChar char="•"/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collocations：是否统计词语搭配；font_step：字号寻位步长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3488" y="4903470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核心逻辑：参数决定算法在二维矩阵上的碰撞检测与文字布局决策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1428750"/>
            <a:ext cx="5143500" cy="4000500"/>
          </a:xfrm>
          <a:prstGeom prst="roundRect">
            <a:avLst>
              <a:gd name="adj" fmla="val 3810"/>
            </a:avLst>
          </a:prstGeom>
          <a:solidFill>
            <a:srgbClr val="1C2541"/>
          </a:solidFill>
          <a:ln w="11430">
            <a:solidFill>
              <a:srgbClr val="818CF8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572250" y="1666875"/>
            <a:ext cx="1714500" cy="285750"/>
          </a:xfrm>
          <a:prstGeom prst="roundRect">
            <a:avLst>
              <a:gd name="adj" fmla="val 26667"/>
            </a:avLst>
          </a:prstGeom>
          <a:solidFill>
            <a:srgbClr val="818CF8">
              <a:alpha val="2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929438" y="17535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色彩重着色进阶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3868" y="2107882"/>
            <a:ext cx="24601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图像色彩重采样与再着色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572250" y="2476500"/>
            <a:ext cx="4572000" cy="1428750"/>
          </a:xfrm>
          <a:prstGeom prst="roundRect">
            <a:avLst>
              <a:gd name="adj" fmla="val 6667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757797" y="2656999"/>
            <a:ext cx="23977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18CF8"/>
                </a:solidFill>
                <a:latin typeface="Consolas"/>
                <a:ea typeface="Microsoft YaHei"/>
                <a:cs typeface="Consolas"/>
              </a:rPr>
              <a:t># 依据黄旭华院士头像原图颜色重新上色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57797" y="2895124"/>
            <a:ext cx="31447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image_colors = ImageColorGenerator(big_pic)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57797" y="3133249"/>
            <a:ext cx="40007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wordcloud_recolor = wc.recolor(color_func=image_colors)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57797" y="3371374"/>
            <a:ext cx="35653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wordcloud_recolor.to_file('huangxuhua_ciyun.jpg')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57988" y="3617595"/>
            <a:ext cx="31260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重新上色(recolor)仅改变文字色值，比重新生成布局快数倍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572250" y="4048125"/>
            <a:ext cx="4572000" cy="1095375"/>
          </a:xfrm>
          <a:prstGeom prst="roundRect">
            <a:avLst>
              <a:gd name="adj" fmla="val 8696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757416" y="417290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色彩机制与艺术呈现：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57797" y="4419124"/>
            <a:ext cx="3858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提取肖像各坐标点 RGB，文字直接继承人物真实肤色与衣着色彩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57797" y="4657249"/>
            <a:ext cx="386989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肖像面庞与神韵更加传神逼真，形成“字中有画、画中有字”的效果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57797" y="4895374"/>
            <a:ext cx="31223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34D399"/>
              </a:buClr>
              <a:buSzTx/>
              <a:buFontTx/>
              <a:buChar char="•"/>
            </a:pPr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完美展现了文本信息挖掘与视觉数字艺术的深度交融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2416210" y="5793581"/>
            <a:ext cx="73595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参数洞察：WordCloud 的参数空间构成了从“数据”到“艺术”的控制桥梁，赋能个性化、高表现力的视觉产出！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87117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模块三 · 可视化拓展与方法论反思：从直观词云走向多维洞察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62183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透视词云表达的优势与边界：商业评论、科学文本与复杂可视化工具（Echarts）的融合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38BDF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714500"/>
            <a:ext cx="1524000" cy="304800"/>
          </a:xfrm>
          <a:prstGeom prst="roundRect">
            <a:avLst>
              <a:gd name="adj" fmla="val 25000"/>
            </a:avLst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68336" y="18107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认知优势与表达局限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130" y="217170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词云的感知特性辨析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2571750"/>
            <a:ext cx="2762250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85672" y="2704624"/>
            <a:ext cx="17616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✓ 优势一：第一感官冲击力强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5672" y="2923699"/>
            <a:ext cx="18935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✓ 优势二：零门槛传递高频热点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5672" y="3142774"/>
            <a:ext cx="18935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✗ 局限一：丢失词序句法与语境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5672" y="3361849"/>
            <a:ext cx="21573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✗ 局限二：字号受排版算法面积压缩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416" y="3744278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课件商品评论词云案例：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797" y="4009549"/>
            <a:ext cx="2594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苹果评价词云：“新鲜”、“没有坏果”、“好吃”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2797" y="4247674"/>
            <a:ext cx="23308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虽能迅速捕获正面好评，但无法得知：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2797" y="4485799"/>
            <a:ext cx="19374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- 坏评的具体占比与退货核心诱因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2797" y="4723924"/>
            <a:ext cx="19374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- 顾客评分与物流满意度的相关性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429125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818CF8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714875" y="1714500"/>
            <a:ext cx="1524000" cy="304800"/>
          </a:xfrm>
          <a:prstGeom prst="roundRect">
            <a:avLst>
              <a:gd name="adj" fmla="val 25000"/>
            </a:avLst>
          </a:prstGeom>
          <a:solidFill>
            <a:srgbClr val="818CF8">
              <a:alpha val="2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976812" y="18107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多维工具链拓展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7255" y="2171700"/>
            <a:ext cx="20867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引入 Echarts 交互图表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714875" y="2571750"/>
            <a:ext cx="2762250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852797" y="2704624"/>
            <a:ext cx="22684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① 多 Y 轴折线图：展现多指标时序联动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52797" y="2942749"/>
            <a:ext cx="21346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② 南丁格尔玫瑰图：极坐标半径/弧度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52797" y="3180874"/>
            <a:ext cx="20980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③ 关系网络图：实体与关系连线拓扑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52988" y="33794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核心要求：图的概念越明确、可解释越好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9541" y="37442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工具互补定位：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09922" y="4009549"/>
            <a:ext cx="21548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词云提供探索初期的“宏观感性直觉”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09922" y="4247674"/>
            <a:ext cx="22468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Echarts 提供深层次的“精密定量度量”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709922" y="4485799"/>
            <a:ext cx="21988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从静态词云迈向动态交互式数据大屏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09922" y="4723924"/>
            <a:ext cx="23308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突破文本可视化维度单一的技术天花板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09625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34D399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8382000" y="1714500"/>
            <a:ext cx="1524000" cy="304800"/>
          </a:xfrm>
          <a:prstGeom prst="roundRect">
            <a:avLst>
              <a:gd name="adj" fmla="val 25000"/>
            </a:avLst>
          </a:prstGeom>
          <a:solidFill>
            <a:srgbClr val="34D399">
              <a:alpha val="20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714613" y="18107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迈向知识图谱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4380" y="217170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从孤立词汇走向语义关联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382000" y="2571750"/>
            <a:ext cx="2762250" cy="1047750"/>
          </a:xfrm>
          <a:prstGeom prst="roundRect">
            <a:avLst>
              <a:gd name="adj" fmla="val 727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519922" y="2704624"/>
            <a:ext cx="19888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第一阶：文本分词（字词原子化）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19922" y="2942749"/>
            <a:ext cx="19888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第二阶：词频统计（重要度量化）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19922" y="3180874"/>
            <a:ext cx="21207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第三阶：词云渲染（视觉感性直觉）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20112" y="3379470"/>
            <a:ext cx="213652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第四阶：实体与关系抽取 ➔ 知识图谱！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76666" y="374427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方法论终极启迪：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77047" y="4009549"/>
            <a:ext cx="29023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词云展示了“有什么词”，但未揭示“词与词的关系”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77047" y="4247674"/>
            <a:ext cx="31223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黄旭华与核潜艇是什么关系？研制与总师如何关联？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377047" y="4485799"/>
            <a:ext cx="25946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唯有通过实体识别、关系挖掘与图谱构建，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77047" y="4723924"/>
            <a:ext cx="23746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才能真正从“感知世界”迈向“理解世界”！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2471699" y="5793581"/>
            <a:ext cx="72486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学术反思：词云是感知世界的优美棱镜，多维图表是度量世界的精密标尺，二者合力方能洞见文本深层知识！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54808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课程总结与反思 · 感知世界、洞见知识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从分词、词频到词云可视化的三讲综合复盘：技术工具掌握与认知图谱跃迁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3333750" cy="38100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38BDF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53948" y="1850708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130" y="23145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技术工具链条沉淀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416" y="264890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“工欲善其事，必先利其器”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2416" y="3077528"/>
            <a:ext cx="23531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熟练运用 Jieba 算法分词与词典切分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416" y="3363278"/>
            <a:ext cx="24447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掌握 WordCloud 核心渲染与字体绑定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416" y="3649028"/>
            <a:ext cx="2369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掌握形状遮罩(Mask)及像素留白法则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416" y="3934778"/>
            <a:ext cx="27253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掌握 scale 放大机制与原图重着色(recolor)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44291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85672" y="4609624"/>
            <a:ext cx="1500411" cy="1508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sz="980" dirty="0">
                <a:solidFill>
                  <a:srgbClr val="CBD5E1"/>
                </a:solidFill>
              </a:rPr>
              <a:t>打通了从纯文本底层读取到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5672" y="4800124"/>
            <a:ext cx="22526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艺术化肖像词云导出的完整工程闭环！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429125" y="1428750"/>
            <a:ext cx="3333750" cy="38100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818CF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71487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818CF8">
              <a:alpha val="1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821073" y="1850708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7255" y="23145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前三讲演进全局总览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9541" y="264890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感知世界三部曲全景演进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9541" y="3077528"/>
            <a:ext cx="27173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第1讲【分词】：消除未登录词与分词歧义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9541" y="3363278"/>
            <a:ext cx="27173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第2讲【词频】：字典统计与消歧危机反思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09541" y="3649028"/>
            <a:ext cx="2858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第3讲【词云】：图形具象化叙事与视觉呈现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09541" y="3934778"/>
            <a:ext cx="29371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综合演进：无序文本 ➔ 结构频次 ➔ 认知跃迁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714875" y="44291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52797" y="4609624"/>
            <a:ext cx="1625445" cy="1508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980" dirty="0">
                <a:solidFill>
                  <a:srgbClr val="CBD5E1"/>
                </a:solidFill>
              </a:rPr>
              <a:t>从局部字符切分走向宏观全局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852797" y="4800124"/>
            <a:ext cx="22526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感知，构建多层次文本特征认知图景！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96250" y="1428750"/>
            <a:ext cx="3333750" cy="38100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1430">
            <a:solidFill>
              <a:srgbClr val="34D399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8382000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4D399">
              <a:alpha val="15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88198" y="1850708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4380" y="23145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学术心得与图谱展望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6666" y="264890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从视觉表象走向深层关系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6666" y="3077528"/>
            <a:ext cx="2167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警惕“词云即终点”的形式主义误区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6666" y="3363278"/>
            <a:ext cx="24973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词云揭示高频概念，图谱揭示实体交互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6666" y="3649028"/>
            <a:ext cx="27769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融合 Echarts 交互探索，实现多源异构互补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6666" y="3934778"/>
            <a:ext cx="29121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下一步展望：命名实体识别(NER)与图谱推理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382000" y="44291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519922" y="4609624"/>
            <a:ext cx="1125308" cy="1508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980" dirty="0">
                <a:solidFill>
                  <a:srgbClr val="CBD5E1"/>
                </a:solidFill>
              </a:rPr>
              <a:t>以分词和词云为基石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19922" y="4800124"/>
            <a:ext cx="22526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跨入知识图谱构建与大模型深度融合！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62000" y="5476875"/>
            <a:ext cx="10668000" cy="619125"/>
          </a:xfrm>
          <a:prstGeom prst="roundRect">
            <a:avLst>
              <a:gd name="adj" fmla="val 21538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948815" y="5695950"/>
            <a:ext cx="82943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“感知世界是起点，洞见知识是归宿；以代码为笔，在文本海洋中描摹知识图谱的壮丽航图！”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text_mining_lecture3_assignment">
  <a:themeElements>
    <a:clrScheme name="text_mining_lecture3_assignmen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xt_mining_lecture3_assignmen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xt_mining_lecture3_assignm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4133</Words>
  <Application>Microsoft Office PowerPoint</Application>
  <PresentationFormat>宽屏</PresentationFormat>
  <Paragraphs>242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Consolas</vt:lpstr>
      <vt:lpstr>text_mining_lecture3_assignment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梓祺 钟</cp:lastModifiedBy>
  <cp:revision>2</cp:revision>
  <dcterms:created xsi:type="dcterms:W3CDTF">2026-10-23T06:38:17Z</dcterms:created>
  <dcterms:modified xsi:type="dcterms:W3CDTF">2026-10-23T06:43:51Z</dcterms:modified>
  <cp:category/>
  <cp:contentStatus/>
  <dc:language>zh-CN</dc:language>
</cp:coreProperties>
</file>