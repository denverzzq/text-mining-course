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ext_mining_lecture4_assignmen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ltLang="zh-CN" smtClean="0"/>
              <a:t>10/30/2026</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ext_mining_lecture4_assignmen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zh-CN" sz="1200">
                <a:solidFill>
                  <a:schemeClr val="tx1">
                    <a:tint val="75000"/>
                  </a:schemeClr>
                </a:solidFill>
              </a:defRPr>
            </a:lvl1pPr>
          </a:lstStyle>
          <a:p>
            <a:fld id="{5BCAD085-E8A6-8845-BD4E-CB4CCA059FC4}" type="datetimeFigureOut">
              <a:rPr lang="en-US" altLang="zh-CN" smtClean="0"/>
              <a:t>10/30/2026</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zh-CN"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zh-CN"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zh-CN"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zh-CN"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zh-CN"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zh-CN"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zh-CN"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zh-CN"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zh-CN"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zh-CN"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zh-CN"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zh-CN" sz="2000" kern="1200">
          <a:solidFill>
            <a:schemeClr val="tx1"/>
          </a:solidFill>
          <a:latin typeface="+mn-lt"/>
          <a:ea typeface="+mn-ea"/>
          <a:cs typeface="+mn-cs"/>
        </a:defRPr>
      </a:lvl9pPr>
    </p:bodyStyle>
    <p:other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2"/>
          <p:cNvSpPr/>
          <p:nvPr/>
        </p:nvSpPr>
        <p:spPr>
          <a:xfrm>
            <a:off x="762000" y="571500"/>
            <a:ext cx="10668000" cy="5715000"/>
          </a:xfrm>
          <a:prstGeom prst="roundRect">
            <a:avLst>
              <a:gd name="adj" fmla="val 4000"/>
            </a:avLst>
          </a:prstGeom>
          <a:solidFill>
            <a:srgbClr val="1C2541"/>
          </a:solidFill>
          <a:ln w="14288">
            <a:solidFill>
              <a:srgbClr val="3A506B"/>
            </a:solidFill>
          </a:ln>
        </p:spPr>
      </p:sp>
      <p:sp>
        <p:nvSpPr>
          <p:cNvPr id="3" name="Rectangle 3"/>
          <p:cNvSpPr/>
          <p:nvPr/>
        </p:nvSpPr>
        <p:spPr>
          <a:xfrm>
            <a:off x="1333500" y="1143000"/>
            <a:ext cx="2952750" cy="361950"/>
          </a:xfrm>
          <a:prstGeom prst="roundRect">
            <a:avLst>
              <a:gd name="adj" fmla="val 50000"/>
            </a:avLst>
          </a:prstGeom>
          <a:solidFill>
            <a:srgbClr val="6366F1">
              <a:alpha val="20000"/>
            </a:srgbClr>
          </a:solidFill>
          <a:ln w="14288">
            <a:solidFill>
              <a:srgbClr val="818CF8"/>
            </a:solidFill>
          </a:ln>
        </p:spPr>
      </p:sp>
      <p:sp>
        <p:nvSpPr>
          <p:cNvPr id="4" name="Ellipse 4"/>
          <p:cNvSpPr/>
          <p:nvPr/>
        </p:nvSpPr>
        <p:spPr>
          <a:xfrm>
            <a:off x="1485900" y="1266825"/>
            <a:ext cx="114300" cy="114300"/>
          </a:xfrm>
          <a:prstGeom prst="ellipse">
            <a:avLst/>
          </a:prstGeom>
          <a:solidFill>
            <a:srgbClr val="38BDF8"/>
          </a:solidFill>
          <a:ln>
            <a:noFill/>
          </a:ln>
        </p:spPr>
      </p:sp>
      <p:sp>
        <p:nvSpPr>
          <p:cNvPr id="5" name="TextBox 5"/>
          <p:cNvSpPr txBox="1"/>
          <p:nvPr/>
        </p:nvSpPr>
        <p:spPr>
          <a:xfrm>
            <a:off x="1708785" y="1241425"/>
            <a:ext cx="2189336" cy="220028"/>
          </a:xfrm>
          <a:prstGeom prst="rect">
            <a:avLst/>
          </a:prstGeom>
          <a:noFill/>
          <a:ln>
            <a:noFill/>
          </a:ln>
        </p:spPr>
        <p:txBody>
          <a:bodyPr wrap="none" lIns="0" tIns="0" rIns="0" bIns="0" anchor="t" anchorCtr="0">
            <a:spAutoFit/>
          </a:bodyPr>
          <a:lstStyle/>
          <a:p>
            <a:pPr algn="l"/>
            <a:r>
              <a:rPr lang="zh-CN" sz="1120" b="1" dirty="0">
                <a:solidFill>
                  <a:srgbClr val="38BDF8"/>
                </a:solidFill>
                <a:latin typeface="+mn-lt"/>
                <a:ea typeface="+mn-ea"/>
                <a:cs typeface="+mn-cs"/>
              </a:rPr>
              <a:t>文本数据采集与知识图谱 · 第4讲</a:t>
            </a:r>
          </a:p>
        </p:txBody>
      </p:sp>
      <p:sp>
        <p:nvSpPr>
          <p:cNvPr id="6" name="TextBox 6"/>
          <p:cNvSpPr txBox="1"/>
          <p:nvPr/>
        </p:nvSpPr>
        <p:spPr>
          <a:xfrm>
            <a:off x="1314450" y="1781175"/>
            <a:ext cx="9124950" cy="733425"/>
          </a:xfrm>
          <a:prstGeom prst="rect">
            <a:avLst/>
          </a:prstGeom>
          <a:noFill/>
          <a:ln>
            <a:noFill/>
          </a:ln>
        </p:spPr>
        <p:txBody>
          <a:bodyPr wrap="none" lIns="0" tIns="0" rIns="0" bIns="0" anchor="t" anchorCtr="0">
            <a:spAutoFit/>
          </a:bodyPr>
          <a:lstStyle/>
          <a:p>
            <a:pPr algn="l"/>
            <a:r>
              <a:rPr lang="zh-CN" sz="3750" b="1" dirty="0">
                <a:solidFill>
                  <a:srgbClr val="F8FAFC"/>
                </a:solidFill>
                <a:latin typeface="+mn-lt"/>
                <a:ea typeface="+mn-ea"/>
                <a:cs typeface="+mn-cs"/>
              </a:rPr>
              <a:t>感知世界：文本情感分析与语义挖掘实践</a:t>
            </a:r>
          </a:p>
        </p:txBody>
      </p:sp>
      <p:sp>
        <p:nvSpPr>
          <p:cNvPr id="7" name="TextBox 7"/>
          <p:cNvSpPr txBox="1"/>
          <p:nvPr/>
        </p:nvSpPr>
        <p:spPr>
          <a:xfrm>
            <a:off x="1324737" y="2593975"/>
            <a:ext cx="7658557" cy="337376"/>
          </a:xfrm>
          <a:prstGeom prst="rect">
            <a:avLst/>
          </a:prstGeom>
          <a:noFill/>
          <a:ln>
            <a:noFill/>
          </a:ln>
        </p:spPr>
        <p:txBody>
          <a:bodyPr wrap="none" lIns="0" tIns="0" rIns="0" bIns="0" anchor="t" anchorCtr="0">
            <a:spAutoFit/>
          </a:bodyPr>
          <a:lstStyle/>
          <a:p>
            <a:pPr algn="l"/>
            <a:r>
              <a:rPr lang="zh-CN" sz="1720" dirty="0">
                <a:solidFill>
                  <a:srgbClr val="94A3B8"/>
                </a:solidFill>
                <a:latin typeface="+mn-lt"/>
                <a:ea typeface="+mn-ea"/>
                <a:cs typeface="+mn-cs"/>
              </a:rPr>
              <a:t>从规则概率打分、时间序列异常监测到大模型细粒度情感抽取的全链路探索</a:t>
            </a:r>
          </a:p>
        </p:txBody>
      </p:sp>
      <p:sp>
        <p:nvSpPr>
          <p:cNvPr id="8" name="Line 8"/>
          <p:cNvSpPr/>
          <p:nvPr/>
        </p:nvSpPr>
        <p:spPr>
          <a:xfrm>
            <a:off x="1333500" y="3238500"/>
            <a:ext cx="9525000" cy="9525"/>
          </a:xfrm>
          <a:custGeom>
            <a:avLst/>
            <a:gdLst/>
            <a:ahLst/>
            <a:cxnLst/>
            <a:rect l="l" t="t" r="r" b="b"/>
            <a:pathLst>
              <a:path w="9525000" h="9525">
                <a:moveTo>
                  <a:pt x="0" y="0"/>
                </a:moveTo>
                <a:lnTo>
                  <a:pt x="9525000" y="0"/>
                </a:lnTo>
              </a:path>
            </a:pathLst>
          </a:custGeom>
          <a:noFill/>
          <a:ln w="14288">
            <a:solidFill>
              <a:srgbClr val="3A506B"/>
            </a:solidFill>
          </a:ln>
        </p:spPr>
      </p:sp>
      <p:sp>
        <p:nvSpPr>
          <p:cNvPr id="9" name="Rectangle 9"/>
          <p:cNvSpPr/>
          <p:nvPr/>
        </p:nvSpPr>
        <p:spPr>
          <a:xfrm>
            <a:off x="1333500" y="3524250"/>
            <a:ext cx="2190750" cy="1476375"/>
          </a:xfrm>
          <a:prstGeom prst="roundRect">
            <a:avLst>
              <a:gd name="adj" fmla="val 9032"/>
            </a:avLst>
          </a:prstGeom>
          <a:solidFill>
            <a:srgbClr val="0B132B">
              <a:alpha val="60000"/>
            </a:srgbClr>
          </a:solidFill>
          <a:ln w="11430">
            <a:solidFill>
              <a:srgbClr val="334155"/>
            </a:solidFill>
          </a:ln>
        </p:spPr>
      </p:sp>
      <p:sp>
        <p:nvSpPr>
          <p:cNvPr id="10" name="Rectangle 10"/>
          <p:cNvSpPr/>
          <p:nvPr/>
        </p:nvSpPr>
        <p:spPr>
          <a:xfrm>
            <a:off x="1524000" y="3714750"/>
            <a:ext cx="304800" cy="304800"/>
          </a:xfrm>
          <a:prstGeom prst="roundRect">
            <a:avLst>
              <a:gd name="adj" fmla="val 25000"/>
            </a:avLst>
          </a:prstGeom>
          <a:solidFill>
            <a:srgbClr val="38BDF8">
              <a:alpha val="20000"/>
            </a:srgbClr>
          </a:solidFill>
          <a:ln>
            <a:noFill/>
          </a:ln>
        </p:spPr>
      </p:sp>
      <p:sp>
        <p:nvSpPr>
          <p:cNvPr id="11" name="TextBox 11"/>
          <p:cNvSpPr txBox="1"/>
          <p:nvPr/>
        </p:nvSpPr>
        <p:spPr>
          <a:xfrm>
            <a:off x="1580453" y="3771900"/>
            <a:ext cx="191894" cy="234696"/>
          </a:xfrm>
          <a:prstGeom prst="rect">
            <a:avLst/>
          </a:prstGeom>
          <a:noFill/>
          <a:ln>
            <a:noFill/>
          </a:ln>
        </p:spPr>
        <p:txBody>
          <a:bodyPr wrap="none" lIns="0" tIns="0" rIns="0" bIns="0" anchor="t" anchorCtr="0">
            <a:spAutoFit/>
          </a:bodyPr>
          <a:lstStyle/>
          <a:p>
            <a:pPr algn="ctr"/>
            <a:r>
              <a:rPr lang="zh-CN" sz="1200" b="1" dirty="0">
                <a:solidFill>
                  <a:srgbClr val="38BDF8"/>
                </a:solidFill>
                <a:latin typeface="+mn-lt"/>
                <a:ea typeface="+mn-ea"/>
                <a:cs typeface="+mn-cs"/>
              </a:rPr>
              <a:t>01</a:t>
            </a:r>
          </a:p>
        </p:txBody>
      </p:sp>
      <p:sp>
        <p:nvSpPr>
          <p:cNvPr id="12" name="TextBox 12"/>
          <p:cNvSpPr txBox="1"/>
          <p:nvPr/>
        </p:nvSpPr>
        <p:spPr>
          <a:xfrm>
            <a:off x="1517523" y="4133850"/>
            <a:ext cx="1046836" cy="250317"/>
          </a:xfrm>
          <a:prstGeom prst="rect">
            <a:avLst/>
          </a:prstGeom>
          <a:noFill/>
          <a:ln>
            <a:noFill/>
          </a:ln>
        </p:spPr>
        <p:txBody>
          <a:bodyPr wrap="none" lIns="0" tIns="0" rIns="0" bIns="0" anchor="t" anchorCtr="0">
            <a:spAutoFit/>
          </a:bodyPr>
          <a:lstStyle/>
          <a:p>
            <a:pPr algn="l"/>
            <a:r>
              <a:rPr lang="zh-CN" sz="1280" b="1" dirty="0">
                <a:solidFill>
                  <a:srgbClr val="F8FAFC"/>
                </a:solidFill>
                <a:latin typeface="+mn-lt"/>
                <a:ea typeface="+mn-ea"/>
                <a:cs typeface="+mn-cs"/>
              </a:rPr>
              <a:t>基础情感机制</a:t>
            </a:r>
          </a:p>
        </p:txBody>
      </p:sp>
      <p:sp>
        <p:nvSpPr>
          <p:cNvPr id="13" name="TextBox 13"/>
          <p:cNvSpPr txBox="1"/>
          <p:nvPr/>
        </p:nvSpPr>
        <p:spPr>
          <a:xfrm>
            <a:off x="1519047" y="4432300"/>
            <a:ext cx="1378966"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94A3B8"/>
                </a:solidFill>
                <a:latin typeface="+mn-lt"/>
                <a:ea typeface="+mn-ea"/>
                <a:cs typeface="+mn-cs"/>
              </a:rPr>
              <a:t>TextBlob与SnowNLP</a:t>
            </a:r>
            <a:br>
              <a:rPr lang="zh-CN" sz="980" dirty="0">
                <a:solidFill>
                  <a:srgbClr val="94A3B8"/>
                </a:solidFill>
                <a:latin typeface="+mn-lt"/>
                <a:ea typeface="+mn-ea"/>
                <a:cs typeface="+mn-cs"/>
              </a:rPr>
            </a:br>
            <a:r>
              <a:rPr lang="zh-CN" sz="980" dirty="0">
                <a:solidFill>
                  <a:srgbClr val="94A3B8"/>
                </a:solidFill>
                <a:latin typeface="+mn-lt"/>
                <a:ea typeface="+mn-ea"/>
                <a:cs typeface="+mn-cs"/>
              </a:rPr>
              <a:t>双语极性概率与电商测试</a:t>
            </a:r>
          </a:p>
        </p:txBody>
      </p:sp>
      <p:sp>
        <p:nvSpPr>
          <p:cNvPr id="14" name="Rectangle 14"/>
          <p:cNvSpPr/>
          <p:nvPr/>
        </p:nvSpPr>
        <p:spPr>
          <a:xfrm>
            <a:off x="3714750" y="3524250"/>
            <a:ext cx="2190750" cy="1476375"/>
          </a:xfrm>
          <a:prstGeom prst="roundRect">
            <a:avLst>
              <a:gd name="adj" fmla="val 9032"/>
            </a:avLst>
          </a:prstGeom>
          <a:solidFill>
            <a:srgbClr val="0B132B">
              <a:alpha val="60000"/>
            </a:srgbClr>
          </a:solidFill>
          <a:ln w="11430">
            <a:solidFill>
              <a:srgbClr val="334155"/>
            </a:solidFill>
          </a:ln>
        </p:spPr>
      </p:sp>
      <p:sp>
        <p:nvSpPr>
          <p:cNvPr id="15" name="Rectangle 15"/>
          <p:cNvSpPr/>
          <p:nvPr/>
        </p:nvSpPr>
        <p:spPr>
          <a:xfrm>
            <a:off x="3905250" y="3714750"/>
            <a:ext cx="304800" cy="304800"/>
          </a:xfrm>
          <a:prstGeom prst="roundRect">
            <a:avLst>
              <a:gd name="adj" fmla="val 25000"/>
            </a:avLst>
          </a:prstGeom>
          <a:solidFill>
            <a:srgbClr val="818CF8">
              <a:alpha val="20000"/>
            </a:srgbClr>
          </a:solidFill>
          <a:ln>
            <a:noFill/>
          </a:ln>
        </p:spPr>
      </p:sp>
      <p:sp>
        <p:nvSpPr>
          <p:cNvPr id="16" name="TextBox 16"/>
          <p:cNvSpPr txBox="1"/>
          <p:nvPr/>
        </p:nvSpPr>
        <p:spPr>
          <a:xfrm>
            <a:off x="3961703" y="3771900"/>
            <a:ext cx="191894" cy="234696"/>
          </a:xfrm>
          <a:prstGeom prst="rect">
            <a:avLst/>
          </a:prstGeom>
          <a:noFill/>
          <a:ln>
            <a:noFill/>
          </a:ln>
        </p:spPr>
        <p:txBody>
          <a:bodyPr wrap="none" lIns="0" tIns="0" rIns="0" bIns="0" anchor="t" anchorCtr="0">
            <a:spAutoFit/>
          </a:bodyPr>
          <a:lstStyle/>
          <a:p>
            <a:pPr algn="ctr"/>
            <a:r>
              <a:rPr lang="zh-CN" sz="1200" b="1" dirty="0">
                <a:solidFill>
                  <a:srgbClr val="818CF8"/>
                </a:solidFill>
                <a:latin typeface="+mn-lt"/>
                <a:ea typeface="+mn-ea"/>
                <a:cs typeface="+mn-cs"/>
              </a:rPr>
              <a:t>02</a:t>
            </a:r>
          </a:p>
        </p:txBody>
      </p:sp>
      <p:sp>
        <p:nvSpPr>
          <p:cNvPr id="17" name="TextBox 17"/>
          <p:cNvSpPr txBox="1"/>
          <p:nvPr/>
        </p:nvSpPr>
        <p:spPr>
          <a:xfrm>
            <a:off x="3898773" y="4133850"/>
            <a:ext cx="1391463" cy="250317"/>
          </a:xfrm>
          <a:prstGeom prst="rect">
            <a:avLst/>
          </a:prstGeom>
          <a:noFill/>
          <a:ln>
            <a:noFill/>
          </a:ln>
        </p:spPr>
        <p:txBody>
          <a:bodyPr wrap="none" lIns="0" tIns="0" rIns="0" bIns="0" anchor="t" anchorCtr="0">
            <a:spAutoFit/>
          </a:bodyPr>
          <a:lstStyle/>
          <a:p>
            <a:pPr algn="l"/>
            <a:r>
              <a:rPr lang="zh-CN" sz="1280" b="1" dirty="0">
                <a:solidFill>
                  <a:srgbClr val="F8FAFC"/>
                </a:solidFill>
                <a:latin typeface="+mn-lt"/>
                <a:ea typeface="+mn-ea"/>
                <a:cs typeface="+mn-cs"/>
              </a:rPr>
              <a:t>时序分析与异常点</a:t>
            </a:r>
          </a:p>
        </p:txBody>
      </p:sp>
      <p:sp>
        <p:nvSpPr>
          <p:cNvPr id="18" name="TextBox 18"/>
          <p:cNvSpPr txBox="1"/>
          <p:nvPr/>
        </p:nvSpPr>
        <p:spPr>
          <a:xfrm>
            <a:off x="3900297" y="4432300"/>
            <a:ext cx="1378966"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94A3B8"/>
                </a:solidFill>
                <a:latin typeface="+mn-lt"/>
                <a:ea typeface="+mn-ea"/>
                <a:cs typeface="+mn-cs"/>
              </a:rPr>
              <a:t>餐饮评论时间序列</a:t>
            </a:r>
            <a:br>
              <a:rPr lang="zh-CN" sz="980" dirty="0">
                <a:solidFill>
                  <a:srgbClr val="94A3B8"/>
                </a:solidFill>
                <a:latin typeface="+mn-lt"/>
                <a:ea typeface="+mn-ea"/>
                <a:cs typeface="+mn-cs"/>
              </a:rPr>
            </a:br>
            <a:r>
              <a:rPr lang="zh-CN" sz="980" dirty="0">
                <a:solidFill>
                  <a:srgbClr val="94A3B8"/>
                </a:solidFill>
                <a:latin typeface="+mn-lt"/>
                <a:ea typeface="+mn-ea"/>
                <a:cs typeface="+mn-cs"/>
              </a:rPr>
              <a:t>均值偏态与极端差评定位</a:t>
            </a:r>
          </a:p>
        </p:txBody>
      </p:sp>
      <p:sp>
        <p:nvSpPr>
          <p:cNvPr id="19" name="Rectangle 19"/>
          <p:cNvSpPr/>
          <p:nvPr/>
        </p:nvSpPr>
        <p:spPr>
          <a:xfrm>
            <a:off x="6096000" y="3524250"/>
            <a:ext cx="2190750" cy="1476375"/>
          </a:xfrm>
          <a:prstGeom prst="roundRect">
            <a:avLst>
              <a:gd name="adj" fmla="val 9032"/>
            </a:avLst>
          </a:prstGeom>
          <a:solidFill>
            <a:srgbClr val="0B132B">
              <a:alpha val="60000"/>
            </a:srgbClr>
          </a:solidFill>
          <a:ln w="11430">
            <a:solidFill>
              <a:srgbClr val="334155"/>
            </a:solidFill>
          </a:ln>
        </p:spPr>
      </p:sp>
      <p:sp>
        <p:nvSpPr>
          <p:cNvPr id="20" name="Rectangle 20"/>
          <p:cNvSpPr/>
          <p:nvPr/>
        </p:nvSpPr>
        <p:spPr>
          <a:xfrm>
            <a:off x="6286500" y="3714750"/>
            <a:ext cx="304800" cy="304800"/>
          </a:xfrm>
          <a:prstGeom prst="roundRect">
            <a:avLst>
              <a:gd name="adj" fmla="val 25000"/>
            </a:avLst>
          </a:prstGeom>
          <a:solidFill>
            <a:srgbClr val="34D399">
              <a:alpha val="20000"/>
            </a:srgbClr>
          </a:solidFill>
          <a:ln>
            <a:noFill/>
          </a:ln>
        </p:spPr>
      </p:sp>
      <p:sp>
        <p:nvSpPr>
          <p:cNvPr id="21" name="TextBox 21"/>
          <p:cNvSpPr txBox="1"/>
          <p:nvPr/>
        </p:nvSpPr>
        <p:spPr>
          <a:xfrm>
            <a:off x="6342953" y="3771900"/>
            <a:ext cx="191894" cy="234696"/>
          </a:xfrm>
          <a:prstGeom prst="rect">
            <a:avLst/>
          </a:prstGeom>
          <a:noFill/>
          <a:ln>
            <a:noFill/>
          </a:ln>
        </p:spPr>
        <p:txBody>
          <a:bodyPr wrap="none" lIns="0" tIns="0" rIns="0" bIns="0" anchor="t" anchorCtr="0">
            <a:spAutoFit/>
          </a:bodyPr>
          <a:lstStyle/>
          <a:p>
            <a:pPr algn="ctr"/>
            <a:r>
              <a:rPr lang="zh-CN" sz="1200" b="1" dirty="0">
                <a:solidFill>
                  <a:srgbClr val="34D399"/>
                </a:solidFill>
                <a:latin typeface="+mn-lt"/>
                <a:ea typeface="+mn-ea"/>
                <a:cs typeface="+mn-cs"/>
              </a:rPr>
              <a:t>03</a:t>
            </a:r>
          </a:p>
        </p:txBody>
      </p:sp>
      <p:sp>
        <p:nvSpPr>
          <p:cNvPr id="22" name="TextBox 22"/>
          <p:cNvSpPr txBox="1"/>
          <p:nvPr/>
        </p:nvSpPr>
        <p:spPr>
          <a:xfrm>
            <a:off x="6280023" y="4133850"/>
            <a:ext cx="1391463" cy="250317"/>
          </a:xfrm>
          <a:prstGeom prst="rect">
            <a:avLst/>
          </a:prstGeom>
          <a:noFill/>
          <a:ln>
            <a:noFill/>
          </a:ln>
        </p:spPr>
        <p:txBody>
          <a:bodyPr wrap="none" lIns="0" tIns="0" rIns="0" bIns="0" anchor="t" anchorCtr="0">
            <a:spAutoFit/>
          </a:bodyPr>
          <a:lstStyle/>
          <a:p>
            <a:pPr algn="l"/>
            <a:r>
              <a:rPr lang="zh-CN" sz="1280" b="1" dirty="0">
                <a:solidFill>
                  <a:srgbClr val="F8FAFC"/>
                </a:solidFill>
                <a:latin typeface="+mn-lt"/>
                <a:ea typeface="+mn-ea"/>
                <a:cs typeface="+mn-cs"/>
              </a:rPr>
              <a:t>大模型细粒度抽取</a:t>
            </a:r>
          </a:p>
        </p:txBody>
      </p:sp>
      <p:sp>
        <p:nvSpPr>
          <p:cNvPr id="23" name="TextBox 23"/>
          <p:cNvSpPr txBox="1"/>
          <p:nvPr/>
        </p:nvSpPr>
        <p:spPr>
          <a:xfrm>
            <a:off x="6281547" y="4432300"/>
            <a:ext cx="1199196"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94A3B8"/>
                </a:solidFill>
                <a:latin typeface="+mn-lt"/>
                <a:ea typeface="+mn-ea"/>
                <a:cs typeface="+mn-cs"/>
              </a:rPr>
              <a:t>DeepSeek心身抽取</a:t>
            </a:r>
            <a:br>
              <a:rPr lang="zh-CN" sz="980" dirty="0">
                <a:solidFill>
                  <a:srgbClr val="94A3B8"/>
                </a:solidFill>
                <a:latin typeface="+mn-lt"/>
                <a:ea typeface="+mn-ea"/>
                <a:cs typeface="+mn-cs"/>
              </a:rPr>
            </a:br>
            <a:r>
              <a:rPr lang="zh-CN" sz="980" dirty="0">
                <a:solidFill>
                  <a:srgbClr val="94A3B8"/>
                </a:solidFill>
                <a:latin typeface="+mn-lt"/>
                <a:ea typeface="+mn-ea"/>
                <a:cs typeface="+mn-cs"/>
              </a:rPr>
              <a:t>部位/症状/情感三元组</a:t>
            </a:r>
          </a:p>
        </p:txBody>
      </p:sp>
      <p:sp>
        <p:nvSpPr>
          <p:cNvPr id="24" name="Rectangle 24"/>
          <p:cNvSpPr/>
          <p:nvPr/>
        </p:nvSpPr>
        <p:spPr>
          <a:xfrm>
            <a:off x="8477250" y="3524250"/>
            <a:ext cx="2190750" cy="1476375"/>
          </a:xfrm>
          <a:prstGeom prst="roundRect">
            <a:avLst>
              <a:gd name="adj" fmla="val 9032"/>
            </a:avLst>
          </a:prstGeom>
          <a:solidFill>
            <a:srgbClr val="0B132B">
              <a:alpha val="60000"/>
            </a:srgbClr>
          </a:solidFill>
          <a:ln w="11430">
            <a:solidFill>
              <a:srgbClr val="334155"/>
            </a:solidFill>
          </a:ln>
        </p:spPr>
      </p:sp>
      <p:sp>
        <p:nvSpPr>
          <p:cNvPr id="25" name="Rectangle 25"/>
          <p:cNvSpPr/>
          <p:nvPr/>
        </p:nvSpPr>
        <p:spPr>
          <a:xfrm>
            <a:off x="8667750" y="3714750"/>
            <a:ext cx="304800" cy="304800"/>
          </a:xfrm>
          <a:prstGeom prst="roundRect">
            <a:avLst>
              <a:gd name="adj" fmla="val 25000"/>
            </a:avLst>
          </a:prstGeom>
          <a:solidFill>
            <a:srgbClr val="F59E0B">
              <a:alpha val="20000"/>
            </a:srgbClr>
          </a:solidFill>
          <a:ln>
            <a:noFill/>
          </a:ln>
        </p:spPr>
      </p:sp>
      <p:sp>
        <p:nvSpPr>
          <p:cNvPr id="26" name="TextBox 26"/>
          <p:cNvSpPr txBox="1"/>
          <p:nvPr/>
        </p:nvSpPr>
        <p:spPr>
          <a:xfrm>
            <a:off x="8724203" y="3771900"/>
            <a:ext cx="191894" cy="234696"/>
          </a:xfrm>
          <a:prstGeom prst="rect">
            <a:avLst/>
          </a:prstGeom>
          <a:noFill/>
          <a:ln>
            <a:noFill/>
          </a:ln>
        </p:spPr>
        <p:txBody>
          <a:bodyPr wrap="none" lIns="0" tIns="0" rIns="0" bIns="0" anchor="t" anchorCtr="0">
            <a:spAutoFit/>
          </a:bodyPr>
          <a:lstStyle/>
          <a:p>
            <a:pPr algn="ctr"/>
            <a:r>
              <a:rPr lang="zh-CN" sz="1200" b="1" dirty="0">
                <a:solidFill>
                  <a:srgbClr val="F59E0B"/>
                </a:solidFill>
                <a:latin typeface="+mn-lt"/>
                <a:ea typeface="+mn-ea"/>
                <a:cs typeface="+mn-cs"/>
              </a:rPr>
              <a:t>04</a:t>
            </a:r>
          </a:p>
        </p:txBody>
      </p:sp>
      <p:sp>
        <p:nvSpPr>
          <p:cNvPr id="27" name="TextBox 27"/>
          <p:cNvSpPr txBox="1"/>
          <p:nvPr/>
        </p:nvSpPr>
        <p:spPr>
          <a:xfrm>
            <a:off x="8661273" y="4133850"/>
            <a:ext cx="1391463" cy="250317"/>
          </a:xfrm>
          <a:prstGeom prst="rect">
            <a:avLst/>
          </a:prstGeom>
          <a:noFill/>
          <a:ln>
            <a:noFill/>
          </a:ln>
        </p:spPr>
        <p:txBody>
          <a:bodyPr wrap="none" lIns="0" tIns="0" rIns="0" bIns="0" anchor="t" anchorCtr="0">
            <a:spAutoFit/>
          </a:bodyPr>
          <a:lstStyle/>
          <a:p>
            <a:pPr algn="l"/>
            <a:r>
              <a:rPr lang="zh-CN" sz="1280" b="1" dirty="0">
                <a:solidFill>
                  <a:srgbClr val="F8FAFC"/>
                </a:solidFill>
                <a:latin typeface="+mn-lt"/>
                <a:ea typeface="+mn-ea"/>
                <a:cs typeface="+mn-cs"/>
              </a:rPr>
              <a:t>文学情感轨迹计算</a:t>
            </a:r>
          </a:p>
        </p:txBody>
      </p:sp>
      <p:sp>
        <p:nvSpPr>
          <p:cNvPr id="28" name="TextBox 28"/>
          <p:cNvSpPr txBox="1"/>
          <p:nvPr/>
        </p:nvSpPr>
        <p:spPr>
          <a:xfrm>
            <a:off x="8662797" y="4432300"/>
            <a:ext cx="1392955"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94A3B8"/>
                </a:solidFill>
                <a:latin typeface="+mn-lt"/>
                <a:ea typeface="+mn-ea"/>
                <a:cs typeface="+mn-cs"/>
              </a:rPr>
              <a:t>朱自清《背影》实测</a:t>
            </a:r>
            <a:br>
              <a:rPr lang="zh-CN" sz="980" dirty="0">
                <a:solidFill>
                  <a:srgbClr val="94A3B8"/>
                </a:solidFill>
                <a:latin typeface="+mn-lt"/>
                <a:ea typeface="+mn-ea"/>
                <a:cs typeface="+mn-cs"/>
              </a:rPr>
            </a:br>
            <a:r>
              <a:rPr lang="zh-CN" sz="980" dirty="0">
                <a:solidFill>
                  <a:srgbClr val="94A3B8"/>
                </a:solidFill>
                <a:latin typeface="+mn-lt"/>
                <a:ea typeface="+mn-ea"/>
                <a:cs typeface="+mn-cs"/>
              </a:rPr>
              <a:t>58句情感词波形与动力学</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3578352"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实践内容大纲与演进逻辑</a:t>
            </a:r>
          </a:p>
        </p:txBody>
      </p:sp>
      <p:sp>
        <p:nvSpPr>
          <p:cNvPr id="3" name="TextBox 3"/>
          <p:cNvSpPr txBox="1"/>
          <p:nvPr/>
        </p:nvSpPr>
        <p:spPr>
          <a:xfrm>
            <a:off x="755904" y="847725"/>
            <a:ext cx="5827776"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从浅层标量极性打分到时序商业洞察，再到大模型细粒度身心抽取与篇章情绪轨迹</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476375"/>
            <a:ext cx="2476500" cy="3619500"/>
          </a:xfrm>
          <a:prstGeom prst="roundRect">
            <a:avLst>
              <a:gd name="adj" fmla="val 6154"/>
            </a:avLst>
          </a:prstGeom>
          <a:solidFill>
            <a:srgbClr val="1C2541"/>
          </a:solidFill>
          <a:ln w="14288">
            <a:solidFill>
              <a:srgbClr val="334155"/>
            </a:solidFill>
          </a:ln>
        </p:spPr>
      </p:sp>
      <p:sp>
        <p:nvSpPr>
          <p:cNvPr id="6" name="Rectangle 6"/>
          <p:cNvSpPr/>
          <p:nvPr/>
        </p:nvSpPr>
        <p:spPr>
          <a:xfrm>
            <a:off x="1000125" y="1714500"/>
            <a:ext cx="476250" cy="476250"/>
          </a:xfrm>
          <a:prstGeom prst="roundRect">
            <a:avLst>
              <a:gd name="adj" fmla="val 24000"/>
            </a:avLst>
          </a:prstGeom>
          <a:solidFill>
            <a:srgbClr val="38BDF8">
              <a:alpha val="15000"/>
            </a:srgbClr>
          </a:solidFill>
          <a:ln>
            <a:noFill/>
          </a:ln>
        </p:spPr>
      </p:sp>
      <p:sp>
        <p:nvSpPr>
          <p:cNvPr id="7" name="TextBox 7"/>
          <p:cNvSpPr txBox="1"/>
          <p:nvPr/>
        </p:nvSpPr>
        <p:spPr>
          <a:xfrm>
            <a:off x="1118317" y="1838325"/>
            <a:ext cx="239867" cy="293370"/>
          </a:xfrm>
          <a:prstGeom prst="rect">
            <a:avLst/>
          </a:prstGeom>
          <a:noFill/>
          <a:ln>
            <a:noFill/>
          </a:ln>
        </p:spPr>
        <p:txBody>
          <a:bodyPr wrap="none" lIns="0" tIns="0" rIns="0" bIns="0" anchor="t" anchorCtr="0">
            <a:spAutoFit/>
          </a:bodyPr>
          <a:lstStyle/>
          <a:p>
            <a:pPr algn="ctr"/>
            <a:r>
              <a:rPr lang="zh-CN" sz="1500" b="1" dirty="0">
                <a:solidFill>
                  <a:srgbClr val="38BDF8"/>
                </a:solidFill>
                <a:latin typeface="+mn-lt"/>
                <a:ea typeface="+mn-ea"/>
                <a:cs typeface="+mn-cs"/>
              </a:rPr>
              <a:t>01</a:t>
            </a:r>
          </a:p>
        </p:txBody>
      </p:sp>
      <p:sp>
        <p:nvSpPr>
          <p:cNvPr id="8" name="TextBox 8"/>
          <p:cNvSpPr txBox="1"/>
          <p:nvPr/>
        </p:nvSpPr>
        <p:spPr>
          <a:xfrm>
            <a:off x="992505" y="2346325"/>
            <a:ext cx="122682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基础情感机制</a:t>
            </a:r>
          </a:p>
        </p:txBody>
      </p:sp>
      <p:sp>
        <p:nvSpPr>
          <p:cNvPr id="9" name="TextBox 9"/>
          <p:cNvSpPr txBox="1"/>
          <p:nvPr/>
        </p:nvSpPr>
        <p:spPr>
          <a:xfrm>
            <a:off x="994791" y="2682875"/>
            <a:ext cx="1282827" cy="205359"/>
          </a:xfrm>
          <a:prstGeom prst="rect">
            <a:avLst/>
          </a:prstGeom>
          <a:noFill/>
          <a:ln>
            <a:noFill/>
          </a:ln>
        </p:spPr>
        <p:txBody>
          <a:bodyPr wrap="none" lIns="0" tIns="0" rIns="0" bIns="0" anchor="t" anchorCtr="0">
            <a:spAutoFit/>
          </a:bodyPr>
          <a:lstStyle/>
          <a:p>
            <a:pPr algn="l"/>
            <a:r>
              <a:rPr lang="zh-CN" sz="1050" b="1" dirty="0">
                <a:solidFill>
                  <a:srgbClr val="38BDF8"/>
                </a:solidFill>
                <a:latin typeface="+mn-lt"/>
                <a:ea typeface="+mn-ea"/>
                <a:cs typeface="+mn-cs"/>
              </a:rPr>
              <a:t>算法原理与电商实测</a:t>
            </a:r>
          </a:p>
        </p:txBody>
      </p:sp>
      <p:sp>
        <p:nvSpPr>
          <p:cNvPr id="10" name="Line 10"/>
          <p:cNvSpPr/>
          <p:nvPr/>
        </p:nvSpPr>
        <p:spPr>
          <a:xfrm>
            <a:off x="1000125" y="3000375"/>
            <a:ext cx="2000250" cy="9525"/>
          </a:xfrm>
          <a:custGeom>
            <a:avLst/>
            <a:gdLst/>
            <a:ahLst/>
            <a:cxnLst/>
            <a:rect l="l" t="t" r="r" b="b"/>
            <a:pathLst>
              <a:path w="2000250" h="9525">
                <a:moveTo>
                  <a:pt x="0" y="0"/>
                </a:moveTo>
                <a:lnTo>
                  <a:pt x="2000250" y="0"/>
                </a:lnTo>
              </a:path>
            </a:pathLst>
          </a:custGeom>
          <a:noFill/>
          <a:ln w="9525">
            <a:solidFill>
              <a:srgbClr val="334155"/>
            </a:solidFill>
          </a:ln>
        </p:spPr>
      </p:sp>
      <p:sp>
        <p:nvSpPr>
          <p:cNvPr id="11" name="TextBox 11"/>
          <p:cNvSpPr txBox="1"/>
          <p:nvPr/>
        </p:nvSpPr>
        <p:spPr>
          <a:xfrm>
            <a:off x="994791" y="3159125"/>
            <a:ext cx="154804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TextBlob 极性与主观性</a:t>
            </a:r>
          </a:p>
        </p:txBody>
      </p:sp>
      <p:sp>
        <p:nvSpPr>
          <p:cNvPr id="12" name="TextBox 12"/>
          <p:cNvSpPr txBox="1"/>
          <p:nvPr/>
        </p:nvSpPr>
        <p:spPr>
          <a:xfrm>
            <a:off x="994791" y="3444875"/>
            <a:ext cx="1631961"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SnowNLP 正面概率值域</a:t>
            </a:r>
          </a:p>
        </p:txBody>
      </p:sp>
      <p:sp>
        <p:nvSpPr>
          <p:cNvPr id="13" name="TextBox 13"/>
          <p:cNvSpPr txBox="1"/>
          <p:nvPr/>
        </p:nvSpPr>
        <p:spPr>
          <a:xfrm>
            <a:off x="994791" y="3730625"/>
            <a:ext cx="1507908"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淘宝长短差评对比实测</a:t>
            </a:r>
          </a:p>
        </p:txBody>
      </p:sp>
      <p:sp>
        <p:nvSpPr>
          <p:cNvPr id="14" name="TextBox 14"/>
          <p:cNvSpPr txBox="1"/>
          <p:nvPr/>
        </p:nvSpPr>
        <p:spPr>
          <a:xfrm>
            <a:off x="994791" y="4016375"/>
            <a:ext cx="164925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贝叶斯先验偏差成因剖析</a:t>
            </a:r>
          </a:p>
        </p:txBody>
      </p:sp>
      <p:sp>
        <p:nvSpPr>
          <p:cNvPr id="15" name="TextBox 15"/>
          <p:cNvSpPr txBox="1"/>
          <p:nvPr/>
        </p:nvSpPr>
        <p:spPr>
          <a:xfrm>
            <a:off x="995172" y="4457700"/>
            <a:ext cx="1461110" cy="191643"/>
          </a:xfrm>
          <a:prstGeom prst="rect">
            <a:avLst/>
          </a:prstGeom>
          <a:noFill/>
          <a:ln>
            <a:noFill/>
          </a:ln>
        </p:spPr>
        <p:txBody>
          <a:bodyPr wrap="none" lIns="0" tIns="0" rIns="0" bIns="0" anchor="t" anchorCtr="0">
            <a:spAutoFit/>
          </a:bodyPr>
          <a:lstStyle/>
          <a:p>
            <a:pPr algn="l"/>
            <a:r>
              <a:rPr lang="zh-CN" sz="980" dirty="0">
                <a:solidFill>
                  <a:srgbClr val="64748B"/>
                </a:solidFill>
                <a:latin typeface="+mn-lt"/>
                <a:ea typeface="+mn-ea"/>
                <a:cs typeface="+mn-cs"/>
              </a:rPr>
              <a:t>双语工程基线与机制对照</a:t>
            </a:r>
          </a:p>
        </p:txBody>
      </p:sp>
      <p:sp>
        <p:nvSpPr>
          <p:cNvPr id="16" name="Rectangle 16"/>
          <p:cNvSpPr/>
          <p:nvPr/>
        </p:nvSpPr>
        <p:spPr>
          <a:xfrm>
            <a:off x="3486150" y="1476375"/>
            <a:ext cx="2476500" cy="3619500"/>
          </a:xfrm>
          <a:prstGeom prst="roundRect">
            <a:avLst>
              <a:gd name="adj" fmla="val 6154"/>
            </a:avLst>
          </a:prstGeom>
          <a:solidFill>
            <a:srgbClr val="1C2541"/>
          </a:solidFill>
          <a:ln w="14288">
            <a:solidFill>
              <a:srgbClr val="334155"/>
            </a:solidFill>
          </a:ln>
        </p:spPr>
      </p:sp>
      <p:sp>
        <p:nvSpPr>
          <p:cNvPr id="17" name="Rectangle 17"/>
          <p:cNvSpPr/>
          <p:nvPr/>
        </p:nvSpPr>
        <p:spPr>
          <a:xfrm>
            <a:off x="3724275" y="1714500"/>
            <a:ext cx="476250" cy="476250"/>
          </a:xfrm>
          <a:prstGeom prst="roundRect">
            <a:avLst>
              <a:gd name="adj" fmla="val 24000"/>
            </a:avLst>
          </a:prstGeom>
          <a:solidFill>
            <a:srgbClr val="818CF8">
              <a:alpha val="15000"/>
            </a:srgbClr>
          </a:solidFill>
          <a:ln>
            <a:noFill/>
          </a:ln>
        </p:spPr>
      </p:sp>
      <p:sp>
        <p:nvSpPr>
          <p:cNvPr id="18" name="TextBox 18"/>
          <p:cNvSpPr txBox="1"/>
          <p:nvPr/>
        </p:nvSpPr>
        <p:spPr>
          <a:xfrm>
            <a:off x="3842467" y="1838325"/>
            <a:ext cx="239867" cy="293370"/>
          </a:xfrm>
          <a:prstGeom prst="rect">
            <a:avLst/>
          </a:prstGeom>
          <a:noFill/>
          <a:ln>
            <a:noFill/>
          </a:ln>
        </p:spPr>
        <p:txBody>
          <a:bodyPr wrap="none" lIns="0" tIns="0" rIns="0" bIns="0" anchor="t" anchorCtr="0">
            <a:spAutoFit/>
          </a:bodyPr>
          <a:lstStyle/>
          <a:p>
            <a:pPr algn="ctr"/>
            <a:r>
              <a:rPr lang="zh-CN" sz="1500" b="1" dirty="0">
                <a:solidFill>
                  <a:srgbClr val="818CF8"/>
                </a:solidFill>
                <a:latin typeface="+mn-lt"/>
                <a:ea typeface="+mn-ea"/>
                <a:cs typeface="+mn-cs"/>
              </a:rPr>
              <a:t>02</a:t>
            </a:r>
          </a:p>
        </p:txBody>
      </p:sp>
      <p:sp>
        <p:nvSpPr>
          <p:cNvPr id="19" name="TextBox 19"/>
          <p:cNvSpPr txBox="1"/>
          <p:nvPr/>
        </p:nvSpPr>
        <p:spPr>
          <a:xfrm>
            <a:off x="3716655" y="2346325"/>
            <a:ext cx="163068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时序分析与异常点</a:t>
            </a:r>
          </a:p>
        </p:txBody>
      </p:sp>
      <p:sp>
        <p:nvSpPr>
          <p:cNvPr id="20" name="TextBox 20"/>
          <p:cNvSpPr txBox="1"/>
          <p:nvPr/>
        </p:nvSpPr>
        <p:spPr>
          <a:xfrm>
            <a:off x="3718941" y="2682875"/>
            <a:ext cx="1141476" cy="205359"/>
          </a:xfrm>
          <a:prstGeom prst="rect">
            <a:avLst/>
          </a:prstGeom>
          <a:noFill/>
          <a:ln>
            <a:noFill/>
          </a:ln>
        </p:spPr>
        <p:txBody>
          <a:bodyPr wrap="none" lIns="0" tIns="0" rIns="0" bIns="0" anchor="t" anchorCtr="0">
            <a:spAutoFit/>
          </a:bodyPr>
          <a:lstStyle/>
          <a:p>
            <a:pPr algn="l"/>
            <a:r>
              <a:rPr lang="zh-CN" sz="1050" b="1" dirty="0">
                <a:solidFill>
                  <a:srgbClr val="818CF8"/>
                </a:solidFill>
                <a:latin typeface="+mn-lt"/>
                <a:ea typeface="+mn-ea"/>
                <a:cs typeface="+mn-cs"/>
              </a:rPr>
              <a:t>餐饮经管实务监测</a:t>
            </a:r>
          </a:p>
        </p:txBody>
      </p:sp>
      <p:sp>
        <p:nvSpPr>
          <p:cNvPr id="21" name="Line 21"/>
          <p:cNvSpPr/>
          <p:nvPr/>
        </p:nvSpPr>
        <p:spPr>
          <a:xfrm>
            <a:off x="3724275" y="3000375"/>
            <a:ext cx="2000250" cy="9525"/>
          </a:xfrm>
          <a:custGeom>
            <a:avLst/>
            <a:gdLst/>
            <a:ahLst/>
            <a:cxnLst/>
            <a:rect l="l" t="t" r="r" b="b"/>
            <a:pathLst>
              <a:path w="2000250" h="9525">
                <a:moveTo>
                  <a:pt x="0" y="0"/>
                </a:moveTo>
                <a:lnTo>
                  <a:pt x="2000250" y="0"/>
                </a:lnTo>
              </a:path>
            </a:pathLst>
          </a:custGeom>
          <a:noFill/>
          <a:ln w="9525">
            <a:solidFill>
              <a:srgbClr val="334155"/>
            </a:solidFill>
          </a:ln>
        </p:spPr>
      </p:sp>
      <p:sp>
        <p:nvSpPr>
          <p:cNvPr id="22" name="TextBox 22"/>
          <p:cNvSpPr txBox="1"/>
          <p:nvPr/>
        </p:nvSpPr>
        <p:spPr>
          <a:xfrm>
            <a:off x="3718941" y="3159125"/>
            <a:ext cx="1835768"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Pandas .apply() 批量向量化</a:t>
            </a:r>
          </a:p>
        </p:txBody>
      </p:sp>
      <p:sp>
        <p:nvSpPr>
          <p:cNvPr id="23" name="TextBox 23"/>
          <p:cNvSpPr txBox="1"/>
          <p:nvPr/>
        </p:nvSpPr>
        <p:spPr>
          <a:xfrm>
            <a:off x="3718941" y="3444875"/>
            <a:ext cx="168103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均值(0.70)与中位数(0.93)</a:t>
            </a:r>
          </a:p>
        </p:txBody>
      </p:sp>
      <p:sp>
        <p:nvSpPr>
          <p:cNvPr id="24" name="TextBox 24"/>
          <p:cNvSpPr txBox="1"/>
          <p:nvPr/>
        </p:nvSpPr>
        <p:spPr>
          <a:xfrm>
            <a:off x="3718941" y="3730625"/>
            <a:ext cx="164925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时间序列折线与趋势感知</a:t>
            </a:r>
          </a:p>
        </p:txBody>
      </p:sp>
      <p:sp>
        <p:nvSpPr>
          <p:cNvPr id="25" name="TextBox 25"/>
          <p:cNvSpPr txBox="1"/>
          <p:nvPr/>
        </p:nvSpPr>
        <p:spPr>
          <a:xfrm>
            <a:off x="3718941" y="4016375"/>
            <a:ext cx="1743908"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6.33e-8 极端差评溯源分析</a:t>
            </a:r>
          </a:p>
        </p:txBody>
      </p:sp>
      <p:sp>
        <p:nvSpPr>
          <p:cNvPr id="26" name="TextBox 26"/>
          <p:cNvSpPr txBox="1"/>
          <p:nvPr/>
        </p:nvSpPr>
        <p:spPr>
          <a:xfrm>
            <a:off x="3719322" y="4457700"/>
            <a:ext cx="1461110" cy="191643"/>
          </a:xfrm>
          <a:prstGeom prst="rect">
            <a:avLst/>
          </a:prstGeom>
          <a:noFill/>
          <a:ln>
            <a:noFill/>
          </a:ln>
        </p:spPr>
        <p:txBody>
          <a:bodyPr wrap="none" lIns="0" tIns="0" rIns="0" bIns="0" anchor="t" anchorCtr="0">
            <a:spAutoFit/>
          </a:bodyPr>
          <a:lstStyle/>
          <a:p>
            <a:pPr algn="l"/>
            <a:r>
              <a:rPr lang="zh-CN" sz="980" dirty="0">
                <a:solidFill>
                  <a:srgbClr val="64748B"/>
                </a:solidFill>
                <a:latin typeface="+mn-lt"/>
                <a:ea typeface="+mn-ea"/>
                <a:cs typeface="+mn-cs"/>
              </a:rPr>
              <a:t>从静态打分走向业务预警</a:t>
            </a:r>
          </a:p>
        </p:txBody>
      </p:sp>
      <p:sp>
        <p:nvSpPr>
          <p:cNvPr id="27" name="Rectangle 27"/>
          <p:cNvSpPr/>
          <p:nvPr/>
        </p:nvSpPr>
        <p:spPr>
          <a:xfrm>
            <a:off x="6219825" y="1476375"/>
            <a:ext cx="2476500" cy="3619500"/>
          </a:xfrm>
          <a:prstGeom prst="roundRect">
            <a:avLst>
              <a:gd name="adj" fmla="val 6154"/>
            </a:avLst>
          </a:prstGeom>
          <a:solidFill>
            <a:srgbClr val="1C2541"/>
          </a:solidFill>
          <a:ln w="14288">
            <a:solidFill>
              <a:srgbClr val="334155"/>
            </a:solidFill>
          </a:ln>
        </p:spPr>
      </p:sp>
      <p:sp>
        <p:nvSpPr>
          <p:cNvPr id="28" name="Rectangle 28"/>
          <p:cNvSpPr/>
          <p:nvPr/>
        </p:nvSpPr>
        <p:spPr>
          <a:xfrm>
            <a:off x="6457950" y="1714500"/>
            <a:ext cx="476250" cy="476250"/>
          </a:xfrm>
          <a:prstGeom prst="roundRect">
            <a:avLst>
              <a:gd name="adj" fmla="val 24000"/>
            </a:avLst>
          </a:prstGeom>
          <a:solidFill>
            <a:srgbClr val="34D399">
              <a:alpha val="15000"/>
            </a:srgbClr>
          </a:solidFill>
          <a:ln>
            <a:noFill/>
          </a:ln>
        </p:spPr>
      </p:sp>
      <p:sp>
        <p:nvSpPr>
          <p:cNvPr id="29" name="TextBox 29"/>
          <p:cNvSpPr txBox="1"/>
          <p:nvPr/>
        </p:nvSpPr>
        <p:spPr>
          <a:xfrm>
            <a:off x="6576142" y="1838325"/>
            <a:ext cx="239867" cy="293370"/>
          </a:xfrm>
          <a:prstGeom prst="rect">
            <a:avLst/>
          </a:prstGeom>
          <a:noFill/>
          <a:ln>
            <a:noFill/>
          </a:ln>
        </p:spPr>
        <p:txBody>
          <a:bodyPr wrap="none" lIns="0" tIns="0" rIns="0" bIns="0" anchor="t" anchorCtr="0">
            <a:spAutoFit/>
          </a:bodyPr>
          <a:lstStyle/>
          <a:p>
            <a:pPr algn="ctr"/>
            <a:r>
              <a:rPr lang="zh-CN" sz="1500" b="1" dirty="0">
                <a:solidFill>
                  <a:srgbClr val="34D399"/>
                </a:solidFill>
                <a:latin typeface="+mn-lt"/>
                <a:ea typeface="+mn-ea"/>
                <a:cs typeface="+mn-cs"/>
              </a:rPr>
              <a:t>03</a:t>
            </a:r>
          </a:p>
        </p:txBody>
      </p:sp>
      <p:sp>
        <p:nvSpPr>
          <p:cNvPr id="30" name="TextBox 30"/>
          <p:cNvSpPr txBox="1"/>
          <p:nvPr/>
        </p:nvSpPr>
        <p:spPr>
          <a:xfrm>
            <a:off x="6450330" y="2346325"/>
            <a:ext cx="163068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大模型细粒度抽取</a:t>
            </a:r>
          </a:p>
        </p:txBody>
      </p:sp>
      <p:sp>
        <p:nvSpPr>
          <p:cNvPr id="31" name="TextBox 31"/>
          <p:cNvSpPr txBox="1"/>
          <p:nvPr/>
        </p:nvSpPr>
        <p:spPr>
          <a:xfrm>
            <a:off x="6452616" y="2682875"/>
            <a:ext cx="1282827" cy="205359"/>
          </a:xfrm>
          <a:prstGeom prst="rect">
            <a:avLst/>
          </a:prstGeom>
          <a:noFill/>
          <a:ln>
            <a:noFill/>
          </a:ln>
        </p:spPr>
        <p:txBody>
          <a:bodyPr wrap="none" lIns="0" tIns="0" rIns="0" bIns="0" anchor="t" anchorCtr="0">
            <a:spAutoFit/>
          </a:bodyPr>
          <a:lstStyle/>
          <a:p>
            <a:pPr algn="l"/>
            <a:r>
              <a:rPr lang="zh-CN" sz="1050" b="1" dirty="0">
                <a:solidFill>
                  <a:srgbClr val="34D399"/>
                </a:solidFill>
                <a:latin typeface="+mn-lt"/>
                <a:ea typeface="+mn-ea"/>
                <a:cs typeface="+mn-cs"/>
              </a:rPr>
              <a:t>心身健康实体与情感</a:t>
            </a:r>
          </a:p>
        </p:txBody>
      </p:sp>
      <p:sp>
        <p:nvSpPr>
          <p:cNvPr id="32" name="Line 32"/>
          <p:cNvSpPr/>
          <p:nvPr/>
        </p:nvSpPr>
        <p:spPr>
          <a:xfrm>
            <a:off x="6457950" y="3000375"/>
            <a:ext cx="2000250" cy="9525"/>
          </a:xfrm>
          <a:custGeom>
            <a:avLst/>
            <a:gdLst/>
            <a:ahLst/>
            <a:cxnLst/>
            <a:rect l="l" t="t" r="r" b="b"/>
            <a:pathLst>
              <a:path w="2000250" h="9525">
                <a:moveTo>
                  <a:pt x="0" y="0"/>
                </a:moveTo>
                <a:lnTo>
                  <a:pt x="2000250" y="0"/>
                </a:lnTo>
              </a:path>
            </a:pathLst>
          </a:custGeom>
          <a:noFill/>
          <a:ln w="9525">
            <a:solidFill>
              <a:srgbClr val="334155"/>
            </a:solidFill>
          </a:ln>
        </p:spPr>
      </p:sp>
      <p:sp>
        <p:nvSpPr>
          <p:cNvPr id="33" name="TextBox 33"/>
          <p:cNvSpPr txBox="1"/>
          <p:nvPr/>
        </p:nvSpPr>
        <p:spPr>
          <a:xfrm>
            <a:off x="6452616" y="3159125"/>
            <a:ext cx="1651171"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DeepSeek API 工程调用</a:t>
            </a:r>
          </a:p>
        </p:txBody>
      </p:sp>
      <p:sp>
        <p:nvSpPr>
          <p:cNvPr id="34" name="TextBox 34"/>
          <p:cNvSpPr txBox="1"/>
          <p:nvPr/>
        </p:nvSpPr>
        <p:spPr>
          <a:xfrm>
            <a:off x="6452616" y="3444875"/>
            <a:ext cx="1802800"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JSON Schema 强结构约束</a:t>
            </a:r>
          </a:p>
        </p:txBody>
      </p:sp>
      <p:sp>
        <p:nvSpPr>
          <p:cNvPr id="35" name="TextBox 35"/>
          <p:cNvSpPr txBox="1"/>
          <p:nvPr/>
        </p:nvSpPr>
        <p:spPr>
          <a:xfrm>
            <a:off x="6452616" y="3730625"/>
            <a:ext cx="174339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部位-症状-情感三元组抽取</a:t>
            </a:r>
          </a:p>
        </p:txBody>
      </p:sp>
      <p:sp>
        <p:nvSpPr>
          <p:cNvPr id="36" name="TextBox 36"/>
          <p:cNvSpPr txBox="1"/>
          <p:nvPr/>
        </p:nvSpPr>
        <p:spPr>
          <a:xfrm>
            <a:off x="6452616" y="4016375"/>
            <a:ext cx="1790610"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隐喻解析与躯体化表征映射</a:t>
            </a:r>
          </a:p>
        </p:txBody>
      </p:sp>
      <p:sp>
        <p:nvSpPr>
          <p:cNvPr id="37" name="TextBox 37"/>
          <p:cNvSpPr txBox="1"/>
          <p:nvPr/>
        </p:nvSpPr>
        <p:spPr>
          <a:xfrm>
            <a:off x="6452997" y="4457700"/>
            <a:ext cx="1593037" cy="191643"/>
          </a:xfrm>
          <a:prstGeom prst="rect">
            <a:avLst/>
          </a:prstGeom>
          <a:noFill/>
          <a:ln>
            <a:noFill/>
          </a:ln>
        </p:spPr>
        <p:txBody>
          <a:bodyPr wrap="none" lIns="0" tIns="0" rIns="0" bIns="0" anchor="t" anchorCtr="0">
            <a:spAutoFit/>
          </a:bodyPr>
          <a:lstStyle/>
          <a:p>
            <a:pPr algn="l"/>
            <a:r>
              <a:rPr lang="zh-CN" sz="980" dirty="0">
                <a:solidFill>
                  <a:srgbClr val="64748B"/>
                </a:solidFill>
                <a:latin typeface="+mn-lt"/>
                <a:ea typeface="+mn-ea"/>
                <a:cs typeface="+mn-cs"/>
              </a:rPr>
              <a:t>突破标量瓶颈解构复杂心身</a:t>
            </a:r>
          </a:p>
        </p:txBody>
      </p:sp>
      <p:sp>
        <p:nvSpPr>
          <p:cNvPr id="38" name="Rectangle 38"/>
          <p:cNvSpPr/>
          <p:nvPr/>
        </p:nvSpPr>
        <p:spPr>
          <a:xfrm>
            <a:off x="8953500" y="1476375"/>
            <a:ext cx="2476500" cy="3619500"/>
          </a:xfrm>
          <a:prstGeom prst="roundRect">
            <a:avLst>
              <a:gd name="adj" fmla="val 6154"/>
            </a:avLst>
          </a:prstGeom>
          <a:solidFill>
            <a:srgbClr val="1C2541"/>
          </a:solidFill>
          <a:ln w="14288">
            <a:solidFill>
              <a:srgbClr val="334155"/>
            </a:solidFill>
          </a:ln>
        </p:spPr>
      </p:sp>
      <p:sp>
        <p:nvSpPr>
          <p:cNvPr id="39" name="Rectangle 39"/>
          <p:cNvSpPr/>
          <p:nvPr/>
        </p:nvSpPr>
        <p:spPr>
          <a:xfrm>
            <a:off x="9191625" y="1714500"/>
            <a:ext cx="476250" cy="476250"/>
          </a:xfrm>
          <a:prstGeom prst="roundRect">
            <a:avLst>
              <a:gd name="adj" fmla="val 24000"/>
            </a:avLst>
          </a:prstGeom>
          <a:solidFill>
            <a:srgbClr val="F59E0B">
              <a:alpha val="15000"/>
            </a:srgbClr>
          </a:solidFill>
          <a:ln>
            <a:noFill/>
          </a:ln>
        </p:spPr>
      </p:sp>
      <p:sp>
        <p:nvSpPr>
          <p:cNvPr id="40" name="TextBox 40"/>
          <p:cNvSpPr txBox="1"/>
          <p:nvPr/>
        </p:nvSpPr>
        <p:spPr>
          <a:xfrm>
            <a:off x="9309817" y="1838325"/>
            <a:ext cx="239867" cy="293370"/>
          </a:xfrm>
          <a:prstGeom prst="rect">
            <a:avLst/>
          </a:prstGeom>
          <a:noFill/>
          <a:ln>
            <a:noFill/>
          </a:ln>
        </p:spPr>
        <p:txBody>
          <a:bodyPr wrap="none" lIns="0" tIns="0" rIns="0" bIns="0" anchor="t" anchorCtr="0">
            <a:spAutoFit/>
          </a:bodyPr>
          <a:lstStyle/>
          <a:p>
            <a:pPr algn="ctr"/>
            <a:r>
              <a:rPr lang="zh-CN" sz="1500" b="1" dirty="0">
                <a:solidFill>
                  <a:srgbClr val="F59E0B"/>
                </a:solidFill>
                <a:latin typeface="+mn-lt"/>
                <a:ea typeface="+mn-ea"/>
                <a:cs typeface="+mn-cs"/>
              </a:rPr>
              <a:t>04</a:t>
            </a:r>
          </a:p>
        </p:txBody>
      </p:sp>
      <p:sp>
        <p:nvSpPr>
          <p:cNvPr id="41" name="TextBox 41"/>
          <p:cNvSpPr txBox="1"/>
          <p:nvPr/>
        </p:nvSpPr>
        <p:spPr>
          <a:xfrm>
            <a:off x="9184005" y="2346325"/>
            <a:ext cx="163068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文学情感轨迹计算</a:t>
            </a:r>
          </a:p>
        </p:txBody>
      </p:sp>
      <p:sp>
        <p:nvSpPr>
          <p:cNvPr id="42" name="TextBox 42"/>
          <p:cNvSpPr txBox="1"/>
          <p:nvPr/>
        </p:nvSpPr>
        <p:spPr>
          <a:xfrm>
            <a:off x="9186291" y="2682875"/>
            <a:ext cx="1141476" cy="205359"/>
          </a:xfrm>
          <a:prstGeom prst="rect">
            <a:avLst/>
          </a:prstGeom>
          <a:noFill/>
          <a:ln>
            <a:noFill/>
          </a:ln>
        </p:spPr>
        <p:txBody>
          <a:bodyPr wrap="none" lIns="0" tIns="0" rIns="0" bIns="0" anchor="t" anchorCtr="0">
            <a:spAutoFit/>
          </a:bodyPr>
          <a:lstStyle/>
          <a:p>
            <a:pPr algn="l"/>
            <a:r>
              <a:rPr lang="zh-CN" sz="1050" b="1" dirty="0">
                <a:solidFill>
                  <a:srgbClr val="F59E0B"/>
                </a:solidFill>
                <a:latin typeface="+mn-lt"/>
                <a:ea typeface="+mn-ea"/>
                <a:cs typeface="+mn-cs"/>
              </a:rPr>
              <a:t>经典散文叙事波形</a:t>
            </a:r>
          </a:p>
        </p:txBody>
      </p:sp>
      <p:sp>
        <p:nvSpPr>
          <p:cNvPr id="43" name="Line 43"/>
          <p:cNvSpPr/>
          <p:nvPr/>
        </p:nvSpPr>
        <p:spPr>
          <a:xfrm>
            <a:off x="9191625" y="3000375"/>
            <a:ext cx="2000250" cy="9525"/>
          </a:xfrm>
          <a:custGeom>
            <a:avLst/>
            <a:gdLst/>
            <a:ahLst/>
            <a:cxnLst/>
            <a:rect l="l" t="t" r="r" b="b"/>
            <a:pathLst>
              <a:path w="2000250" h="9525">
                <a:moveTo>
                  <a:pt x="0" y="0"/>
                </a:moveTo>
                <a:lnTo>
                  <a:pt x="2000250" y="0"/>
                </a:lnTo>
              </a:path>
            </a:pathLst>
          </a:custGeom>
          <a:noFill/>
          <a:ln w="9525">
            <a:solidFill>
              <a:srgbClr val="334155"/>
            </a:solidFill>
          </a:ln>
        </p:spPr>
      </p:sp>
      <p:sp>
        <p:nvSpPr>
          <p:cNvPr id="44" name="TextBox 44"/>
          <p:cNvSpPr txBox="1"/>
          <p:nvPr/>
        </p:nvSpPr>
        <p:spPr>
          <a:xfrm>
            <a:off x="9186291" y="3159125"/>
            <a:ext cx="1806498"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《背影》58句保留标点切分</a:t>
            </a:r>
          </a:p>
        </p:txBody>
      </p:sp>
      <p:sp>
        <p:nvSpPr>
          <p:cNvPr id="45" name="TextBox 45"/>
          <p:cNvSpPr txBox="1"/>
          <p:nvPr/>
        </p:nvSpPr>
        <p:spPr>
          <a:xfrm>
            <a:off x="9186291" y="3444875"/>
            <a:ext cx="1798458"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LLM逐句单核词与分值抽取</a:t>
            </a:r>
          </a:p>
        </p:txBody>
      </p:sp>
      <p:sp>
        <p:nvSpPr>
          <p:cNvPr id="46" name="TextBox 46"/>
          <p:cNvSpPr txBox="1"/>
          <p:nvPr/>
        </p:nvSpPr>
        <p:spPr>
          <a:xfrm>
            <a:off x="9186291" y="3730625"/>
            <a:ext cx="164925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买橘子峰值与离别波形图</a:t>
            </a:r>
          </a:p>
        </p:txBody>
      </p:sp>
      <p:sp>
        <p:nvSpPr>
          <p:cNvPr id="47" name="TextBox 47"/>
          <p:cNvSpPr txBox="1"/>
          <p:nvPr/>
        </p:nvSpPr>
        <p:spPr>
          <a:xfrm>
            <a:off x="9186291" y="4016375"/>
            <a:ext cx="164925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数字人文文学计算新范式</a:t>
            </a:r>
          </a:p>
        </p:txBody>
      </p:sp>
      <p:sp>
        <p:nvSpPr>
          <p:cNvPr id="48" name="TextBox 48"/>
          <p:cNvSpPr txBox="1"/>
          <p:nvPr/>
        </p:nvSpPr>
        <p:spPr>
          <a:xfrm>
            <a:off x="9186672" y="4457700"/>
            <a:ext cx="1593037" cy="191643"/>
          </a:xfrm>
          <a:prstGeom prst="rect">
            <a:avLst/>
          </a:prstGeom>
          <a:noFill/>
          <a:ln>
            <a:noFill/>
          </a:ln>
        </p:spPr>
        <p:txBody>
          <a:bodyPr wrap="none" lIns="0" tIns="0" rIns="0" bIns="0" anchor="t" anchorCtr="0">
            <a:spAutoFit/>
          </a:bodyPr>
          <a:lstStyle/>
          <a:p>
            <a:pPr algn="l"/>
            <a:r>
              <a:rPr lang="zh-CN" sz="980" dirty="0">
                <a:solidFill>
                  <a:srgbClr val="64748B"/>
                </a:solidFill>
                <a:latin typeface="+mn-lt"/>
                <a:ea typeface="+mn-ea"/>
                <a:cs typeface="+mn-cs"/>
              </a:rPr>
              <a:t>从感性阅读走向可计算图谱</a:t>
            </a:r>
          </a:p>
        </p:txBody>
      </p:sp>
      <p:sp>
        <p:nvSpPr>
          <p:cNvPr id="49" name="Rectangle 49"/>
          <p:cNvSpPr/>
          <p:nvPr/>
        </p:nvSpPr>
        <p:spPr>
          <a:xfrm>
            <a:off x="762000" y="5334000"/>
            <a:ext cx="10668000" cy="714375"/>
          </a:xfrm>
          <a:prstGeom prst="roundRect">
            <a:avLst>
              <a:gd name="adj" fmla="val 18667"/>
            </a:avLst>
          </a:prstGeom>
          <a:solidFill>
            <a:srgbClr val="1E293B"/>
          </a:solidFill>
          <a:ln w="14288">
            <a:solidFill>
              <a:srgbClr val="3A506B"/>
            </a:solidFill>
          </a:ln>
        </p:spPr>
      </p:sp>
      <p:sp>
        <p:nvSpPr>
          <p:cNvPr id="50" name="Ellipse 50"/>
          <p:cNvSpPr/>
          <p:nvPr/>
        </p:nvSpPr>
        <p:spPr>
          <a:xfrm>
            <a:off x="990600" y="5534025"/>
            <a:ext cx="304800" cy="304800"/>
          </a:xfrm>
          <a:prstGeom prst="ellipse">
            <a:avLst/>
          </a:prstGeom>
          <a:solidFill>
            <a:srgbClr val="6366F1"/>
          </a:solidFill>
          <a:ln>
            <a:noFill/>
          </a:ln>
        </p:spPr>
      </p:sp>
      <p:sp>
        <p:nvSpPr>
          <p:cNvPr id="51" name="TextBox 51"/>
          <p:cNvSpPr txBox="1"/>
          <p:nvPr/>
        </p:nvSpPr>
        <p:spPr>
          <a:xfrm>
            <a:off x="1052093" y="5591175"/>
            <a:ext cx="181813"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a:t>
            </a:r>
          </a:p>
        </p:txBody>
      </p:sp>
      <p:sp>
        <p:nvSpPr>
          <p:cNvPr id="52" name="TextBox 52"/>
          <p:cNvSpPr txBox="1"/>
          <p:nvPr/>
        </p:nvSpPr>
        <p:spPr>
          <a:xfrm>
            <a:off x="1470279" y="5467350"/>
            <a:ext cx="2273808" cy="234696"/>
          </a:xfrm>
          <a:prstGeom prst="rect">
            <a:avLst/>
          </a:prstGeom>
          <a:noFill/>
          <a:ln>
            <a:noFill/>
          </a:ln>
        </p:spPr>
        <p:txBody>
          <a:bodyPr wrap="none" lIns="0" tIns="0" rIns="0" bIns="0" anchor="t" anchorCtr="0">
            <a:spAutoFit/>
          </a:bodyPr>
          <a:lstStyle/>
          <a:p>
            <a:pPr algn="l"/>
            <a:r>
              <a:rPr lang="zh-CN" sz="1200" b="1" dirty="0">
                <a:solidFill>
                  <a:srgbClr val="F8FAFC"/>
                </a:solidFill>
                <a:latin typeface="+mn-lt"/>
                <a:ea typeface="+mn-ea"/>
                <a:cs typeface="+mn-cs"/>
              </a:rPr>
              <a:t>贯穿全讲的核心思想演进脉络：</a:t>
            </a:r>
          </a:p>
        </p:txBody>
      </p:sp>
      <p:sp>
        <p:nvSpPr>
          <p:cNvPr id="53" name="TextBox 53"/>
          <p:cNvSpPr txBox="1"/>
          <p:nvPr/>
        </p:nvSpPr>
        <p:spPr>
          <a:xfrm>
            <a:off x="1471041" y="5730875"/>
            <a:ext cx="9504100" cy="205359"/>
          </a:xfrm>
          <a:prstGeom prst="rect">
            <a:avLst/>
          </a:prstGeom>
          <a:noFill/>
          <a:ln>
            <a:noFill/>
          </a:ln>
        </p:spPr>
        <p:txBody>
          <a:bodyPr wrap="none" lIns="0" tIns="0" rIns="0" bIns="0" anchor="t" anchorCtr="0">
            <a:spAutoFit/>
          </a:bodyPr>
          <a:lstStyle/>
          <a:p>
            <a:pPr algn="l"/>
            <a:r>
              <a:rPr lang="zh-CN" sz="1050" dirty="0">
                <a:solidFill>
                  <a:srgbClr val="38BDF8"/>
                </a:solidFill>
                <a:latin typeface="+mn-lt"/>
                <a:ea typeface="+mn-ea"/>
                <a:cs typeface="+mn-cs"/>
              </a:rPr>
              <a:t>标量情感极性 (Polarity) ➔ 时序趋势与异常点 (Anomalies) ➔ 细粒度身心属性 (Aspect-Based) ➔ 篇章情绪动力学与认知图谱 (Affective Dynamics &amp; KG)</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6127064"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模块一 · 基础情感分析机制与双语算法评测</a:t>
            </a:r>
          </a:p>
        </p:txBody>
      </p:sp>
      <p:sp>
        <p:nvSpPr>
          <p:cNvPr id="3" name="TextBox 3"/>
          <p:cNvSpPr txBox="1"/>
          <p:nvPr/>
        </p:nvSpPr>
        <p:spPr>
          <a:xfrm>
            <a:off x="755904" y="847725"/>
            <a:ext cx="5600497"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TextBlob与SnowNLP底层机制剖析、电商真实评论实测与贝叶斯先验偏差复盘</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428750"/>
            <a:ext cx="3333750" cy="4000500"/>
          </a:xfrm>
          <a:prstGeom prst="roundRect">
            <a:avLst>
              <a:gd name="adj" fmla="val 4571"/>
            </a:avLst>
          </a:prstGeom>
          <a:solidFill>
            <a:srgbClr val="1C2541"/>
          </a:solidFill>
          <a:ln w="14288">
            <a:solidFill>
              <a:srgbClr val="334155"/>
            </a:solidFill>
          </a:ln>
        </p:spPr>
      </p:sp>
      <p:sp>
        <p:nvSpPr>
          <p:cNvPr id="6" name="Rectangle 6"/>
          <p:cNvSpPr/>
          <p:nvPr/>
        </p:nvSpPr>
        <p:spPr>
          <a:xfrm>
            <a:off x="1047750" y="1714500"/>
            <a:ext cx="1333500" cy="304800"/>
          </a:xfrm>
          <a:prstGeom prst="roundRect">
            <a:avLst>
              <a:gd name="adj" fmla="val 25000"/>
            </a:avLst>
          </a:prstGeom>
          <a:solidFill>
            <a:srgbClr val="38BDF8">
              <a:alpha val="15000"/>
            </a:srgbClr>
          </a:solidFill>
          <a:ln>
            <a:noFill/>
          </a:ln>
        </p:spPr>
      </p:sp>
      <p:sp>
        <p:nvSpPr>
          <p:cNvPr id="7" name="TextBox 7"/>
          <p:cNvSpPr txBox="1"/>
          <p:nvPr/>
        </p:nvSpPr>
        <p:spPr>
          <a:xfrm>
            <a:off x="1235622" y="1797050"/>
            <a:ext cx="957756" cy="205359"/>
          </a:xfrm>
          <a:prstGeom prst="rect">
            <a:avLst/>
          </a:prstGeom>
          <a:noFill/>
          <a:ln>
            <a:noFill/>
          </a:ln>
        </p:spPr>
        <p:txBody>
          <a:bodyPr wrap="none" lIns="0" tIns="0" rIns="0" bIns="0" anchor="t" anchorCtr="0">
            <a:spAutoFit/>
          </a:bodyPr>
          <a:lstStyle/>
          <a:p>
            <a:pPr algn="ctr"/>
            <a:r>
              <a:rPr lang="zh-CN" sz="1050" b="1" dirty="0">
                <a:solidFill>
                  <a:srgbClr val="38BDF8"/>
                </a:solidFill>
                <a:latin typeface="+mn-lt"/>
                <a:ea typeface="+mn-ea"/>
                <a:cs typeface="+mn-cs"/>
              </a:rPr>
              <a:t>英文 NLP 引擎</a:t>
            </a:r>
          </a:p>
        </p:txBody>
      </p:sp>
      <p:sp>
        <p:nvSpPr>
          <p:cNvPr id="8" name="TextBox 8"/>
          <p:cNvSpPr txBox="1"/>
          <p:nvPr/>
        </p:nvSpPr>
        <p:spPr>
          <a:xfrm>
            <a:off x="1039368" y="2178050"/>
            <a:ext cx="2375725" cy="322707"/>
          </a:xfrm>
          <a:prstGeom prst="rect">
            <a:avLst/>
          </a:prstGeom>
          <a:noFill/>
          <a:ln>
            <a:noFill/>
          </a:ln>
        </p:spPr>
        <p:txBody>
          <a:bodyPr wrap="none" lIns="0" tIns="0" rIns="0" bIns="0" anchor="t" anchorCtr="0">
            <a:spAutoFit/>
          </a:bodyPr>
          <a:lstStyle/>
          <a:p>
            <a:pPr algn="l"/>
            <a:r>
              <a:rPr lang="zh-CN" sz="1650" b="1" dirty="0">
                <a:solidFill>
                  <a:srgbClr val="F8FAFC"/>
                </a:solidFill>
                <a:latin typeface="+mn-lt"/>
                <a:ea typeface="+mn-ea"/>
                <a:cs typeface="+mn-cs"/>
              </a:rPr>
              <a:t>TextBlob 极性双轴测度</a:t>
            </a:r>
          </a:p>
        </p:txBody>
      </p:sp>
      <p:sp>
        <p:nvSpPr>
          <p:cNvPr id="9" name="Rectangle 9"/>
          <p:cNvSpPr/>
          <p:nvPr/>
        </p:nvSpPr>
        <p:spPr>
          <a:xfrm>
            <a:off x="1047750" y="2619375"/>
            <a:ext cx="2762250" cy="809625"/>
          </a:xfrm>
          <a:prstGeom prst="roundRect">
            <a:avLst>
              <a:gd name="adj" fmla="val 9412"/>
            </a:avLst>
          </a:prstGeom>
          <a:solidFill>
            <a:srgbClr val="0B132B"/>
          </a:solidFill>
          <a:ln w="9525">
            <a:solidFill>
              <a:srgbClr val="334155"/>
            </a:solidFill>
          </a:ln>
        </p:spPr>
      </p:sp>
      <p:sp>
        <p:nvSpPr>
          <p:cNvPr id="10" name="TextBox 10"/>
          <p:cNvSpPr txBox="1"/>
          <p:nvPr/>
        </p:nvSpPr>
        <p:spPr>
          <a:xfrm>
            <a:off x="1185672" y="2743200"/>
            <a:ext cx="2060343" cy="191643"/>
          </a:xfrm>
          <a:prstGeom prst="rect">
            <a:avLst/>
          </a:prstGeom>
          <a:noFill/>
          <a:ln>
            <a:noFill/>
          </a:ln>
        </p:spPr>
        <p:txBody>
          <a:bodyPr wrap="none" lIns="0" tIns="0" rIns="0" bIns="0" anchor="t" anchorCtr="0">
            <a:spAutoFit/>
          </a:bodyPr>
          <a:lstStyle/>
          <a:p>
            <a:pPr algn="l"/>
            <a:r>
              <a:rPr lang="zh-CN" sz="980" dirty="0">
                <a:solidFill>
                  <a:srgbClr val="38BDF8"/>
                </a:solidFill>
                <a:latin typeface="+mn-lt"/>
                <a:ea typeface="+mn-ea"/>
                <a:cs typeface="+mn-cs"/>
              </a:rPr>
              <a:t>句子1: "I am happy" ➔ polarity: 0.8</a:t>
            </a:r>
          </a:p>
        </p:txBody>
      </p:sp>
      <p:sp>
        <p:nvSpPr>
          <p:cNvPr id="11" name="TextBox 11"/>
          <p:cNvSpPr txBox="1"/>
          <p:nvPr/>
        </p:nvSpPr>
        <p:spPr>
          <a:xfrm>
            <a:off x="1185672" y="2981325"/>
            <a:ext cx="1986705" cy="191643"/>
          </a:xfrm>
          <a:prstGeom prst="rect">
            <a:avLst/>
          </a:prstGeom>
          <a:noFill/>
          <a:ln>
            <a:noFill/>
          </a:ln>
        </p:spPr>
        <p:txBody>
          <a:bodyPr wrap="none" lIns="0" tIns="0" rIns="0" bIns="0" anchor="t" anchorCtr="0">
            <a:spAutoFit/>
          </a:bodyPr>
          <a:lstStyle/>
          <a:p>
            <a:pPr algn="l"/>
            <a:r>
              <a:rPr lang="zh-CN" sz="980" dirty="0">
                <a:solidFill>
                  <a:srgbClr val="EF4444"/>
                </a:solidFill>
                <a:latin typeface="+mn-lt"/>
                <a:ea typeface="+mn-ea"/>
                <a:cs typeface="+mn-cs"/>
              </a:rPr>
              <a:t>句子2: "I feel sad" ➔ polarity: -0.5</a:t>
            </a:r>
          </a:p>
        </p:txBody>
      </p:sp>
      <p:sp>
        <p:nvSpPr>
          <p:cNvPr id="12" name="TextBox 12"/>
          <p:cNvSpPr txBox="1"/>
          <p:nvPr/>
        </p:nvSpPr>
        <p:spPr>
          <a:xfrm>
            <a:off x="1185672" y="3219450"/>
            <a:ext cx="2011723" cy="191643"/>
          </a:xfrm>
          <a:prstGeom prst="rect">
            <a:avLst/>
          </a:prstGeom>
          <a:noFill/>
          <a:ln>
            <a:noFill/>
          </a:ln>
        </p:spPr>
        <p:txBody>
          <a:bodyPr wrap="none" lIns="0" tIns="0" rIns="0" bIns="0" anchor="t" anchorCtr="0">
            <a:spAutoFit/>
          </a:bodyPr>
          <a:lstStyle/>
          <a:p>
            <a:pPr algn="l"/>
            <a:r>
              <a:rPr lang="zh-CN" sz="980" dirty="0">
                <a:solidFill>
                  <a:srgbClr val="34D399"/>
                </a:solidFill>
                <a:latin typeface="+mn-lt"/>
                <a:ea typeface="+mn-ea"/>
                <a:cs typeface="+mn-cs"/>
              </a:rPr>
              <a:t>整段合并: polarity: 0.15, subj: 0.75</a:t>
            </a:r>
          </a:p>
        </p:txBody>
      </p:sp>
      <p:sp>
        <p:nvSpPr>
          <p:cNvPr id="13" name="TextBox 13"/>
          <p:cNvSpPr txBox="1"/>
          <p:nvPr/>
        </p:nvSpPr>
        <p:spPr>
          <a:xfrm>
            <a:off x="1042035" y="3575050"/>
            <a:ext cx="1217625" cy="220028"/>
          </a:xfrm>
          <a:prstGeom prst="rect">
            <a:avLst/>
          </a:prstGeom>
          <a:noFill/>
          <a:ln>
            <a:noFill/>
          </a:ln>
        </p:spPr>
        <p:txBody>
          <a:bodyPr wrap="none" lIns="0" tIns="0" rIns="0" bIns="0" anchor="t" anchorCtr="0">
            <a:spAutoFit/>
          </a:bodyPr>
          <a:lstStyle/>
          <a:p>
            <a:pPr algn="l"/>
            <a:r>
              <a:rPr lang="zh-CN" sz="1120" b="1" dirty="0">
                <a:solidFill>
                  <a:srgbClr val="E2E8F0"/>
                </a:solidFill>
                <a:latin typeface="+mn-lt"/>
                <a:ea typeface="+mn-ea"/>
                <a:cs typeface="+mn-cs"/>
              </a:rPr>
              <a:t>核心机制与特征：</a:t>
            </a:r>
          </a:p>
        </p:txBody>
      </p:sp>
      <p:sp>
        <p:nvSpPr>
          <p:cNvPr id="14" name="TextBox 14"/>
          <p:cNvSpPr txBox="1"/>
          <p:nvPr/>
        </p:nvSpPr>
        <p:spPr>
          <a:xfrm>
            <a:off x="1042416" y="3873500"/>
            <a:ext cx="2227503"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极性 (Polarity) 取值区间 [-1.0, 1.0]</a:t>
            </a:r>
          </a:p>
        </p:txBody>
      </p:sp>
      <p:sp>
        <p:nvSpPr>
          <p:cNvPr id="15" name="TextBox 15"/>
          <p:cNvSpPr txBox="1"/>
          <p:nvPr/>
        </p:nvSpPr>
        <p:spPr>
          <a:xfrm>
            <a:off x="1042416" y="4159250"/>
            <a:ext cx="2564991"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主观性 (Subjectivity) 取值区间 [0.0, 1.0]</a:t>
            </a:r>
          </a:p>
        </p:txBody>
      </p:sp>
      <p:sp>
        <p:nvSpPr>
          <p:cNvPr id="16" name="TextBox 16"/>
          <p:cNvSpPr txBox="1"/>
          <p:nvPr/>
        </p:nvSpPr>
        <p:spPr>
          <a:xfrm>
            <a:off x="1042416" y="4445000"/>
            <a:ext cx="2497365"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多句合并通过词汇权重相消，平滑极性</a:t>
            </a:r>
          </a:p>
        </p:txBody>
      </p:sp>
      <p:sp>
        <p:nvSpPr>
          <p:cNvPr id="17" name="TextBox 17"/>
          <p:cNvSpPr txBox="1"/>
          <p:nvPr/>
        </p:nvSpPr>
        <p:spPr>
          <a:xfrm>
            <a:off x="1042797" y="4933950"/>
            <a:ext cx="1960640" cy="191643"/>
          </a:xfrm>
          <a:prstGeom prst="rect">
            <a:avLst/>
          </a:prstGeom>
          <a:noFill/>
          <a:ln>
            <a:noFill/>
          </a:ln>
        </p:spPr>
        <p:txBody>
          <a:bodyPr wrap="none" lIns="0" tIns="0" rIns="0" bIns="0" anchor="t" anchorCtr="0">
            <a:spAutoFit/>
          </a:bodyPr>
          <a:lstStyle/>
          <a:p>
            <a:pPr algn="l"/>
            <a:r>
              <a:rPr lang="zh-CN" sz="980" b="1" dirty="0">
                <a:solidFill>
                  <a:srgbClr val="38BDF8"/>
                </a:solidFill>
                <a:latin typeface="+mn-lt"/>
                <a:ea typeface="+mn-ea"/>
                <a:cs typeface="+mn-cs"/>
              </a:rPr>
              <a:t>代码：TextBlob(text).sentiment</a:t>
            </a:r>
          </a:p>
        </p:txBody>
      </p:sp>
      <p:sp>
        <p:nvSpPr>
          <p:cNvPr id="18" name="Rectangle 18"/>
          <p:cNvSpPr/>
          <p:nvPr/>
        </p:nvSpPr>
        <p:spPr>
          <a:xfrm>
            <a:off x="4429125" y="1428750"/>
            <a:ext cx="3333750" cy="4000500"/>
          </a:xfrm>
          <a:prstGeom prst="roundRect">
            <a:avLst>
              <a:gd name="adj" fmla="val 4571"/>
            </a:avLst>
          </a:prstGeom>
          <a:solidFill>
            <a:srgbClr val="1C2541"/>
          </a:solidFill>
          <a:ln w="14288">
            <a:solidFill>
              <a:srgbClr val="334155"/>
            </a:solidFill>
          </a:ln>
        </p:spPr>
      </p:sp>
      <p:sp>
        <p:nvSpPr>
          <p:cNvPr id="19" name="Rectangle 19"/>
          <p:cNvSpPr/>
          <p:nvPr/>
        </p:nvSpPr>
        <p:spPr>
          <a:xfrm>
            <a:off x="4714875" y="1714500"/>
            <a:ext cx="1333500" cy="304800"/>
          </a:xfrm>
          <a:prstGeom prst="roundRect">
            <a:avLst>
              <a:gd name="adj" fmla="val 25000"/>
            </a:avLst>
          </a:prstGeom>
          <a:solidFill>
            <a:srgbClr val="818CF8">
              <a:alpha val="15000"/>
            </a:srgbClr>
          </a:solidFill>
          <a:ln>
            <a:noFill/>
          </a:ln>
        </p:spPr>
      </p:sp>
      <p:sp>
        <p:nvSpPr>
          <p:cNvPr id="20" name="TextBox 20"/>
          <p:cNvSpPr txBox="1"/>
          <p:nvPr/>
        </p:nvSpPr>
        <p:spPr>
          <a:xfrm>
            <a:off x="4881562" y="1797050"/>
            <a:ext cx="1000125" cy="205359"/>
          </a:xfrm>
          <a:prstGeom prst="rect">
            <a:avLst/>
          </a:prstGeom>
          <a:noFill/>
          <a:ln>
            <a:noFill/>
          </a:ln>
        </p:spPr>
        <p:txBody>
          <a:bodyPr wrap="none" lIns="0" tIns="0" rIns="0" bIns="0" anchor="t" anchorCtr="0">
            <a:spAutoFit/>
          </a:bodyPr>
          <a:lstStyle/>
          <a:p>
            <a:pPr algn="ctr"/>
            <a:r>
              <a:rPr lang="zh-CN" sz="1050" b="1" dirty="0">
                <a:solidFill>
                  <a:srgbClr val="818CF8"/>
                </a:solidFill>
                <a:latin typeface="+mn-lt"/>
                <a:ea typeface="+mn-ea"/>
                <a:cs typeface="+mn-cs"/>
              </a:rPr>
              <a:t>中文贝叶斯分类</a:t>
            </a:r>
          </a:p>
        </p:txBody>
      </p:sp>
      <p:sp>
        <p:nvSpPr>
          <p:cNvPr id="21" name="TextBox 21"/>
          <p:cNvSpPr txBox="1"/>
          <p:nvPr/>
        </p:nvSpPr>
        <p:spPr>
          <a:xfrm>
            <a:off x="4706493" y="2178050"/>
            <a:ext cx="2483244" cy="322707"/>
          </a:xfrm>
          <a:prstGeom prst="rect">
            <a:avLst/>
          </a:prstGeom>
          <a:noFill/>
          <a:ln>
            <a:noFill/>
          </a:ln>
        </p:spPr>
        <p:txBody>
          <a:bodyPr wrap="none" lIns="0" tIns="0" rIns="0" bIns="0" anchor="t" anchorCtr="0">
            <a:spAutoFit/>
          </a:bodyPr>
          <a:lstStyle/>
          <a:p>
            <a:pPr algn="l"/>
            <a:r>
              <a:rPr lang="zh-CN" sz="1650" b="1" dirty="0">
                <a:solidFill>
                  <a:srgbClr val="F8FAFC"/>
                </a:solidFill>
                <a:latin typeface="+mn-lt"/>
                <a:ea typeface="+mn-ea"/>
                <a:cs typeface="+mn-cs"/>
              </a:rPr>
              <a:t>SnowNLP 正面概率值域</a:t>
            </a:r>
          </a:p>
        </p:txBody>
      </p:sp>
      <p:sp>
        <p:nvSpPr>
          <p:cNvPr id="22" name="Rectangle 22"/>
          <p:cNvSpPr/>
          <p:nvPr/>
        </p:nvSpPr>
        <p:spPr>
          <a:xfrm>
            <a:off x="4714875" y="2619375"/>
            <a:ext cx="2762250" cy="809625"/>
          </a:xfrm>
          <a:prstGeom prst="roundRect">
            <a:avLst>
              <a:gd name="adj" fmla="val 9412"/>
            </a:avLst>
          </a:prstGeom>
          <a:solidFill>
            <a:srgbClr val="0B132B"/>
          </a:solidFill>
          <a:ln w="9525">
            <a:solidFill>
              <a:srgbClr val="334155"/>
            </a:solidFill>
          </a:ln>
        </p:spPr>
      </p:sp>
      <p:sp>
        <p:nvSpPr>
          <p:cNvPr id="23" name="TextBox 23"/>
          <p:cNvSpPr txBox="1"/>
          <p:nvPr/>
        </p:nvSpPr>
        <p:spPr>
          <a:xfrm>
            <a:off x="4852797" y="2743200"/>
            <a:ext cx="2229430" cy="191643"/>
          </a:xfrm>
          <a:prstGeom prst="rect">
            <a:avLst/>
          </a:prstGeom>
          <a:noFill/>
          <a:ln>
            <a:noFill/>
          </a:ln>
        </p:spPr>
        <p:txBody>
          <a:bodyPr wrap="none" lIns="0" tIns="0" rIns="0" bIns="0" anchor="t" anchorCtr="0">
            <a:spAutoFit/>
          </a:bodyPr>
          <a:lstStyle/>
          <a:p>
            <a:pPr algn="l"/>
            <a:r>
              <a:rPr lang="zh-CN" sz="980" dirty="0">
                <a:solidFill>
                  <a:srgbClr val="38BDF8"/>
                </a:solidFill>
                <a:latin typeface="+mn-lt"/>
                <a:ea typeface="+mn-ea"/>
                <a:cs typeface="+mn-cs"/>
              </a:rPr>
              <a:t>句子1: "我今天很快乐" ➔ 0.893 (极高)</a:t>
            </a:r>
          </a:p>
        </p:txBody>
      </p:sp>
      <p:sp>
        <p:nvSpPr>
          <p:cNvPr id="24" name="TextBox 24"/>
          <p:cNvSpPr txBox="1"/>
          <p:nvPr/>
        </p:nvSpPr>
        <p:spPr>
          <a:xfrm>
            <a:off x="4852797" y="2981325"/>
            <a:ext cx="2302808" cy="191643"/>
          </a:xfrm>
          <a:prstGeom prst="rect">
            <a:avLst/>
          </a:prstGeom>
          <a:noFill/>
          <a:ln>
            <a:noFill/>
          </a:ln>
        </p:spPr>
        <p:txBody>
          <a:bodyPr wrap="none" lIns="0" tIns="0" rIns="0" bIns="0" anchor="t" anchorCtr="0">
            <a:spAutoFit/>
          </a:bodyPr>
          <a:lstStyle/>
          <a:p>
            <a:pPr algn="l"/>
            <a:r>
              <a:rPr lang="zh-CN" sz="980" dirty="0">
                <a:solidFill>
                  <a:srgbClr val="EF4444"/>
                </a:solidFill>
                <a:latin typeface="+mn-lt"/>
                <a:ea typeface="+mn-ea"/>
                <a:cs typeface="+mn-cs"/>
              </a:rPr>
              <a:t>句子2: "我今天很愤怒" ➔ 0.091 (趋近0)</a:t>
            </a:r>
          </a:p>
        </p:txBody>
      </p:sp>
      <p:sp>
        <p:nvSpPr>
          <p:cNvPr id="25" name="TextBox 25"/>
          <p:cNvSpPr txBox="1"/>
          <p:nvPr/>
        </p:nvSpPr>
        <p:spPr>
          <a:xfrm>
            <a:off x="4852797" y="3219450"/>
            <a:ext cx="2274971" cy="191643"/>
          </a:xfrm>
          <a:prstGeom prst="rect">
            <a:avLst/>
          </a:prstGeom>
          <a:noFill/>
          <a:ln>
            <a:noFill/>
          </a:ln>
        </p:spPr>
        <p:txBody>
          <a:bodyPr wrap="none" lIns="0" tIns="0" rIns="0" bIns="0" anchor="t" anchorCtr="0">
            <a:spAutoFit/>
          </a:bodyPr>
          <a:lstStyle/>
          <a:p>
            <a:pPr algn="l"/>
            <a:r>
              <a:rPr lang="zh-CN" sz="980" dirty="0">
                <a:solidFill>
                  <a:srgbClr val="F59E0B"/>
                </a:solidFill>
                <a:latin typeface="+mn-lt"/>
                <a:ea typeface="+mn-ea"/>
                <a:cs typeface="+mn-cs"/>
              </a:rPr>
              <a:t>注意: sentiments 带s，非极性而是概率</a:t>
            </a:r>
          </a:p>
        </p:txBody>
      </p:sp>
      <p:sp>
        <p:nvSpPr>
          <p:cNvPr id="26" name="TextBox 26"/>
          <p:cNvSpPr txBox="1"/>
          <p:nvPr/>
        </p:nvSpPr>
        <p:spPr>
          <a:xfrm>
            <a:off x="4709160" y="3575050"/>
            <a:ext cx="1519174" cy="220028"/>
          </a:xfrm>
          <a:prstGeom prst="rect">
            <a:avLst/>
          </a:prstGeom>
          <a:noFill/>
          <a:ln>
            <a:noFill/>
          </a:ln>
        </p:spPr>
        <p:txBody>
          <a:bodyPr wrap="none" lIns="0" tIns="0" rIns="0" bIns="0" anchor="t" anchorCtr="0">
            <a:spAutoFit/>
          </a:bodyPr>
          <a:lstStyle/>
          <a:p>
            <a:pPr algn="l"/>
            <a:r>
              <a:rPr lang="zh-CN" sz="1120" b="1" dirty="0">
                <a:solidFill>
                  <a:srgbClr val="E2E8F0"/>
                </a:solidFill>
                <a:latin typeface="+mn-lt"/>
                <a:ea typeface="+mn-ea"/>
                <a:cs typeface="+mn-cs"/>
              </a:rPr>
              <a:t>核心机制与工程要点：</a:t>
            </a:r>
          </a:p>
        </p:txBody>
      </p:sp>
      <p:sp>
        <p:nvSpPr>
          <p:cNvPr id="27" name="TextBox 27"/>
          <p:cNvSpPr txBox="1"/>
          <p:nvPr/>
        </p:nvSpPr>
        <p:spPr>
          <a:xfrm>
            <a:off x="4709541" y="3873500"/>
            <a:ext cx="2709590"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取值范围 [0, 1]，代表正面情感的后验概率</a:t>
            </a:r>
          </a:p>
        </p:txBody>
      </p:sp>
      <p:sp>
        <p:nvSpPr>
          <p:cNvPr id="28" name="TextBox 28"/>
          <p:cNvSpPr txBox="1"/>
          <p:nvPr/>
        </p:nvSpPr>
        <p:spPr>
          <a:xfrm>
            <a:off x="4709541" y="4159250"/>
            <a:ext cx="2741083"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得分 0.091 并非中性，而是“正面概率极低”</a:t>
            </a:r>
          </a:p>
        </p:txBody>
      </p:sp>
      <p:sp>
        <p:nvSpPr>
          <p:cNvPr id="29" name="TextBox 29"/>
          <p:cNvSpPr txBox="1"/>
          <p:nvPr/>
        </p:nvSpPr>
        <p:spPr>
          <a:xfrm>
            <a:off x="4709541" y="4445000"/>
            <a:ext cx="2796238"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句法陷阱：不可对 sentences 切片直接取分</a:t>
            </a:r>
          </a:p>
        </p:txBody>
      </p:sp>
      <p:sp>
        <p:nvSpPr>
          <p:cNvPr id="30" name="TextBox 30"/>
          <p:cNvSpPr txBox="1"/>
          <p:nvPr/>
        </p:nvSpPr>
        <p:spPr>
          <a:xfrm>
            <a:off x="4709922" y="4933950"/>
            <a:ext cx="2094967" cy="191643"/>
          </a:xfrm>
          <a:prstGeom prst="rect">
            <a:avLst/>
          </a:prstGeom>
          <a:noFill/>
          <a:ln>
            <a:noFill/>
          </a:ln>
        </p:spPr>
        <p:txBody>
          <a:bodyPr wrap="none" lIns="0" tIns="0" rIns="0" bIns="0" anchor="t" anchorCtr="0">
            <a:spAutoFit/>
          </a:bodyPr>
          <a:lstStyle/>
          <a:p>
            <a:pPr algn="l"/>
            <a:r>
              <a:rPr lang="zh-CN" sz="980" b="1" dirty="0">
                <a:solidFill>
                  <a:srgbClr val="818CF8"/>
                </a:solidFill>
                <a:latin typeface="+mn-lt"/>
                <a:ea typeface="+mn-ea"/>
                <a:cs typeface="+mn-cs"/>
              </a:rPr>
              <a:t>代码：SnowNLP(text).sentiments</a:t>
            </a:r>
          </a:p>
        </p:txBody>
      </p:sp>
      <p:sp>
        <p:nvSpPr>
          <p:cNvPr id="31" name="Rectangle 31"/>
          <p:cNvSpPr/>
          <p:nvPr/>
        </p:nvSpPr>
        <p:spPr>
          <a:xfrm>
            <a:off x="8096250" y="1428750"/>
            <a:ext cx="3333750" cy="4000500"/>
          </a:xfrm>
          <a:prstGeom prst="roundRect">
            <a:avLst>
              <a:gd name="adj" fmla="val 4571"/>
            </a:avLst>
          </a:prstGeom>
          <a:solidFill>
            <a:srgbClr val="1C2541"/>
          </a:solidFill>
          <a:ln w="14288">
            <a:solidFill>
              <a:srgbClr val="334155"/>
            </a:solidFill>
          </a:ln>
        </p:spPr>
      </p:sp>
      <p:sp>
        <p:nvSpPr>
          <p:cNvPr id="32" name="Rectangle 32"/>
          <p:cNvSpPr/>
          <p:nvPr/>
        </p:nvSpPr>
        <p:spPr>
          <a:xfrm>
            <a:off x="8382000" y="1714500"/>
            <a:ext cx="1333500" cy="304800"/>
          </a:xfrm>
          <a:prstGeom prst="roundRect">
            <a:avLst>
              <a:gd name="adj" fmla="val 25000"/>
            </a:avLst>
          </a:prstGeom>
          <a:solidFill>
            <a:srgbClr val="F59E0B">
              <a:alpha val="15000"/>
            </a:srgbClr>
          </a:solidFill>
          <a:ln>
            <a:noFill/>
          </a:ln>
        </p:spPr>
      </p:sp>
      <p:sp>
        <p:nvSpPr>
          <p:cNvPr id="33" name="TextBox 33"/>
          <p:cNvSpPr txBox="1"/>
          <p:nvPr/>
        </p:nvSpPr>
        <p:spPr>
          <a:xfrm>
            <a:off x="8478012" y="1797050"/>
            <a:ext cx="1141476" cy="205359"/>
          </a:xfrm>
          <a:prstGeom prst="rect">
            <a:avLst/>
          </a:prstGeom>
          <a:noFill/>
          <a:ln>
            <a:noFill/>
          </a:ln>
        </p:spPr>
        <p:txBody>
          <a:bodyPr wrap="none" lIns="0" tIns="0" rIns="0" bIns="0" anchor="t" anchorCtr="0">
            <a:spAutoFit/>
          </a:bodyPr>
          <a:lstStyle/>
          <a:p>
            <a:pPr algn="ctr"/>
            <a:r>
              <a:rPr lang="zh-CN" sz="1050" b="1" dirty="0">
                <a:solidFill>
                  <a:srgbClr val="F59E0B"/>
                </a:solidFill>
                <a:latin typeface="+mn-lt"/>
                <a:ea typeface="+mn-ea"/>
                <a:cs typeface="+mn-cs"/>
              </a:rPr>
              <a:t>电商真实语料实测</a:t>
            </a:r>
          </a:p>
        </p:txBody>
      </p:sp>
      <p:sp>
        <p:nvSpPr>
          <p:cNvPr id="34" name="TextBox 34"/>
          <p:cNvSpPr txBox="1"/>
          <p:nvPr/>
        </p:nvSpPr>
        <p:spPr>
          <a:xfrm>
            <a:off x="8373618" y="2178050"/>
            <a:ext cx="2015871" cy="322707"/>
          </a:xfrm>
          <a:prstGeom prst="rect">
            <a:avLst/>
          </a:prstGeom>
          <a:noFill/>
          <a:ln>
            <a:noFill/>
          </a:ln>
        </p:spPr>
        <p:txBody>
          <a:bodyPr wrap="none" lIns="0" tIns="0" rIns="0" bIns="0" anchor="t" anchorCtr="0">
            <a:spAutoFit/>
          </a:bodyPr>
          <a:lstStyle/>
          <a:p>
            <a:pPr algn="l"/>
            <a:r>
              <a:rPr lang="zh-CN" sz="1650" b="1" dirty="0">
                <a:solidFill>
                  <a:srgbClr val="F8FAFC"/>
                </a:solidFill>
                <a:latin typeface="+mn-lt"/>
                <a:ea typeface="+mn-ea"/>
                <a:cs typeface="+mn-cs"/>
              </a:rPr>
              <a:t>算法缺陷与偏差剖析</a:t>
            </a:r>
          </a:p>
        </p:txBody>
      </p:sp>
      <p:sp>
        <p:nvSpPr>
          <p:cNvPr id="35" name="Rectangle 35"/>
          <p:cNvSpPr/>
          <p:nvPr/>
        </p:nvSpPr>
        <p:spPr>
          <a:xfrm>
            <a:off x="8382000" y="2619375"/>
            <a:ext cx="2762250" cy="809625"/>
          </a:xfrm>
          <a:prstGeom prst="roundRect">
            <a:avLst>
              <a:gd name="adj" fmla="val 9412"/>
            </a:avLst>
          </a:prstGeom>
          <a:solidFill>
            <a:srgbClr val="0B132B"/>
          </a:solidFill>
          <a:ln w="9525">
            <a:solidFill>
              <a:srgbClr val="334155"/>
            </a:solidFill>
          </a:ln>
        </p:spPr>
      </p:sp>
      <p:sp>
        <p:nvSpPr>
          <p:cNvPr id="36" name="TextBox 36"/>
          <p:cNvSpPr txBox="1"/>
          <p:nvPr/>
        </p:nvSpPr>
        <p:spPr>
          <a:xfrm>
            <a:off x="8519922" y="2743200"/>
            <a:ext cx="2266000" cy="191643"/>
          </a:xfrm>
          <a:prstGeom prst="rect">
            <a:avLst/>
          </a:prstGeom>
          <a:noFill/>
          <a:ln>
            <a:noFill/>
          </a:ln>
        </p:spPr>
        <p:txBody>
          <a:bodyPr wrap="none" lIns="0" tIns="0" rIns="0" bIns="0" anchor="t" anchorCtr="0">
            <a:spAutoFit/>
          </a:bodyPr>
          <a:lstStyle/>
          <a:p>
            <a:pPr algn="l"/>
            <a:r>
              <a:rPr lang="zh-CN" sz="980" dirty="0">
                <a:solidFill>
                  <a:srgbClr val="34D399"/>
                </a:solidFill>
                <a:latin typeface="+mn-lt"/>
                <a:ea typeface="+mn-ea"/>
                <a:cs typeface="+mn-cs"/>
              </a:rPr>
              <a:t>好评: "显示效果挺好..." ➔ 0.978 (极准)</a:t>
            </a:r>
          </a:p>
        </p:txBody>
      </p:sp>
      <p:sp>
        <p:nvSpPr>
          <p:cNvPr id="37" name="TextBox 37"/>
          <p:cNvSpPr txBox="1"/>
          <p:nvPr/>
        </p:nvSpPr>
        <p:spPr>
          <a:xfrm>
            <a:off x="8519922" y="2981325"/>
            <a:ext cx="2361199" cy="191643"/>
          </a:xfrm>
          <a:prstGeom prst="rect">
            <a:avLst/>
          </a:prstGeom>
          <a:noFill/>
          <a:ln>
            <a:noFill/>
          </a:ln>
        </p:spPr>
        <p:txBody>
          <a:bodyPr wrap="none" lIns="0" tIns="0" rIns="0" bIns="0" anchor="t" anchorCtr="0">
            <a:spAutoFit/>
          </a:bodyPr>
          <a:lstStyle/>
          <a:p>
            <a:pPr algn="l"/>
            <a:r>
              <a:rPr lang="zh-CN" sz="980" dirty="0">
                <a:solidFill>
                  <a:srgbClr val="EF4444"/>
                </a:solidFill>
                <a:latin typeface="+mn-lt"/>
                <a:ea typeface="+mn-ea"/>
                <a:cs typeface="+mn-cs"/>
              </a:rPr>
              <a:t>短差评: "最不满意...不值" ➔ 0.72 (误判!)</a:t>
            </a:r>
          </a:p>
        </p:txBody>
      </p:sp>
      <p:sp>
        <p:nvSpPr>
          <p:cNvPr id="38" name="TextBox 38"/>
          <p:cNvSpPr txBox="1"/>
          <p:nvPr/>
        </p:nvSpPr>
        <p:spPr>
          <a:xfrm>
            <a:off x="8519922" y="3219450"/>
            <a:ext cx="2398007" cy="191643"/>
          </a:xfrm>
          <a:prstGeom prst="rect">
            <a:avLst/>
          </a:prstGeom>
          <a:noFill/>
          <a:ln>
            <a:noFill/>
          </a:ln>
        </p:spPr>
        <p:txBody>
          <a:bodyPr wrap="none" lIns="0" tIns="0" rIns="0" bIns="0" anchor="t" anchorCtr="0">
            <a:spAutoFit/>
          </a:bodyPr>
          <a:lstStyle/>
          <a:p>
            <a:pPr algn="l"/>
            <a:r>
              <a:rPr lang="zh-CN" sz="980" dirty="0">
                <a:solidFill>
                  <a:srgbClr val="38BDF8"/>
                </a:solidFill>
                <a:latin typeface="+mn-lt"/>
                <a:ea typeface="+mn-ea"/>
                <a:cs typeface="+mn-cs"/>
              </a:rPr>
              <a:t>长差评: "像素不行/不蓄电" ➔ 0.0001 (准)</a:t>
            </a:r>
          </a:p>
        </p:txBody>
      </p:sp>
      <p:sp>
        <p:nvSpPr>
          <p:cNvPr id="39" name="TextBox 39"/>
          <p:cNvSpPr txBox="1"/>
          <p:nvPr/>
        </p:nvSpPr>
        <p:spPr>
          <a:xfrm>
            <a:off x="8376285" y="3575050"/>
            <a:ext cx="1519174" cy="220028"/>
          </a:xfrm>
          <a:prstGeom prst="rect">
            <a:avLst/>
          </a:prstGeom>
          <a:noFill/>
          <a:ln>
            <a:noFill/>
          </a:ln>
        </p:spPr>
        <p:txBody>
          <a:bodyPr wrap="none" lIns="0" tIns="0" rIns="0" bIns="0" anchor="t" anchorCtr="0">
            <a:spAutoFit/>
          </a:bodyPr>
          <a:lstStyle/>
          <a:p>
            <a:pPr algn="l"/>
            <a:r>
              <a:rPr lang="zh-CN" sz="1120" b="1" dirty="0">
                <a:solidFill>
                  <a:srgbClr val="E2E8F0"/>
                </a:solidFill>
                <a:latin typeface="+mn-lt"/>
                <a:ea typeface="+mn-ea"/>
                <a:cs typeface="+mn-cs"/>
              </a:rPr>
              <a:t>实测结论与根因诊断：</a:t>
            </a:r>
          </a:p>
        </p:txBody>
      </p:sp>
      <p:sp>
        <p:nvSpPr>
          <p:cNvPr id="40" name="TextBox 40"/>
          <p:cNvSpPr txBox="1"/>
          <p:nvPr/>
        </p:nvSpPr>
        <p:spPr>
          <a:xfrm>
            <a:off x="8376666" y="3873500"/>
            <a:ext cx="2780067"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默认电商训练语料具有强烈的正面先验倾向</a:t>
            </a:r>
          </a:p>
        </p:txBody>
      </p:sp>
      <p:sp>
        <p:nvSpPr>
          <p:cNvPr id="41" name="TextBox 41"/>
          <p:cNvSpPr txBox="1"/>
          <p:nvPr/>
        </p:nvSpPr>
        <p:spPr>
          <a:xfrm>
            <a:off x="8376666" y="4159250"/>
            <a:ext cx="2780067"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朴素贝叶斯词袋忽略否定词修饰及语序关联</a:t>
            </a:r>
          </a:p>
        </p:txBody>
      </p:sp>
      <p:sp>
        <p:nvSpPr>
          <p:cNvPr id="42" name="TextBox 42"/>
          <p:cNvSpPr txBox="1"/>
          <p:nvPr/>
        </p:nvSpPr>
        <p:spPr>
          <a:xfrm>
            <a:off x="8376666" y="4445000"/>
            <a:ext cx="2780067" cy="205359"/>
          </a:xfrm>
          <a:prstGeom prst="rect">
            <a:avLst/>
          </a:prstGeom>
          <a:noFill/>
          <a:ln>
            <a:noFill/>
          </a:ln>
        </p:spPr>
        <p:txBody>
          <a:bodyPr wrap="none" lIns="0" tIns="0" rIns="0" bIns="0" anchor="t" anchorCtr="0">
            <a:spAutoFit/>
          </a:bodyPr>
          <a:lstStyle/>
          <a:p>
            <a:pPr marL="83730" indent="-83730" algn="l">
              <a:buClr>
                <a:srgbClr val="94A3B8"/>
              </a:buClr>
              <a:buSzTx/>
              <a:buFontTx/>
              <a:buChar char="•"/>
            </a:pPr>
            <a:r>
              <a:rPr lang="zh-CN" sz="1050" dirty="0">
                <a:solidFill>
                  <a:srgbClr val="94A3B8"/>
                </a:solidFill>
                <a:latin typeface="+mn-lt"/>
                <a:ea typeface="+mn-ea"/>
                <a:cs typeface="+mn-cs"/>
              </a:rPr>
              <a:t>短文本信息稀疏导致误判，长文本容错更强</a:t>
            </a:r>
          </a:p>
        </p:txBody>
      </p:sp>
      <p:sp>
        <p:nvSpPr>
          <p:cNvPr id="43" name="TextBox 43"/>
          <p:cNvSpPr txBox="1"/>
          <p:nvPr/>
        </p:nvSpPr>
        <p:spPr>
          <a:xfrm>
            <a:off x="8377047" y="4933950"/>
            <a:ext cx="2384603" cy="191643"/>
          </a:xfrm>
          <a:prstGeom prst="rect">
            <a:avLst/>
          </a:prstGeom>
          <a:noFill/>
          <a:ln>
            <a:noFill/>
          </a:ln>
        </p:spPr>
        <p:txBody>
          <a:bodyPr wrap="none" lIns="0" tIns="0" rIns="0" bIns="0" anchor="t" anchorCtr="0">
            <a:spAutoFit/>
          </a:bodyPr>
          <a:lstStyle/>
          <a:p>
            <a:pPr algn="l"/>
            <a:r>
              <a:rPr lang="zh-CN" sz="980" b="1" dirty="0">
                <a:solidFill>
                  <a:srgbClr val="F59E0B"/>
                </a:solidFill>
                <a:latin typeface="+mn-lt"/>
                <a:ea typeface="+mn-ea"/>
                <a:cs typeface="+mn-cs"/>
              </a:rPr>
              <a:t>核心：词袋独立性假设导致语境理解缺失</a:t>
            </a:r>
          </a:p>
        </p:txBody>
      </p:sp>
      <p:sp>
        <p:nvSpPr>
          <p:cNvPr id="44" name="Rectangle 44"/>
          <p:cNvSpPr/>
          <p:nvPr/>
        </p:nvSpPr>
        <p:spPr>
          <a:xfrm>
            <a:off x="762000" y="5619750"/>
            <a:ext cx="10668000" cy="476250"/>
          </a:xfrm>
          <a:prstGeom prst="roundRect">
            <a:avLst>
              <a:gd name="adj" fmla="val 20000"/>
            </a:avLst>
          </a:prstGeom>
          <a:solidFill>
            <a:srgbClr val="1E293B"/>
          </a:solidFill>
          <a:ln w="9525">
            <a:solidFill>
              <a:srgbClr val="334155"/>
            </a:solidFill>
          </a:ln>
        </p:spPr>
      </p:sp>
      <p:sp>
        <p:nvSpPr>
          <p:cNvPr id="45" name="TextBox 45"/>
          <p:cNvSpPr txBox="1"/>
          <p:nvPr/>
        </p:nvSpPr>
        <p:spPr>
          <a:xfrm>
            <a:off x="1042416" y="5797550"/>
            <a:ext cx="8004859" cy="205359"/>
          </a:xfrm>
          <a:prstGeom prst="rect">
            <a:avLst/>
          </a:prstGeom>
          <a:noFill/>
          <a:ln>
            <a:noFill/>
          </a:ln>
        </p:spPr>
        <p:txBody>
          <a:bodyPr wrap="none" lIns="0" tIns="0" rIns="0" bIns="0" anchor="t" anchorCtr="0">
            <a:spAutoFit/>
          </a:bodyPr>
          <a:lstStyle/>
          <a:p>
            <a:pPr algn="l"/>
            <a:r>
              <a:rPr lang="zh-CN" sz="1050" dirty="0">
                <a:solidFill>
                  <a:srgbClr val="F8FAFC"/>
                </a:solidFill>
                <a:latin typeface="+mn-lt"/>
                <a:ea typeface="+mn-ea"/>
                <a:cs typeface="+mn-cs"/>
              </a:rPr>
              <a:t>💡 阶段总结：轻量级规则/贝叶斯工具适合低成本初筛；但短文本、否定反讽与跨领域迁移极易产生误判，需更深层上下文模型。</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7419416"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模块二 · 经管实务：餐饮评论时序分析与异常点监测</a:t>
            </a:r>
          </a:p>
        </p:txBody>
      </p:sp>
      <p:sp>
        <p:nvSpPr>
          <p:cNvPr id="3" name="TextBox 3"/>
          <p:cNvSpPr txBox="1"/>
          <p:nvPr/>
        </p:nvSpPr>
        <p:spPr>
          <a:xfrm>
            <a:off x="755904" y="847725"/>
            <a:ext cx="6378052"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以A餐厅（海底捞）评论为例：Pandas批量向量化、均值/中位数偏态与极端差评根因挖掘</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381125"/>
            <a:ext cx="4572000" cy="4048125"/>
          </a:xfrm>
          <a:prstGeom prst="roundRect">
            <a:avLst>
              <a:gd name="adj" fmla="val 3765"/>
            </a:avLst>
          </a:prstGeom>
          <a:solidFill>
            <a:srgbClr val="1C2541"/>
          </a:solidFill>
          <a:ln w="14288">
            <a:solidFill>
              <a:srgbClr val="334155"/>
            </a:solidFill>
          </a:ln>
        </p:spPr>
      </p:sp>
      <p:sp>
        <p:nvSpPr>
          <p:cNvPr id="6" name="TextBox 6"/>
          <p:cNvSpPr txBox="1"/>
          <p:nvPr/>
        </p:nvSpPr>
        <p:spPr>
          <a:xfrm>
            <a:off x="1040130" y="1584325"/>
            <a:ext cx="264033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数据工程管线与统计偏态特征</a:t>
            </a:r>
          </a:p>
        </p:txBody>
      </p:sp>
      <p:sp>
        <p:nvSpPr>
          <p:cNvPr id="7" name="Rectangle 7"/>
          <p:cNvSpPr/>
          <p:nvPr/>
        </p:nvSpPr>
        <p:spPr>
          <a:xfrm>
            <a:off x="1047750" y="1952625"/>
            <a:ext cx="4000500" cy="666750"/>
          </a:xfrm>
          <a:prstGeom prst="roundRect">
            <a:avLst>
              <a:gd name="adj" fmla="val 11429"/>
            </a:avLst>
          </a:prstGeom>
          <a:solidFill>
            <a:srgbClr val="0B132B"/>
          </a:solidFill>
          <a:ln w="9525">
            <a:solidFill>
              <a:srgbClr val="334155"/>
            </a:solidFill>
          </a:ln>
        </p:spPr>
      </p:sp>
      <p:sp>
        <p:nvSpPr>
          <p:cNvPr id="8" name="TextBox 8"/>
          <p:cNvSpPr txBox="1"/>
          <p:nvPr/>
        </p:nvSpPr>
        <p:spPr>
          <a:xfrm>
            <a:off x="1185862" y="2076450"/>
            <a:ext cx="1806783" cy="176212"/>
          </a:xfrm>
          <a:prstGeom prst="rect">
            <a:avLst/>
          </a:prstGeom>
          <a:noFill/>
          <a:ln>
            <a:noFill/>
          </a:ln>
        </p:spPr>
        <p:txBody>
          <a:bodyPr wrap="none" lIns="0" tIns="0" rIns="0" bIns="0" anchor="t" anchorCtr="0">
            <a:spAutoFit/>
          </a:bodyPr>
          <a:lstStyle/>
          <a:p>
            <a:pPr algn="l"/>
            <a:r>
              <a:rPr lang="zh-CN" sz="900" dirty="0">
                <a:solidFill>
                  <a:srgbClr val="38BDF8"/>
                </a:solidFill>
                <a:latin typeface="+mn-lt"/>
                <a:ea typeface="+mn-ea"/>
                <a:cs typeface="+mn-cs"/>
              </a:rPr>
              <a:t># 时间解析与批量情感向量化计算</a:t>
            </a:r>
          </a:p>
        </p:txBody>
      </p:sp>
      <p:sp>
        <p:nvSpPr>
          <p:cNvPr id="9" name="TextBox 9"/>
          <p:cNvSpPr txBox="1"/>
          <p:nvPr/>
        </p:nvSpPr>
        <p:spPr>
          <a:xfrm>
            <a:off x="1185862" y="2266950"/>
            <a:ext cx="2052758" cy="176212"/>
          </a:xfrm>
          <a:prstGeom prst="rect">
            <a:avLst/>
          </a:prstGeom>
          <a:noFill/>
          <a:ln>
            <a:noFill/>
          </a:ln>
        </p:spPr>
        <p:txBody>
          <a:bodyPr wrap="none" lIns="0" tIns="0" rIns="0" bIns="0" anchor="t" anchorCtr="0">
            <a:spAutoFit/>
          </a:bodyPr>
          <a:lstStyle/>
          <a:p>
            <a:pPr algn="l"/>
            <a:r>
              <a:rPr lang="en-US" sz="900" dirty="0">
                <a:solidFill>
                  <a:srgbClr val="CBD5E1"/>
                </a:solidFill>
                <a:latin typeface="+mn-lt"/>
                <a:ea typeface="+mn-ea"/>
                <a:cs typeface="+mn-cs"/>
              </a:rPr>
              <a:t>df['date'] = df.date.apply(parser.parse)</a:t>
            </a:r>
          </a:p>
        </p:txBody>
      </p:sp>
      <p:sp>
        <p:nvSpPr>
          <p:cNvPr id="10" name="TextBox 10"/>
          <p:cNvSpPr txBox="1"/>
          <p:nvPr/>
        </p:nvSpPr>
        <p:spPr>
          <a:xfrm>
            <a:off x="1185862" y="2438400"/>
            <a:ext cx="3002103" cy="176212"/>
          </a:xfrm>
          <a:prstGeom prst="rect">
            <a:avLst/>
          </a:prstGeom>
          <a:noFill/>
          <a:ln>
            <a:noFill/>
          </a:ln>
        </p:spPr>
        <p:txBody>
          <a:bodyPr wrap="none" lIns="0" tIns="0" rIns="0" bIns="0" anchor="t" anchorCtr="0">
            <a:spAutoFit/>
          </a:bodyPr>
          <a:lstStyle/>
          <a:p>
            <a:pPr algn="l"/>
            <a:r>
              <a:rPr lang="en-US" sz="900" dirty="0">
                <a:solidFill>
                  <a:srgbClr val="818CF8"/>
                </a:solidFill>
                <a:latin typeface="+mn-lt"/>
                <a:ea typeface="+mn-ea"/>
                <a:cs typeface="+mn-cs"/>
              </a:rPr>
              <a:t>df['sentiments'] = df.comments.apply(get_sentiment_cn)</a:t>
            </a:r>
          </a:p>
        </p:txBody>
      </p:sp>
      <p:sp>
        <p:nvSpPr>
          <p:cNvPr id="11" name="Rectangle 11"/>
          <p:cNvSpPr/>
          <p:nvPr/>
        </p:nvSpPr>
        <p:spPr>
          <a:xfrm>
            <a:off x="1047750" y="2762250"/>
            <a:ext cx="1905000" cy="857250"/>
          </a:xfrm>
          <a:prstGeom prst="roundRect">
            <a:avLst>
              <a:gd name="adj" fmla="val 11111"/>
            </a:avLst>
          </a:prstGeom>
          <a:solidFill>
            <a:srgbClr val="0B132B"/>
          </a:solidFill>
          <a:ln w="14288">
            <a:solidFill>
              <a:srgbClr val="38BDF8"/>
            </a:solidFill>
          </a:ln>
        </p:spPr>
      </p:sp>
      <p:sp>
        <p:nvSpPr>
          <p:cNvPr id="12" name="TextBox 12"/>
          <p:cNvSpPr txBox="1"/>
          <p:nvPr/>
        </p:nvSpPr>
        <p:spPr>
          <a:xfrm>
            <a:off x="1416717" y="2914650"/>
            <a:ext cx="1167066" cy="191643"/>
          </a:xfrm>
          <a:prstGeom prst="rect">
            <a:avLst/>
          </a:prstGeom>
          <a:noFill/>
          <a:ln>
            <a:noFill/>
          </a:ln>
        </p:spPr>
        <p:txBody>
          <a:bodyPr wrap="none" lIns="0" tIns="0" rIns="0" bIns="0" anchor="t" anchorCtr="0">
            <a:spAutoFit/>
          </a:bodyPr>
          <a:lstStyle/>
          <a:p>
            <a:pPr algn="ctr"/>
            <a:r>
              <a:rPr lang="zh-CN" sz="980" dirty="0">
                <a:solidFill>
                  <a:srgbClr val="94A3B8"/>
                </a:solidFill>
                <a:latin typeface="+mn-lt"/>
                <a:ea typeface="+mn-ea"/>
                <a:cs typeface="+mn-cs"/>
              </a:rPr>
              <a:t>均值 Mean (受拉动)</a:t>
            </a:r>
          </a:p>
        </p:txBody>
      </p:sp>
      <p:sp>
        <p:nvSpPr>
          <p:cNvPr id="13" name="TextBox 13"/>
          <p:cNvSpPr txBox="1"/>
          <p:nvPr/>
        </p:nvSpPr>
        <p:spPr>
          <a:xfrm>
            <a:off x="1493927" y="3089275"/>
            <a:ext cx="1012646" cy="469392"/>
          </a:xfrm>
          <a:prstGeom prst="rect">
            <a:avLst/>
          </a:prstGeom>
          <a:noFill/>
          <a:ln>
            <a:noFill/>
          </a:ln>
        </p:spPr>
        <p:txBody>
          <a:bodyPr wrap="none" lIns="0" tIns="0" rIns="0" bIns="0" anchor="t" anchorCtr="0">
            <a:spAutoFit/>
          </a:bodyPr>
          <a:lstStyle/>
          <a:p>
            <a:pPr algn="ctr"/>
            <a:r>
              <a:rPr lang="zh-CN" sz="2400" b="1" dirty="0">
                <a:solidFill>
                  <a:srgbClr val="38BDF8"/>
                </a:solidFill>
                <a:latin typeface="+mn-lt"/>
                <a:ea typeface="+mn-ea"/>
                <a:cs typeface="+mn-cs"/>
              </a:rPr>
              <a:t>0.6988</a:t>
            </a:r>
          </a:p>
        </p:txBody>
      </p:sp>
      <p:sp>
        <p:nvSpPr>
          <p:cNvPr id="14" name="TextBox 14"/>
          <p:cNvSpPr txBox="1"/>
          <p:nvPr/>
        </p:nvSpPr>
        <p:spPr>
          <a:xfrm>
            <a:off x="1277963" y="3441700"/>
            <a:ext cx="1444574" cy="161925"/>
          </a:xfrm>
          <a:prstGeom prst="rect">
            <a:avLst/>
          </a:prstGeom>
          <a:noFill/>
          <a:ln>
            <a:noFill/>
          </a:ln>
        </p:spPr>
        <p:txBody>
          <a:bodyPr wrap="none" lIns="0" tIns="0" rIns="0" bIns="0" anchor="t" anchorCtr="0">
            <a:spAutoFit/>
          </a:bodyPr>
          <a:lstStyle/>
          <a:p>
            <a:pPr algn="ctr"/>
            <a:r>
              <a:rPr lang="zh-CN" sz="820" dirty="0">
                <a:solidFill>
                  <a:srgbClr val="64748B"/>
                </a:solidFill>
                <a:latin typeface="+mn-lt"/>
                <a:ea typeface="+mn-ea"/>
                <a:cs typeface="+mn-cs"/>
              </a:rPr>
              <a:t>看似温和正面，存在统计假象</a:t>
            </a:r>
          </a:p>
        </p:txBody>
      </p:sp>
      <p:sp>
        <p:nvSpPr>
          <p:cNvPr id="15" name="Rectangle 15"/>
          <p:cNvSpPr/>
          <p:nvPr/>
        </p:nvSpPr>
        <p:spPr>
          <a:xfrm>
            <a:off x="3143250" y="2762250"/>
            <a:ext cx="1905000" cy="857250"/>
          </a:xfrm>
          <a:prstGeom prst="roundRect">
            <a:avLst>
              <a:gd name="adj" fmla="val 11111"/>
            </a:avLst>
          </a:prstGeom>
          <a:solidFill>
            <a:srgbClr val="0B132B"/>
          </a:solidFill>
          <a:ln w="14288">
            <a:solidFill>
              <a:srgbClr val="34D399"/>
            </a:solidFill>
          </a:ln>
        </p:spPr>
      </p:sp>
      <p:sp>
        <p:nvSpPr>
          <p:cNvPr id="16" name="TextBox 16"/>
          <p:cNvSpPr txBox="1"/>
          <p:nvPr/>
        </p:nvSpPr>
        <p:spPr>
          <a:xfrm>
            <a:off x="3329514" y="2914650"/>
            <a:ext cx="1532473" cy="191643"/>
          </a:xfrm>
          <a:prstGeom prst="rect">
            <a:avLst/>
          </a:prstGeom>
          <a:noFill/>
          <a:ln>
            <a:noFill/>
          </a:ln>
        </p:spPr>
        <p:txBody>
          <a:bodyPr wrap="none" lIns="0" tIns="0" rIns="0" bIns="0" anchor="t" anchorCtr="0">
            <a:spAutoFit/>
          </a:bodyPr>
          <a:lstStyle/>
          <a:p>
            <a:pPr algn="ctr"/>
            <a:r>
              <a:rPr lang="zh-CN" sz="980" dirty="0">
                <a:solidFill>
                  <a:srgbClr val="94A3B8"/>
                </a:solidFill>
                <a:latin typeface="+mn-lt"/>
                <a:ea typeface="+mn-ea"/>
                <a:cs typeface="+mn-cs"/>
              </a:rPr>
              <a:t>中位数 Median (真实形态)</a:t>
            </a:r>
          </a:p>
        </p:txBody>
      </p:sp>
      <p:sp>
        <p:nvSpPr>
          <p:cNvPr id="17" name="TextBox 17"/>
          <p:cNvSpPr txBox="1"/>
          <p:nvPr/>
        </p:nvSpPr>
        <p:spPr>
          <a:xfrm>
            <a:off x="3589427" y="3089275"/>
            <a:ext cx="1012646" cy="469392"/>
          </a:xfrm>
          <a:prstGeom prst="rect">
            <a:avLst/>
          </a:prstGeom>
          <a:noFill/>
          <a:ln>
            <a:noFill/>
          </a:ln>
        </p:spPr>
        <p:txBody>
          <a:bodyPr wrap="none" lIns="0" tIns="0" rIns="0" bIns="0" anchor="t" anchorCtr="0">
            <a:spAutoFit/>
          </a:bodyPr>
          <a:lstStyle/>
          <a:p>
            <a:pPr algn="ctr"/>
            <a:r>
              <a:rPr lang="zh-CN" sz="2400" b="1" dirty="0">
                <a:solidFill>
                  <a:srgbClr val="34D399"/>
                </a:solidFill>
                <a:latin typeface="+mn-lt"/>
                <a:ea typeface="+mn-ea"/>
                <a:cs typeface="+mn-cs"/>
              </a:rPr>
              <a:t>0.9270</a:t>
            </a:r>
          </a:p>
        </p:txBody>
      </p:sp>
      <p:sp>
        <p:nvSpPr>
          <p:cNvPr id="18" name="TextBox 18"/>
          <p:cNvSpPr txBox="1"/>
          <p:nvPr/>
        </p:nvSpPr>
        <p:spPr>
          <a:xfrm>
            <a:off x="3483851" y="3441700"/>
            <a:ext cx="1223797" cy="161925"/>
          </a:xfrm>
          <a:prstGeom prst="rect">
            <a:avLst/>
          </a:prstGeom>
          <a:noFill/>
          <a:ln>
            <a:noFill/>
          </a:ln>
        </p:spPr>
        <p:txBody>
          <a:bodyPr wrap="none" lIns="0" tIns="0" rIns="0" bIns="0" anchor="t" anchorCtr="0">
            <a:spAutoFit/>
          </a:bodyPr>
          <a:lstStyle/>
          <a:p>
            <a:pPr algn="ctr"/>
            <a:r>
              <a:rPr lang="zh-CN" sz="820" dirty="0">
                <a:solidFill>
                  <a:srgbClr val="64748B"/>
                </a:solidFill>
                <a:latin typeface="+mn-lt"/>
                <a:ea typeface="+mn-ea"/>
                <a:cs typeface="+mn-cs"/>
              </a:rPr>
              <a:t>接近完全正面，极度满意</a:t>
            </a:r>
          </a:p>
        </p:txBody>
      </p:sp>
      <p:sp>
        <p:nvSpPr>
          <p:cNvPr id="19" name="TextBox 19"/>
          <p:cNvSpPr txBox="1"/>
          <p:nvPr/>
        </p:nvSpPr>
        <p:spPr>
          <a:xfrm>
            <a:off x="1042035" y="3813175"/>
            <a:ext cx="1719372" cy="220028"/>
          </a:xfrm>
          <a:prstGeom prst="rect">
            <a:avLst/>
          </a:prstGeom>
          <a:noFill/>
          <a:ln>
            <a:noFill/>
          </a:ln>
        </p:spPr>
        <p:txBody>
          <a:bodyPr wrap="none" lIns="0" tIns="0" rIns="0" bIns="0" anchor="t" anchorCtr="0">
            <a:spAutoFit/>
          </a:bodyPr>
          <a:lstStyle/>
          <a:p>
            <a:pPr algn="l"/>
            <a:r>
              <a:rPr lang="zh-CN" sz="1120" b="1" dirty="0">
                <a:solidFill>
                  <a:srgbClr val="F8FAFC"/>
                </a:solidFill>
                <a:latin typeface="+mn-lt"/>
                <a:ea typeface="+mn-ea"/>
                <a:cs typeface="+mn-cs"/>
              </a:rPr>
              <a:t>📊 偏态分布管理学启示：</a:t>
            </a:r>
          </a:p>
        </p:txBody>
      </p:sp>
      <p:sp>
        <p:nvSpPr>
          <p:cNvPr id="20" name="TextBox 20"/>
          <p:cNvSpPr txBox="1"/>
          <p:nvPr/>
        </p:nvSpPr>
        <p:spPr>
          <a:xfrm>
            <a:off x="1042797" y="4095750"/>
            <a:ext cx="2536209" cy="191643"/>
          </a:xfrm>
          <a:prstGeom prst="rect">
            <a:avLst/>
          </a:prstGeom>
          <a:noFill/>
          <a:ln>
            <a:noFill/>
          </a:ln>
        </p:spPr>
        <p:txBody>
          <a:bodyPr wrap="none" lIns="0" tIns="0" rIns="0" bIns="0" anchor="t" anchorCtr="0">
            <a:spAutoFit/>
          </a:bodyPr>
          <a:lstStyle/>
          <a:p>
            <a:pPr marL="78148" indent="-78148" algn="l">
              <a:buClr>
                <a:srgbClr val="CBD5E1"/>
              </a:buClr>
              <a:buSzTx/>
              <a:buFontTx/>
              <a:buChar char="•"/>
            </a:pPr>
            <a:r>
              <a:rPr lang="zh-CN" sz="980" dirty="0">
                <a:solidFill>
                  <a:srgbClr val="CBD5E1"/>
                </a:solidFill>
                <a:latin typeface="+mn-lt"/>
                <a:ea typeface="+mn-ea"/>
                <a:cs typeface="+mn-cs"/>
              </a:rPr>
              <a:t>典型**左偏分布**：中位数显著高于平均数</a:t>
            </a:r>
          </a:p>
        </p:txBody>
      </p:sp>
      <p:sp>
        <p:nvSpPr>
          <p:cNvPr id="21" name="TextBox 21"/>
          <p:cNvSpPr txBox="1"/>
          <p:nvPr/>
        </p:nvSpPr>
        <p:spPr>
          <a:xfrm>
            <a:off x="1042797" y="4333875"/>
            <a:ext cx="3386244" cy="191643"/>
          </a:xfrm>
          <a:prstGeom prst="rect">
            <a:avLst/>
          </a:prstGeom>
          <a:noFill/>
          <a:ln>
            <a:noFill/>
          </a:ln>
        </p:spPr>
        <p:txBody>
          <a:bodyPr wrap="none" lIns="0" tIns="0" rIns="0" bIns="0" anchor="t" anchorCtr="0">
            <a:spAutoFit/>
          </a:bodyPr>
          <a:lstStyle/>
          <a:p>
            <a:pPr marL="78148" indent="-78148" algn="l">
              <a:buClr>
                <a:srgbClr val="CBD5E1"/>
              </a:buClr>
              <a:buSzTx/>
              <a:buFontTx/>
              <a:buChar char="•"/>
            </a:pPr>
            <a:r>
              <a:rPr lang="zh-CN" sz="980" dirty="0">
                <a:solidFill>
                  <a:srgbClr val="CBD5E1"/>
                </a:solidFill>
                <a:latin typeface="+mn-lt"/>
                <a:ea typeface="+mn-ea"/>
                <a:cs typeface="+mn-cs"/>
              </a:rPr>
              <a:t>绝大部分顾客给出满分，仅个别极端负向点拽低整体均值</a:t>
            </a:r>
          </a:p>
        </p:txBody>
      </p:sp>
      <p:sp>
        <p:nvSpPr>
          <p:cNvPr id="22" name="TextBox 22"/>
          <p:cNvSpPr txBox="1"/>
          <p:nvPr/>
        </p:nvSpPr>
        <p:spPr>
          <a:xfrm>
            <a:off x="1042797" y="4572000"/>
            <a:ext cx="3078325" cy="191643"/>
          </a:xfrm>
          <a:prstGeom prst="rect">
            <a:avLst/>
          </a:prstGeom>
          <a:noFill/>
          <a:ln>
            <a:noFill/>
          </a:ln>
        </p:spPr>
        <p:txBody>
          <a:bodyPr wrap="none" lIns="0" tIns="0" rIns="0" bIns="0" anchor="t" anchorCtr="0">
            <a:spAutoFit/>
          </a:bodyPr>
          <a:lstStyle/>
          <a:p>
            <a:pPr marL="78148" indent="-78148" algn="l">
              <a:buClr>
                <a:srgbClr val="CBD5E1"/>
              </a:buClr>
              <a:buSzTx/>
              <a:buFontTx/>
              <a:buChar char="•"/>
            </a:pPr>
            <a:r>
              <a:rPr lang="zh-CN" sz="980" dirty="0">
                <a:solidFill>
                  <a:srgbClr val="CBD5E1"/>
                </a:solidFill>
                <a:latin typeface="+mn-lt"/>
                <a:ea typeface="+mn-ea"/>
                <a:cs typeface="+mn-cs"/>
              </a:rPr>
              <a:t>自动化算法的核心价值在于精准定位这部分“异常点”</a:t>
            </a:r>
          </a:p>
        </p:txBody>
      </p:sp>
      <p:sp>
        <p:nvSpPr>
          <p:cNvPr id="23" name="TextBox 23"/>
          <p:cNvSpPr txBox="1"/>
          <p:nvPr/>
        </p:nvSpPr>
        <p:spPr>
          <a:xfrm>
            <a:off x="1042797" y="5029200"/>
            <a:ext cx="3219414" cy="191643"/>
          </a:xfrm>
          <a:prstGeom prst="rect">
            <a:avLst/>
          </a:prstGeom>
          <a:noFill/>
          <a:ln>
            <a:noFill/>
          </a:ln>
        </p:spPr>
        <p:txBody>
          <a:bodyPr wrap="none" lIns="0" tIns="0" rIns="0" bIns="0" anchor="t" anchorCtr="0">
            <a:spAutoFit/>
          </a:bodyPr>
          <a:lstStyle/>
          <a:p>
            <a:pPr algn="l"/>
            <a:r>
              <a:rPr lang="zh-CN" sz="980" b="1" dirty="0">
                <a:solidFill>
                  <a:srgbClr val="34D399"/>
                </a:solidFill>
                <a:latin typeface="+mn-lt"/>
                <a:ea typeface="+mn-ea"/>
                <a:cs typeface="+mn-cs"/>
              </a:rPr>
              <a:t>✅ 决策赋能：用排序切片精准挖掘异常，无需人工翻阅</a:t>
            </a:r>
          </a:p>
        </p:txBody>
      </p:sp>
      <p:sp>
        <p:nvSpPr>
          <p:cNvPr id="24" name="Rectangle 24"/>
          <p:cNvSpPr/>
          <p:nvPr/>
        </p:nvSpPr>
        <p:spPr>
          <a:xfrm>
            <a:off x="5524500" y="1381125"/>
            <a:ext cx="5905500" cy="4048125"/>
          </a:xfrm>
          <a:prstGeom prst="roundRect">
            <a:avLst>
              <a:gd name="adj" fmla="val 3765"/>
            </a:avLst>
          </a:prstGeom>
          <a:solidFill>
            <a:srgbClr val="1C2541"/>
          </a:solidFill>
          <a:ln w="14288">
            <a:solidFill>
              <a:srgbClr val="334155"/>
            </a:solidFill>
          </a:ln>
        </p:spPr>
      </p:sp>
      <p:sp>
        <p:nvSpPr>
          <p:cNvPr id="25" name="TextBox 25"/>
          <p:cNvSpPr txBox="1"/>
          <p:nvPr/>
        </p:nvSpPr>
        <p:spPr>
          <a:xfrm>
            <a:off x="5755767" y="1549400"/>
            <a:ext cx="4163499" cy="264033"/>
          </a:xfrm>
          <a:prstGeom prst="rect">
            <a:avLst/>
          </a:prstGeom>
          <a:noFill/>
          <a:ln>
            <a:noFill/>
          </a:ln>
        </p:spPr>
        <p:txBody>
          <a:bodyPr wrap="none" lIns="0" tIns="0" rIns="0" bIns="0" anchor="t" anchorCtr="0">
            <a:spAutoFit/>
          </a:bodyPr>
          <a:lstStyle/>
          <a:p>
            <a:pPr algn="l"/>
            <a:r>
              <a:rPr lang="zh-CN" sz="1350" b="1" dirty="0">
                <a:solidFill>
                  <a:srgbClr val="F8FAFC"/>
                </a:solidFill>
                <a:latin typeface="+mn-lt"/>
                <a:ea typeface="+mn-ea"/>
                <a:cs typeface="+mn-cs"/>
              </a:rPr>
              <a:t>时间序列散点折线与极端异常点定位 (output_26_0)</a:t>
            </a:r>
          </a:p>
        </p:txBody>
      </p:sp>
      <p:sp>
        <p:nvSpPr>
          <p:cNvPr id="26" name="Rectangle 26"/>
          <p:cNvSpPr/>
          <p:nvPr/>
        </p:nvSpPr>
        <p:spPr>
          <a:xfrm>
            <a:off x="5762625" y="1857375"/>
            <a:ext cx="5429250" cy="1428750"/>
          </a:xfrm>
          <a:prstGeom prst="roundRect">
            <a:avLst>
              <a:gd name="adj" fmla="val 6667"/>
            </a:avLst>
          </a:prstGeom>
          <a:solidFill>
            <a:srgbClr val="0B132B"/>
          </a:solidFill>
          <a:ln w="9525">
            <a:solidFill>
              <a:srgbClr val="334155"/>
            </a:solidFill>
          </a:ln>
        </p:spPr>
      </p:sp>
      <p:sp>
        <p:nvSpPr>
          <p:cNvPr id="27" name="Line 27"/>
          <p:cNvSpPr/>
          <p:nvPr/>
        </p:nvSpPr>
        <p:spPr>
          <a:xfrm>
            <a:off x="6096000" y="3000375"/>
            <a:ext cx="4810125" cy="9525"/>
          </a:xfrm>
          <a:custGeom>
            <a:avLst/>
            <a:gdLst/>
            <a:ahLst/>
            <a:cxnLst/>
            <a:rect l="l" t="t" r="r" b="b"/>
            <a:pathLst>
              <a:path w="4810125" h="9525">
                <a:moveTo>
                  <a:pt x="0" y="0"/>
                </a:moveTo>
                <a:lnTo>
                  <a:pt x="4810125" y="0"/>
                </a:lnTo>
              </a:path>
            </a:pathLst>
          </a:custGeom>
          <a:noFill/>
          <a:ln w="9525">
            <a:solidFill>
              <a:srgbClr val="475569"/>
            </a:solidFill>
          </a:ln>
        </p:spPr>
      </p:sp>
      <p:sp>
        <p:nvSpPr>
          <p:cNvPr id="28" name="Line 28"/>
          <p:cNvSpPr/>
          <p:nvPr/>
        </p:nvSpPr>
        <p:spPr>
          <a:xfrm>
            <a:off x="6096000" y="2047875"/>
            <a:ext cx="9525" cy="952500"/>
          </a:xfrm>
          <a:custGeom>
            <a:avLst/>
            <a:gdLst/>
            <a:ahLst/>
            <a:cxnLst/>
            <a:rect l="l" t="t" r="r" b="b"/>
            <a:pathLst>
              <a:path w="9525" h="952500">
                <a:moveTo>
                  <a:pt x="0" y="0"/>
                </a:moveTo>
                <a:lnTo>
                  <a:pt x="0" y="952500"/>
                </a:lnTo>
              </a:path>
            </a:pathLst>
          </a:custGeom>
          <a:noFill/>
          <a:ln w="9525">
            <a:solidFill>
              <a:srgbClr val="475569"/>
            </a:solidFill>
          </a:ln>
        </p:spPr>
      </p:sp>
      <p:sp>
        <p:nvSpPr>
          <p:cNvPr id="29" name="TextBox 29"/>
          <p:cNvSpPr txBox="1"/>
          <p:nvPr/>
        </p:nvSpPr>
        <p:spPr>
          <a:xfrm>
            <a:off x="5903251" y="2054225"/>
            <a:ext cx="149887" cy="147638"/>
          </a:xfrm>
          <a:prstGeom prst="rect">
            <a:avLst/>
          </a:prstGeom>
          <a:noFill/>
          <a:ln>
            <a:noFill/>
          </a:ln>
        </p:spPr>
        <p:txBody>
          <a:bodyPr wrap="none" lIns="0" tIns="0" rIns="0" bIns="0" anchor="t" anchorCtr="0">
            <a:spAutoFit/>
          </a:bodyPr>
          <a:lstStyle/>
          <a:p>
            <a:pPr algn="r"/>
            <a:r>
              <a:rPr lang="zh-CN" sz="750" dirty="0">
                <a:solidFill>
                  <a:srgbClr val="64748B"/>
                </a:solidFill>
                <a:latin typeface="+mn-lt"/>
                <a:ea typeface="+mn-ea"/>
                <a:cs typeface="+mn-cs"/>
              </a:rPr>
              <a:t>1.0</a:t>
            </a:r>
          </a:p>
        </p:txBody>
      </p:sp>
      <p:sp>
        <p:nvSpPr>
          <p:cNvPr id="30" name="TextBox 30"/>
          <p:cNvSpPr txBox="1"/>
          <p:nvPr/>
        </p:nvSpPr>
        <p:spPr>
          <a:xfrm>
            <a:off x="5903251" y="2435225"/>
            <a:ext cx="149887" cy="147638"/>
          </a:xfrm>
          <a:prstGeom prst="rect">
            <a:avLst/>
          </a:prstGeom>
          <a:noFill/>
          <a:ln>
            <a:noFill/>
          </a:ln>
        </p:spPr>
        <p:txBody>
          <a:bodyPr wrap="none" lIns="0" tIns="0" rIns="0" bIns="0" anchor="t" anchorCtr="0">
            <a:spAutoFit/>
          </a:bodyPr>
          <a:lstStyle/>
          <a:p>
            <a:pPr algn="r"/>
            <a:r>
              <a:rPr lang="zh-CN" sz="750" dirty="0">
                <a:solidFill>
                  <a:srgbClr val="64748B"/>
                </a:solidFill>
                <a:latin typeface="+mn-lt"/>
                <a:ea typeface="+mn-ea"/>
                <a:cs typeface="+mn-cs"/>
              </a:rPr>
              <a:t>0.5</a:t>
            </a:r>
          </a:p>
        </p:txBody>
      </p:sp>
      <p:sp>
        <p:nvSpPr>
          <p:cNvPr id="31" name="TextBox 31"/>
          <p:cNvSpPr txBox="1"/>
          <p:nvPr/>
        </p:nvSpPr>
        <p:spPr>
          <a:xfrm>
            <a:off x="5903251" y="2911475"/>
            <a:ext cx="149887" cy="147638"/>
          </a:xfrm>
          <a:prstGeom prst="rect">
            <a:avLst/>
          </a:prstGeom>
          <a:noFill/>
          <a:ln>
            <a:noFill/>
          </a:ln>
        </p:spPr>
        <p:txBody>
          <a:bodyPr wrap="none" lIns="0" tIns="0" rIns="0" bIns="0" anchor="t" anchorCtr="0">
            <a:spAutoFit/>
          </a:bodyPr>
          <a:lstStyle/>
          <a:p>
            <a:pPr algn="r"/>
            <a:r>
              <a:rPr lang="zh-CN" sz="750" dirty="0">
                <a:solidFill>
                  <a:srgbClr val="64748B"/>
                </a:solidFill>
                <a:latin typeface="+mn-lt"/>
                <a:ea typeface="+mn-ea"/>
                <a:cs typeface="+mn-cs"/>
              </a:rPr>
              <a:t>0.0</a:t>
            </a:r>
          </a:p>
        </p:txBody>
      </p:sp>
      <p:sp>
        <p:nvSpPr>
          <p:cNvPr id="32" name="TextBox 32"/>
          <p:cNvSpPr txBox="1"/>
          <p:nvPr/>
        </p:nvSpPr>
        <p:spPr>
          <a:xfrm>
            <a:off x="6186488" y="3073400"/>
            <a:ext cx="380087"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2017-02</a:t>
            </a:r>
          </a:p>
        </p:txBody>
      </p:sp>
      <p:sp>
        <p:nvSpPr>
          <p:cNvPr id="33" name="TextBox 33"/>
          <p:cNvSpPr txBox="1"/>
          <p:nvPr/>
        </p:nvSpPr>
        <p:spPr>
          <a:xfrm>
            <a:off x="8091488" y="3073400"/>
            <a:ext cx="380087"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2017-04</a:t>
            </a:r>
          </a:p>
        </p:txBody>
      </p:sp>
      <p:sp>
        <p:nvSpPr>
          <p:cNvPr id="34" name="TextBox 34"/>
          <p:cNvSpPr txBox="1"/>
          <p:nvPr/>
        </p:nvSpPr>
        <p:spPr>
          <a:xfrm>
            <a:off x="10472738" y="3073400"/>
            <a:ext cx="380087"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2017-05</a:t>
            </a:r>
          </a:p>
        </p:txBody>
      </p:sp>
      <p:sp>
        <p:nvSpPr>
          <p:cNvPr id="35" name="Polyline 35"/>
          <p:cNvSpPr/>
          <p:nvPr/>
        </p:nvSpPr>
        <p:spPr>
          <a:xfrm>
            <a:off x="6334125" y="2143125"/>
            <a:ext cx="4333875" cy="838200"/>
          </a:xfrm>
          <a:custGeom>
            <a:avLst/>
            <a:gdLst/>
            <a:ahLst/>
            <a:cxnLst/>
            <a:rect l="l" t="t" r="r" b="b"/>
            <a:pathLst>
              <a:path w="4333875" h="838200">
                <a:moveTo>
                  <a:pt x="0" y="838200"/>
                </a:moveTo>
                <a:lnTo>
                  <a:pt x="523875" y="0"/>
                </a:lnTo>
                <a:lnTo>
                  <a:pt x="1190625" y="9525"/>
                </a:lnTo>
                <a:lnTo>
                  <a:pt x="1571625" y="809625"/>
                </a:lnTo>
                <a:lnTo>
                  <a:pt x="1952625" y="0"/>
                </a:lnTo>
                <a:lnTo>
                  <a:pt x="2524125" y="9525"/>
                </a:lnTo>
                <a:lnTo>
                  <a:pt x="3000375" y="762000"/>
                </a:lnTo>
                <a:lnTo>
                  <a:pt x="3571875" y="0"/>
                </a:lnTo>
                <a:lnTo>
                  <a:pt x="4333875" y="9525"/>
                </a:lnTo>
              </a:path>
            </a:pathLst>
          </a:custGeom>
          <a:noFill/>
          <a:ln w="14288">
            <a:solidFill>
              <a:srgbClr val="EF4444"/>
            </a:solidFill>
            <a:custDash>
              <a:ds d="266667" sp="200000"/>
            </a:custDash>
          </a:ln>
        </p:spPr>
      </p:sp>
      <p:sp>
        <p:nvSpPr>
          <p:cNvPr id="36" name="Ellipse 36"/>
          <p:cNvSpPr/>
          <p:nvPr/>
        </p:nvSpPr>
        <p:spPr>
          <a:xfrm>
            <a:off x="6286500" y="2933700"/>
            <a:ext cx="95250" cy="95250"/>
          </a:xfrm>
          <a:prstGeom prst="ellipse">
            <a:avLst/>
          </a:prstGeom>
          <a:solidFill>
            <a:srgbClr val="EF4444"/>
          </a:solidFill>
          <a:ln>
            <a:noFill/>
          </a:ln>
        </p:spPr>
      </p:sp>
      <p:sp>
        <p:nvSpPr>
          <p:cNvPr id="37" name="Ellipse 37"/>
          <p:cNvSpPr/>
          <p:nvPr/>
        </p:nvSpPr>
        <p:spPr>
          <a:xfrm>
            <a:off x="6819900" y="2105025"/>
            <a:ext cx="76200" cy="76200"/>
          </a:xfrm>
          <a:prstGeom prst="ellipse">
            <a:avLst/>
          </a:prstGeom>
          <a:solidFill>
            <a:srgbClr val="38BDF8"/>
          </a:solidFill>
          <a:ln>
            <a:noFill/>
          </a:ln>
        </p:spPr>
      </p:sp>
      <p:sp>
        <p:nvSpPr>
          <p:cNvPr id="38" name="Ellipse 38"/>
          <p:cNvSpPr/>
          <p:nvPr/>
        </p:nvSpPr>
        <p:spPr>
          <a:xfrm>
            <a:off x="7200900" y="2105025"/>
            <a:ext cx="76200" cy="76200"/>
          </a:xfrm>
          <a:prstGeom prst="ellipse">
            <a:avLst/>
          </a:prstGeom>
          <a:solidFill>
            <a:srgbClr val="38BDF8"/>
          </a:solidFill>
          <a:ln>
            <a:noFill/>
          </a:ln>
        </p:spPr>
      </p:sp>
      <p:sp>
        <p:nvSpPr>
          <p:cNvPr id="39" name="Ellipse 39"/>
          <p:cNvSpPr/>
          <p:nvPr/>
        </p:nvSpPr>
        <p:spPr>
          <a:xfrm>
            <a:off x="7486650" y="2114550"/>
            <a:ext cx="76200" cy="76200"/>
          </a:xfrm>
          <a:prstGeom prst="ellipse">
            <a:avLst/>
          </a:prstGeom>
          <a:solidFill>
            <a:srgbClr val="38BDF8"/>
          </a:solidFill>
          <a:ln>
            <a:noFill/>
          </a:ln>
        </p:spPr>
      </p:sp>
      <p:sp>
        <p:nvSpPr>
          <p:cNvPr id="40" name="Ellipse 40"/>
          <p:cNvSpPr/>
          <p:nvPr/>
        </p:nvSpPr>
        <p:spPr>
          <a:xfrm>
            <a:off x="7867650" y="2914650"/>
            <a:ext cx="76200" cy="76200"/>
          </a:xfrm>
          <a:prstGeom prst="ellipse">
            <a:avLst/>
          </a:prstGeom>
          <a:solidFill>
            <a:srgbClr val="F59E0B"/>
          </a:solidFill>
          <a:ln>
            <a:noFill/>
          </a:ln>
        </p:spPr>
      </p:sp>
      <p:sp>
        <p:nvSpPr>
          <p:cNvPr id="41" name="Ellipse 41"/>
          <p:cNvSpPr/>
          <p:nvPr/>
        </p:nvSpPr>
        <p:spPr>
          <a:xfrm>
            <a:off x="8248650" y="2105025"/>
            <a:ext cx="76200" cy="76200"/>
          </a:xfrm>
          <a:prstGeom prst="ellipse">
            <a:avLst/>
          </a:prstGeom>
          <a:solidFill>
            <a:srgbClr val="38BDF8"/>
          </a:solidFill>
          <a:ln>
            <a:noFill/>
          </a:ln>
        </p:spPr>
      </p:sp>
      <p:sp>
        <p:nvSpPr>
          <p:cNvPr id="42" name="Ellipse 42"/>
          <p:cNvSpPr/>
          <p:nvPr/>
        </p:nvSpPr>
        <p:spPr>
          <a:xfrm>
            <a:off x="8820150" y="2114550"/>
            <a:ext cx="76200" cy="76200"/>
          </a:xfrm>
          <a:prstGeom prst="ellipse">
            <a:avLst/>
          </a:prstGeom>
          <a:solidFill>
            <a:srgbClr val="38BDF8"/>
          </a:solidFill>
          <a:ln>
            <a:noFill/>
          </a:ln>
        </p:spPr>
      </p:sp>
      <p:sp>
        <p:nvSpPr>
          <p:cNvPr id="43" name="Ellipse 43"/>
          <p:cNvSpPr/>
          <p:nvPr/>
        </p:nvSpPr>
        <p:spPr>
          <a:xfrm>
            <a:off x="9296400" y="2867025"/>
            <a:ext cx="76200" cy="76200"/>
          </a:xfrm>
          <a:prstGeom prst="ellipse">
            <a:avLst/>
          </a:prstGeom>
          <a:solidFill>
            <a:srgbClr val="F59E0B"/>
          </a:solidFill>
          <a:ln>
            <a:noFill/>
          </a:ln>
        </p:spPr>
      </p:sp>
      <p:sp>
        <p:nvSpPr>
          <p:cNvPr id="44" name="Ellipse 44"/>
          <p:cNvSpPr/>
          <p:nvPr/>
        </p:nvSpPr>
        <p:spPr>
          <a:xfrm>
            <a:off x="9867900" y="2105025"/>
            <a:ext cx="76200" cy="76200"/>
          </a:xfrm>
          <a:prstGeom prst="ellipse">
            <a:avLst/>
          </a:prstGeom>
          <a:solidFill>
            <a:srgbClr val="38BDF8"/>
          </a:solidFill>
          <a:ln>
            <a:noFill/>
          </a:ln>
        </p:spPr>
      </p:sp>
      <p:sp>
        <p:nvSpPr>
          <p:cNvPr id="45" name="Ellipse 45"/>
          <p:cNvSpPr/>
          <p:nvPr/>
        </p:nvSpPr>
        <p:spPr>
          <a:xfrm>
            <a:off x="10248900" y="2105025"/>
            <a:ext cx="76200" cy="76200"/>
          </a:xfrm>
          <a:prstGeom prst="ellipse">
            <a:avLst/>
          </a:prstGeom>
          <a:solidFill>
            <a:srgbClr val="38BDF8"/>
          </a:solidFill>
          <a:ln>
            <a:noFill/>
          </a:ln>
        </p:spPr>
      </p:sp>
      <p:sp>
        <p:nvSpPr>
          <p:cNvPr id="46" name="Ellipse 46"/>
          <p:cNvSpPr/>
          <p:nvPr/>
        </p:nvSpPr>
        <p:spPr>
          <a:xfrm>
            <a:off x="10629900" y="2114550"/>
            <a:ext cx="76200" cy="76200"/>
          </a:xfrm>
          <a:prstGeom prst="ellipse">
            <a:avLst/>
          </a:prstGeom>
          <a:solidFill>
            <a:srgbClr val="38BDF8"/>
          </a:solidFill>
          <a:ln>
            <a:noFill/>
          </a:ln>
        </p:spPr>
      </p:sp>
      <p:sp>
        <p:nvSpPr>
          <p:cNvPr id="47" name="Rectangle 47"/>
          <p:cNvSpPr/>
          <p:nvPr/>
        </p:nvSpPr>
        <p:spPr>
          <a:xfrm>
            <a:off x="6477000" y="2619375"/>
            <a:ext cx="1524000" cy="285750"/>
          </a:xfrm>
          <a:prstGeom prst="roundRect">
            <a:avLst>
              <a:gd name="adj" fmla="val 20000"/>
            </a:avLst>
          </a:prstGeom>
          <a:solidFill>
            <a:srgbClr val="EF4444">
              <a:alpha val="20000"/>
            </a:srgbClr>
          </a:solidFill>
          <a:ln w="9525">
            <a:solidFill>
              <a:srgbClr val="EF4444"/>
            </a:solidFill>
          </a:ln>
        </p:spPr>
      </p:sp>
      <p:sp>
        <p:nvSpPr>
          <p:cNvPr id="48" name="TextBox 48"/>
          <p:cNvSpPr txBox="1"/>
          <p:nvPr/>
        </p:nvSpPr>
        <p:spPr>
          <a:xfrm>
            <a:off x="6480097" y="2708275"/>
            <a:ext cx="1517806" cy="161925"/>
          </a:xfrm>
          <a:prstGeom prst="rect">
            <a:avLst/>
          </a:prstGeom>
          <a:noFill/>
          <a:ln>
            <a:noFill/>
          </a:ln>
        </p:spPr>
        <p:txBody>
          <a:bodyPr wrap="none" lIns="0" tIns="0" rIns="0" bIns="0" anchor="t" anchorCtr="0">
            <a:spAutoFit/>
          </a:bodyPr>
          <a:lstStyle/>
          <a:p>
            <a:pPr algn="ctr"/>
            <a:r>
              <a:rPr lang="zh-CN" sz="820" b="1" dirty="0">
                <a:solidFill>
                  <a:srgbClr val="EF4444"/>
                </a:solidFill>
                <a:latin typeface="+mn-lt"/>
                <a:ea typeface="+mn-ea"/>
                <a:cs typeface="+mn-cs"/>
              </a:rPr>
              <a:t>⚠️ 情人节极端断崖点 (6.33e-8)</a:t>
            </a:r>
          </a:p>
        </p:txBody>
      </p:sp>
      <p:sp>
        <p:nvSpPr>
          <p:cNvPr id="49" name="Rectangle 49"/>
          <p:cNvSpPr/>
          <p:nvPr/>
        </p:nvSpPr>
        <p:spPr>
          <a:xfrm>
            <a:off x="5762625" y="3409950"/>
            <a:ext cx="5429250" cy="1857375"/>
          </a:xfrm>
          <a:prstGeom prst="roundRect">
            <a:avLst>
              <a:gd name="adj" fmla="val 5128"/>
            </a:avLst>
          </a:prstGeom>
          <a:solidFill>
            <a:srgbClr val="0B132B"/>
          </a:solidFill>
          <a:ln w="9525">
            <a:solidFill>
              <a:srgbClr val="334155"/>
            </a:solidFill>
          </a:ln>
        </p:spPr>
      </p:sp>
      <p:sp>
        <p:nvSpPr>
          <p:cNvPr id="50" name="TextBox 50"/>
          <p:cNvSpPr txBox="1"/>
          <p:nvPr/>
        </p:nvSpPr>
        <p:spPr>
          <a:xfrm>
            <a:off x="5947791" y="3540125"/>
            <a:ext cx="3038774" cy="205359"/>
          </a:xfrm>
          <a:prstGeom prst="rect">
            <a:avLst/>
          </a:prstGeom>
          <a:noFill/>
          <a:ln>
            <a:noFill/>
          </a:ln>
        </p:spPr>
        <p:txBody>
          <a:bodyPr wrap="none" lIns="0" tIns="0" rIns="0" bIns="0" anchor="t" anchorCtr="0">
            <a:spAutoFit/>
          </a:bodyPr>
          <a:lstStyle/>
          <a:p>
            <a:pPr algn="l"/>
            <a:r>
              <a:rPr lang="zh-CN" sz="1050" b="1" dirty="0">
                <a:solidFill>
                  <a:srgbClr val="EF4444"/>
                </a:solidFill>
                <a:latin typeface="+mn-lt"/>
                <a:ea typeface="+mn-ea"/>
                <a:cs typeface="+mn-cs"/>
              </a:rPr>
              <a:t>异常点追踪：df.sort_values(['sentiments'])[:1]</a:t>
            </a:r>
          </a:p>
        </p:txBody>
      </p:sp>
      <p:sp>
        <p:nvSpPr>
          <p:cNvPr id="51" name="TextBox 51"/>
          <p:cNvSpPr txBox="1"/>
          <p:nvPr/>
        </p:nvSpPr>
        <p:spPr>
          <a:xfrm>
            <a:off x="5948362" y="3790950"/>
            <a:ext cx="4027900" cy="176212"/>
          </a:xfrm>
          <a:prstGeom prst="rect">
            <a:avLst/>
          </a:prstGeom>
          <a:noFill/>
          <a:ln>
            <a:noFill/>
          </a:ln>
        </p:spPr>
        <p:txBody>
          <a:bodyPr wrap="none" lIns="0" tIns="0" rIns="0" bIns="0" anchor="t" anchorCtr="0">
            <a:spAutoFit/>
          </a:bodyPr>
          <a:lstStyle/>
          <a:p>
            <a:pPr algn="l"/>
            <a:r>
              <a:rPr lang="zh-CN" sz="900" dirty="0">
                <a:solidFill>
                  <a:srgbClr val="CBD5E1"/>
                </a:solidFill>
                <a:latin typeface="+mn-lt"/>
                <a:ea typeface="+mn-ea"/>
                <a:cs typeface="+mn-cs"/>
              </a:rPr>
              <a:t>“这次是在情人节当天过去的...排号到一百多号，等到最后晚上九点才吃上，</a:t>
            </a:r>
          </a:p>
        </p:txBody>
      </p:sp>
      <p:sp>
        <p:nvSpPr>
          <p:cNvPr id="52" name="TextBox 52"/>
          <p:cNvSpPr txBox="1"/>
          <p:nvPr/>
        </p:nvSpPr>
        <p:spPr>
          <a:xfrm>
            <a:off x="5948362" y="3981450"/>
            <a:ext cx="3926999" cy="176212"/>
          </a:xfrm>
          <a:prstGeom prst="rect">
            <a:avLst/>
          </a:prstGeom>
          <a:noFill/>
          <a:ln>
            <a:noFill/>
          </a:ln>
        </p:spPr>
        <p:txBody>
          <a:bodyPr wrap="none" lIns="0" tIns="0" rIns="0" bIns="0" anchor="t" anchorCtr="0">
            <a:spAutoFit/>
          </a:bodyPr>
          <a:lstStyle/>
          <a:p>
            <a:pPr algn="l"/>
            <a:r>
              <a:rPr lang="zh-CN" sz="900" dirty="0">
                <a:solidFill>
                  <a:srgbClr val="CBD5E1"/>
                </a:solidFill>
                <a:latin typeface="+mn-lt"/>
                <a:ea typeface="+mn-ea"/>
                <a:cs typeface="+mn-cs"/>
              </a:rPr>
              <a:t>没想到悲剧了...服务员很累没以前周到...环境太吵了...味道还是一如既往...</a:t>
            </a:r>
          </a:p>
        </p:txBody>
      </p:sp>
      <p:sp>
        <p:nvSpPr>
          <p:cNvPr id="53" name="TextBox 53"/>
          <p:cNvSpPr txBox="1"/>
          <p:nvPr/>
        </p:nvSpPr>
        <p:spPr>
          <a:xfrm>
            <a:off x="5948362" y="4171950"/>
            <a:ext cx="4012313" cy="176212"/>
          </a:xfrm>
          <a:prstGeom prst="rect">
            <a:avLst/>
          </a:prstGeom>
          <a:noFill/>
          <a:ln>
            <a:noFill/>
          </a:ln>
        </p:spPr>
        <p:txBody>
          <a:bodyPr wrap="none" lIns="0" tIns="0" rIns="0" bIns="0" anchor="t" anchorCtr="0">
            <a:spAutoFit/>
          </a:bodyPr>
          <a:lstStyle/>
          <a:p>
            <a:pPr algn="l"/>
            <a:r>
              <a:rPr lang="zh-CN" sz="900" dirty="0">
                <a:solidFill>
                  <a:srgbClr val="34D399"/>
                </a:solidFill>
                <a:latin typeface="+mn-lt"/>
                <a:ea typeface="+mn-ea"/>
                <a:cs typeface="+mn-cs"/>
              </a:rPr>
              <a:t>不愧是A餐厅最人性化，看我们等了两个多小时，送了当次可用的打折卡！”</a:t>
            </a:r>
          </a:p>
        </p:txBody>
      </p:sp>
      <p:sp>
        <p:nvSpPr>
          <p:cNvPr id="54" name="Line 54"/>
          <p:cNvSpPr/>
          <p:nvPr/>
        </p:nvSpPr>
        <p:spPr>
          <a:xfrm>
            <a:off x="5953125" y="4429125"/>
            <a:ext cx="5048250" cy="9525"/>
          </a:xfrm>
          <a:custGeom>
            <a:avLst/>
            <a:gdLst/>
            <a:ahLst/>
            <a:cxnLst/>
            <a:rect l="l" t="t" r="r" b="b"/>
            <a:pathLst>
              <a:path w="5048250" h="9525">
                <a:moveTo>
                  <a:pt x="0" y="0"/>
                </a:moveTo>
                <a:lnTo>
                  <a:pt x="5048250" y="0"/>
                </a:lnTo>
              </a:path>
            </a:pathLst>
          </a:custGeom>
          <a:noFill/>
          <a:ln w="9525">
            <a:solidFill>
              <a:srgbClr val="334155"/>
            </a:solidFill>
          </a:ln>
        </p:spPr>
      </p:sp>
      <p:sp>
        <p:nvSpPr>
          <p:cNvPr id="55" name="TextBox 55"/>
          <p:cNvSpPr txBox="1"/>
          <p:nvPr/>
        </p:nvSpPr>
        <p:spPr>
          <a:xfrm>
            <a:off x="5948172" y="4533900"/>
            <a:ext cx="976645" cy="191643"/>
          </a:xfrm>
          <a:prstGeom prst="rect">
            <a:avLst/>
          </a:prstGeom>
          <a:noFill/>
          <a:ln>
            <a:noFill/>
          </a:ln>
        </p:spPr>
        <p:txBody>
          <a:bodyPr wrap="none" lIns="0" tIns="0" rIns="0" bIns="0" anchor="t" anchorCtr="0">
            <a:spAutoFit/>
          </a:bodyPr>
          <a:lstStyle/>
          <a:p>
            <a:pPr algn="l"/>
            <a:r>
              <a:rPr lang="zh-CN" sz="980" b="1" dirty="0">
                <a:solidFill>
                  <a:srgbClr val="F59E0B"/>
                </a:solidFill>
                <a:latin typeface="+mn-lt"/>
                <a:ea typeface="+mn-ea"/>
                <a:cs typeface="+mn-cs"/>
              </a:rPr>
              <a:t>💡 经理人洞察：</a:t>
            </a:r>
          </a:p>
        </p:txBody>
      </p:sp>
      <p:sp>
        <p:nvSpPr>
          <p:cNvPr id="56" name="TextBox 56"/>
          <p:cNvSpPr txBox="1"/>
          <p:nvPr/>
        </p:nvSpPr>
        <p:spPr>
          <a:xfrm>
            <a:off x="5948362" y="4743450"/>
            <a:ext cx="4110788"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算法局限：被“悲剧/吵/累”等词拖至绝对零度，忽视了打折补救后的总体满意</a:t>
            </a:r>
          </a:p>
        </p:txBody>
      </p:sp>
      <p:sp>
        <p:nvSpPr>
          <p:cNvPr id="57" name="TextBox 57"/>
          <p:cNvSpPr txBox="1"/>
          <p:nvPr/>
        </p:nvSpPr>
        <p:spPr>
          <a:xfrm>
            <a:off x="5948362" y="4933950"/>
            <a:ext cx="4205097"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商业应用：收集等候大数据进行合理预期管理，坚持人性化服务驱动韧性增长</a:t>
            </a:r>
          </a:p>
        </p:txBody>
      </p:sp>
      <p:sp>
        <p:nvSpPr>
          <p:cNvPr id="58" name="Rectangle 58"/>
          <p:cNvSpPr/>
          <p:nvPr/>
        </p:nvSpPr>
        <p:spPr>
          <a:xfrm>
            <a:off x="762000" y="5572125"/>
            <a:ext cx="10668000" cy="476250"/>
          </a:xfrm>
          <a:prstGeom prst="roundRect">
            <a:avLst>
              <a:gd name="adj" fmla="val 20000"/>
            </a:avLst>
          </a:prstGeom>
          <a:solidFill>
            <a:srgbClr val="1E293B"/>
          </a:solidFill>
          <a:ln w="9525">
            <a:solidFill>
              <a:srgbClr val="334155"/>
            </a:solidFill>
          </a:ln>
        </p:spPr>
      </p:sp>
      <p:sp>
        <p:nvSpPr>
          <p:cNvPr id="59" name="TextBox 59"/>
          <p:cNvSpPr txBox="1"/>
          <p:nvPr/>
        </p:nvSpPr>
        <p:spPr>
          <a:xfrm>
            <a:off x="1042416" y="5749925"/>
            <a:ext cx="7541538" cy="205359"/>
          </a:xfrm>
          <a:prstGeom prst="rect">
            <a:avLst/>
          </a:prstGeom>
          <a:noFill/>
          <a:ln>
            <a:noFill/>
          </a:ln>
        </p:spPr>
        <p:txBody>
          <a:bodyPr wrap="none" lIns="0" tIns="0" rIns="0" bIns="0" anchor="t" anchorCtr="0">
            <a:spAutoFit/>
          </a:bodyPr>
          <a:lstStyle/>
          <a:p>
            <a:pPr algn="l"/>
            <a:r>
              <a:rPr lang="zh-CN" sz="1050" dirty="0">
                <a:solidFill>
                  <a:srgbClr val="F8FAFC"/>
                </a:solidFill>
                <a:latin typeface="+mn-lt"/>
                <a:ea typeface="+mn-ea"/>
                <a:cs typeface="+mn-cs"/>
              </a:rPr>
              <a:t>💡 商业启示：情感分析不仅是打分工具，更是智能运营的雷达，能从成千上万条好评中穿透性定位管理缺陷与改进抓手。</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7419416"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模块三 · 前沿演进：大模型健康文本细粒度情感抽取</a:t>
            </a:r>
          </a:p>
        </p:txBody>
      </p:sp>
      <p:sp>
        <p:nvSpPr>
          <p:cNvPr id="3" name="TextBox 3"/>
          <p:cNvSpPr txBox="1"/>
          <p:nvPr/>
        </p:nvSpPr>
        <p:spPr>
          <a:xfrm>
            <a:off x="755904" y="847725"/>
            <a:ext cx="6922870"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利用 DeepSeek API 与结构化 Prompt 约束，实现心身疾病文本中「部位-症状-情感」三元组提取</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333500"/>
            <a:ext cx="10668000" cy="523875"/>
          </a:xfrm>
          <a:prstGeom prst="roundRect">
            <a:avLst>
              <a:gd name="adj" fmla="val 18182"/>
            </a:avLst>
          </a:prstGeom>
          <a:solidFill>
            <a:srgbClr val="1C2541"/>
          </a:solidFill>
          <a:ln w="11430">
            <a:solidFill>
              <a:srgbClr val="334155"/>
            </a:solidFill>
          </a:ln>
        </p:spPr>
      </p:sp>
      <p:sp>
        <p:nvSpPr>
          <p:cNvPr id="6" name="TextBox 6"/>
          <p:cNvSpPr txBox="1"/>
          <p:nvPr/>
        </p:nvSpPr>
        <p:spPr>
          <a:xfrm>
            <a:off x="994791" y="1520825"/>
            <a:ext cx="717423" cy="205359"/>
          </a:xfrm>
          <a:prstGeom prst="rect">
            <a:avLst/>
          </a:prstGeom>
          <a:noFill/>
          <a:ln>
            <a:noFill/>
          </a:ln>
        </p:spPr>
        <p:txBody>
          <a:bodyPr wrap="none" lIns="0" tIns="0" rIns="0" bIns="0" anchor="t" anchorCtr="0">
            <a:spAutoFit/>
          </a:bodyPr>
          <a:lstStyle/>
          <a:p>
            <a:pPr algn="l"/>
            <a:r>
              <a:rPr lang="zh-CN" sz="1050" b="1" dirty="0">
                <a:solidFill>
                  <a:srgbClr val="38BDF8"/>
                </a:solidFill>
                <a:latin typeface="+mn-lt"/>
                <a:ea typeface="+mn-ea"/>
                <a:cs typeface="+mn-cs"/>
              </a:rPr>
              <a:t>工程管线：</a:t>
            </a:r>
          </a:p>
        </p:txBody>
      </p:sp>
      <p:sp>
        <p:nvSpPr>
          <p:cNvPr id="7" name="TextBox 7"/>
          <p:cNvSpPr txBox="1"/>
          <p:nvPr/>
        </p:nvSpPr>
        <p:spPr>
          <a:xfrm>
            <a:off x="1804416" y="1520825"/>
            <a:ext cx="7445865" cy="205359"/>
          </a:xfrm>
          <a:prstGeom prst="rect">
            <a:avLst/>
          </a:prstGeom>
          <a:noFill/>
          <a:ln>
            <a:noFill/>
          </a:ln>
        </p:spPr>
        <p:txBody>
          <a:bodyPr wrap="none" lIns="0" tIns="0" rIns="0" bIns="0" anchor="t" anchorCtr="0">
            <a:spAutoFit/>
          </a:bodyPr>
          <a:lstStyle/>
          <a:p>
            <a:pPr algn="l"/>
            <a:r>
              <a:rPr lang="zh-CN" sz="1050" dirty="0">
                <a:solidFill>
                  <a:srgbClr val="CBD5E1"/>
                </a:solidFill>
                <a:latin typeface="+mn-lt"/>
                <a:ea typeface="+mn-ea"/>
                <a:cs typeface="+mn-cs"/>
              </a:rPr>
              <a:t>心身病痛长文本 ➔ DeepSeek-Chat (temperature=0.3) ➔ 严格 JSON Schema 提示词约束 ➔ 细粒度三元组结构化输出</a:t>
            </a:r>
          </a:p>
        </p:txBody>
      </p:sp>
      <p:sp>
        <p:nvSpPr>
          <p:cNvPr id="8" name="Rectangle 8"/>
          <p:cNvSpPr/>
          <p:nvPr/>
        </p:nvSpPr>
        <p:spPr>
          <a:xfrm>
            <a:off x="762000" y="2047875"/>
            <a:ext cx="3333750" cy="3381375"/>
          </a:xfrm>
          <a:prstGeom prst="roundRect">
            <a:avLst>
              <a:gd name="adj" fmla="val 4571"/>
            </a:avLst>
          </a:prstGeom>
          <a:solidFill>
            <a:srgbClr val="1C2541"/>
          </a:solidFill>
          <a:ln w="14288">
            <a:solidFill>
              <a:srgbClr val="38BDF8"/>
            </a:solidFill>
          </a:ln>
        </p:spPr>
      </p:sp>
      <p:sp>
        <p:nvSpPr>
          <p:cNvPr id="9" name="Rectangle 9"/>
          <p:cNvSpPr/>
          <p:nvPr/>
        </p:nvSpPr>
        <p:spPr>
          <a:xfrm>
            <a:off x="1000125" y="2286000"/>
            <a:ext cx="1238250" cy="285750"/>
          </a:xfrm>
          <a:prstGeom prst="roundRect">
            <a:avLst>
              <a:gd name="adj" fmla="val 26667"/>
            </a:avLst>
          </a:prstGeom>
          <a:solidFill>
            <a:srgbClr val="38BDF8">
              <a:alpha val="15000"/>
            </a:srgbClr>
          </a:solidFill>
          <a:ln>
            <a:noFill/>
          </a:ln>
        </p:spPr>
      </p:sp>
      <p:sp>
        <p:nvSpPr>
          <p:cNvPr id="10" name="TextBox 10"/>
          <p:cNvSpPr txBox="1"/>
          <p:nvPr/>
        </p:nvSpPr>
        <p:spPr>
          <a:xfrm>
            <a:off x="1040610" y="2359025"/>
            <a:ext cx="1157279" cy="205359"/>
          </a:xfrm>
          <a:prstGeom prst="rect">
            <a:avLst/>
          </a:prstGeom>
          <a:noFill/>
          <a:ln>
            <a:noFill/>
          </a:ln>
        </p:spPr>
        <p:txBody>
          <a:bodyPr wrap="none" lIns="0" tIns="0" rIns="0" bIns="0" anchor="t" anchorCtr="0">
            <a:spAutoFit/>
          </a:bodyPr>
          <a:lstStyle/>
          <a:p>
            <a:pPr algn="ctr"/>
            <a:r>
              <a:rPr lang="zh-CN" sz="1050" b="1" dirty="0">
                <a:solidFill>
                  <a:srgbClr val="38BDF8"/>
                </a:solidFill>
                <a:latin typeface="+mn-lt"/>
                <a:ea typeface="+mn-ea"/>
                <a:cs typeface="+mn-cs"/>
              </a:rPr>
              <a:t>类别 1：头部/躯体</a:t>
            </a:r>
          </a:p>
        </p:txBody>
      </p:sp>
      <p:sp>
        <p:nvSpPr>
          <p:cNvPr id="11" name="TextBox 11"/>
          <p:cNvSpPr txBox="1"/>
          <p:nvPr/>
        </p:nvSpPr>
        <p:spPr>
          <a:xfrm>
            <a:off x="992886" y="2679700"/>
            <a:ext cx="1801912" cy="278702"/>
          </a:xfrm>
          <a:prstGeom prst="rect">
            <a:avLst/>
          </a:prstGeom>
          <a:noFill/>
          <a:ln>
            <a:noFill/>
          </a:ln>
        </p:spPr>
        <p:txBody>
          <a:bodyPr wrap="none" lIns="0" tIns="0" rIns="0" bIns="0" anchor="t" anchorCtr="0">
            <a:spAutoFit/>
          </a:bodyPr>
          <a:lstStyle/>
          <a:p>
            <a:pPr algn="l"/>
            <a:r>
              <a:rPr lang="en-US" sz="1420" b="1" dirty="0">
                <a:solidFill>
                  <a:srgbClr val="F8FAFC"/>
                </a:solidFill>
                <a:latin typeface="+mn-lt"/>
                <a:ea typeface="+mn-ea"/>
                <a:cs typeface="+mn-cs"/>
              </a:rPr>
              <a:t>Somatic Symptoms</a:t>
            </a:r>
          </a:p>
        </p:txBody>
      </p:sp>
      <p:sp>
        <p:nvSpPr>
          <p:cNvPr id="12" name="Rectangle 12"/>
          <p:cNvSpPr/>
          <p:nvPr/>
        </p:nvSpPr>
        <p:spPr>
          <a:xfrm>
            <a:off x="1000125" y="3000375"/>
            <a:ext cx="2857500" cy="400050"/>
          </a:xfrm>
          <a:prstGeom prst="roundRect">
            <a:avLst>
              <a:gd name="adj" fmla="val 14286"/>
            </a:avLst>
          </a:prstGeom>
          <a:solidFill>
            <a:srgbClr val="0B132B"/>
          </a:solidFill>
          <a:ln>
            <a:noFill/>
          </a:ln>
        </p:spPr>
      </p:sp>
      <p:sp>
        <p:nvSpPr>
          <p:cNvPr id="13" name="TextBox 13"/>
          <p:cNvSpPr txBox="1"/>
          <p:nvPr/>
        </p:nvSpPr>
        <p:spPr>
          <a:xfrm>
            <a:off x="1138047" y="3076575"/>
            <a:ext cx="1422527" cy="191643"/>
          </a:xfrm>
          <a:prstGeom prst="rect">
            <a:avLst/>
          </a:prstGeom>
          <a:noFill/>
          <a:ln>
            <a:noFill/>
          </a:ln>
        </p:spPr>
        <p:txBody>
          <a:bodyPr wrap="none" lIns="0" tIns="0" rIns="0" bIns="0" anchor="t" anchorCtr="0">
            <a:spAutoFit/>
          </a:bodyPr>
          <a:lstStyle/>
          <a:p>
            <a:pPr marL="103028" indent="-103028" algn="l">
              <a:buClr>
                <a:srgbClr val="38BDF8"/>
              </a:buClr>
              <a:buSzTx/>
              <a:buFontTx/>
              <a:buChar char="●"/>
            </a:pPr>
            <a:r>
              <a:rPr lang="zh-CN" sz="980" dirty="0">
                <a:solidFill>
                  <a:srgbClr val="38BDF8"/>
                </a:solidFill>
                <a:latin typeface="+mn-lt"/>
                <a:ea typeface="+mn-ea"/>
                <a:cs typeface="+mn-cs"/>
              </a:rPr>
              <a:t>部位: 头部 | 症状: 头痛</a:t>
            </a:r>
          </a:p>
        </p:txBody>
      </p:sp>
      <p:sp>
        <p:nvSpPr>
          <p:cNvPr id="14" name="TextBox 14"/>
          <p:cNvSpPr txBox="1"/>
          <p:nvPr/>
        </p:nvSpPr>
        <p:spPr>
          <a:xfrm>
            <a:off x="1138238" y="3228975"/>
            <a:ext cx="1409578"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对应情感: 生活失去了重心</a:t>
            </a:r>
          </a:p>
        </p:txBody>
      </p:sp>
      <p:sp>
        <p:nvSpPr>
          <p:cNvPr id="15" name="Rectangle 15"/>
          <p:cNvSpPr/>
          <p:nvPr/>
        </p:nvSpPr>
        <p:spPr>
          <a:xfrm>
            <a:off x="1000125" y="3476625"/>
            <a:ext cx="2857500" cy="400050"/>
          </a:xfrm>
          <a:prstGeom prst="roundRect">
            <a:avLst>
              <a:gd name="adj" fmla="val 14286"/>
            </a:avLst>
          </a:prstGeom>
          <a:solidFill>
            <a:srgbClr val="0B132B"/>
          </a:solidFill>
          <a:ln>
            <a:noFill/>
          </a:ln>
        </p:spPr>
      </p:sp>
      <p:sp>
        <p:nvSpPr>
          <p:cNvPr id="16" name="TextBox 16"/>
          <p:cNvSpPr txBox="1"/>
          <p:nvPr/>
        </p:nvSpPr>
        <p:spPr>
          <a:xfrm>
            <a:off x="1138047" y="3552825"/>
            <a:ext cx="1986886" cy="191643"/>
          </a:xfrm>
          <a:prstGeom prst="rect">
            <a:avLst/>
          </a:prstGeom>
          <a:noFill/>
          <a:ln>
            <a:noFill/>
          </a:ln>
        </p:spPr>
        <p:txBody>
          <a:bodyPr wrap="none" lIns="0" tIns="0" rIns="0" bIns="0" anchor="t" anchorCtr="0">
            <a:spAutoFit/>
          </a:bodyPr>
          <a:lstStyle/>
          <a:p>
            <a:pPr marL="103028" indent="-103028" algn="l">
              <a:buClr>
                <a:srgbClr val="38BDF8"/>
              </a:buClr>
              <a:buSzTx/>
              <a:buFontTx/>
              <a:buChar char="●"/>
            </a:pPr>
            <a:r>
              <a:rPr lang="zh-CN" sz="980" dirty="0">
                <a:solidFill>
                  <a:srgbClr val="38BDF8"/>
                </a:solidFill>
                <a:latin typeface="+mn-lt"/>
                <a:ea typeface="+mn-ea"/>
                <a:cs typeface="+mn-cs"/>
              </a:rPr>
              <a:t>部位: 全身 | 症状: 失眠/疲乏无力</a:t>
            </a:r>
          </a:p>
        </p:txBody>
      </p:sp>
      <p:sp>
        <p:nvSpPr>
          <p:cNvPr id="17" name="TextBox 17"/>
          <p:cNvSpPr txBox="1"/>
          <p:nvPr/>
        </p:nvSpPr>
        <p:spPr>
          <a:xfrm>
            <a:off x="1138238" y="3705225"/>
            <a:ext cx="1409578"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对应情感: 退休后迷茫无助</a:t>
            </a:r>
          </a:p>
        </p:txBody>
      </p:sp>
      <p:sp>
        <p:nvSpPr>
          <p:cNvPr id="18" name="Rectangle 18"/>
          <p:cNvSpPr/>
          <p:nvPr/>
        </p:nvSpPr>
        <p:spPr>
          <a:xfrm>
            <a:off x="1000125" y="3952875"/>
            <a:ext cx="2857500" cy="400050"/>
          </a:xfrm>
          <a:prstGeom prst="roundRect">
            <a:avLst>
              <a:gd name="adj" fmla="val 14286"/>
            </a:avLst>
          </a:prstGeom>
          <a:solidFill>
            <a:srgbClr val="0B132B"/>
          </a:solidFill>
          <a:ln>
            <a:noFill/>
          </a:ln>
        </p:spPr>
      </p:sp>
      <p:sp>
        <p:nvSpPr>
          <p:cNvPr id="19" name="TextBox 19"/>
          <p:cNvSpPr txBox="1"/>
          <p:nvPr/>
        </p:nvSpPr>
        <p:spPr>
          <a:xfrm>
            <a:off x="1138047" y="4029075"/>
            <a:ext cx="2118814" cy="191643"/>
          </a:xfrm>
          <a:prstGeom prst="rect">
            <a:avLst/>
          </a:prstGeom>
          <a:noFill/>
          <a:ln>
            <a:noFill/>
          </a:ln>
        </p:spPr>
        <p:txBody>
          <a:bodyPr wrap="none" lIns="0" tIns="0" rIns="0" bIns="0" anchor="t" anchorCtr="0">
            <a:spAutoFit/>
          </a:bodyPr>
          <a:lstStyle/>
          <a:p>
            <a:pPr marL="103028" indent="-103028" algn="l">
              <a:buClr>
                <a:srgbClr val="38BDF8"/>
              </a:buClr>
              <a:buSzTx/>
              <a:buFontTx/>
              <a:buChar char="●"/>
            </a:pPr>
            <a:r>
              <a:rPr lang="zh-CN" sz="980" dirty="0">
                <a:solidFill>
                  <a:srgbClr val="38BDF8"/>
                </a:solidFill>
                <a:latin typeface="+mn-lt"/>
                <a:ea typeface="+mn-ea"/>
                <a:cs typeface="+mn-cs"/>
              </a:rPr>
              <a:t>部位: 皮肤 | 症状: 敏感/触碰像针扎</a:t>
            </a:r>
          </a:p>
        </p:txBody>
      </p:sp>
      <p:sp>
        <p:nvSpPr>
          <p:cNvPr id="20" name="TextBox 20"/>
          <p:cNvSpPr txBox="1"/>
          <p:nvPr/>
        </p:nvSpPr>
        <p:spPr>
          <a:xfrm>
            <a:off x="1138238" y="4181475"/>
            <a:ext cx="1288420" cy="176212"/>
          </a:xfrm>
          <a:prstGeom prst="rect">
            <a:avLst/>
          </a:prstGeom>
          <a:noFill/>
          <a:ln>
            <a:noFill/>
          </a:ln>
        </p:spPr>
        <p:txBody>
          <a:bodyPr wrap="none" lIns="0" tIns="0" rIns="0" bIns="0" anchor="t" anchorCtr="0">
            <a:spAutoFit/>
          </a:bodyPr>
          <a:lstStyle/>
          <a:p>
            <a:pPr algn="l"/>
            <a:r>
              <a:rPr lang="zh-CN" sz="900" dirty="0">
                <a:solidFill>
                  <a:srgbClr val="EF4444"/>
                </a:solidFill>
                <a:latin typeface="+mn-lt"/>
                <a:ea typeface="+mn-ea"/>
                <a:cs typeface="+mn-cs"/>
              </a:rPr>
              <a:t>对应情感: 极端肉体痛苦</a:t>
            </a:r>
          </a:p>
        </p:txBody>
      </p:sp>
      <p:sp>
        <p:nvSpPr>
          <p:cNvPr id="21" name="Line 21"/>
          <p:cNvSpPr/>
          <p:nvPr/>
        </p:nvSpPr>
        <p:spPr>
          <a:xfrm>
            <a:off x="1000125" y="4476750"/>
            <a:ext cx="2857500" cy="9525"/>
          </a:xfrm>
          <a:custGeom>
            <a:avLst/>
            <a:gdLst/>
            <a:ahLst/>
            <a:cxnLst/>
            <a:rect l="l" t="t" r="r" b="b"/>
            <a:pathLst>
              <a:path w="2857500" h="9525">
                <a:moveTo>
                  <a:pt x="0" y="0"/>
                </a:moveTo>
                <a:lnTo>
                  <a:pt x="2857500" y="0"/>
                </a:lnTo>
              </a:path>
            </a:pathLst>
          </a:custGeom>
          <a:noFill/>
          <a:ln w="9525">
            <a:solidFill>
              <a:srgbClr val="334155"/>
            </a:solidFill>
          </a:ln>
        </p:spPr>
      </p:sp>
      <p:sp>
        <p:nvSpPr>
          <p:cNvPr id="22" name="TextBox 22"/>
          <p:cNvSpPr txBox="1"/>
          <p:nvPr/>
        </p:nvSpPr>
        <p:spPr>
          <a:xfrm>
            <a:off x="995172" y="4600575"/>
            <a:ext cx="1108573" cy="191643"/>
          </a:xfrm>
          <a:prstGeom prst="rect">
            <a:avLst/>
          </a:prstGeom>
          <a:noFill/>
          <a:ln>
            <a:noFill/>
          </a:ln>
        </p:spPr>
        <p:txBody>
          <a:bodyPr wrap="none" lIns="0" tIns="0" rIns="0" bIns="0" anchor="t" anchorCtr="0">
            <a:spAutoFit/>
          </a:bodyPr>
          <a:lstStyle/>
          <a:p>
            <a:pPr algn="l"/>
            <a:r>
              <a:rPr lang="zh-CN" sz="980" b="1" dirty="0">
                <a:solidFill>
                  <a:srgbClr val="38BDF8"/>
                </a:solidFill>
                <a:latin typeface="+mn-lt"/>
                <a:ea typeface="+mn-ea"/>
                <a:cs typeface="+mn-cs"/>
              </a:rPr>
              <a:t>🔍 识别特征剖析：</a:t>
            </a:r>
          </a:p>
        </p:txBody>
      </p:sp>
      <p:sp>
        <p:nvSpPr>
          <p:cNvPr id="23" name="TextBox 23"/>
          <p:cNvSpPr txBox="1"/>
          <p:nvPr/>
        </p:nvSpPr>
        <p:spPr>
          <a:xfrm>
            <a:off x="995362" y="4838700"/>
            <a:ext cx="2041819"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捕获“躯体化障碍(Somatization)”表征</a:t>
            </a:r>
          </a:p>
        </p:txBody>
      </p:sp>
      <p:sp>
        <p:nvSpPr>
          <p:cNvPr id="24" name="TextBox 24"/>
          <p:cNvSpPr txBox="1"/>
          <p:nvPr/>
        </p:nvSpPr>
        <p:spPr>
          <a:xfrm>
            <a:off x="995362" y="5029200"/>
            <a:ext cx="2145411"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虽无器质性病变，但体感痛苦真实存在</a:t>
            </a:r>
          </a:p>
        </p:txBody>
      </p:sp>
      <p:sp>
        <p:nvSpPr>
          <p:cNvPr id="25" name="Rectangle 25"/>
          <p:cNvSpPr/>
          <p:nvPr/>
        </p:nvSpPr>
        <p:spPr>
          <a:xfrm>
            <a:off x="4429125" y="2047875"/>
            <a:ext cx="3333750" cy="3381375"/>
          </a:xfrm>
          <a:prstGeom prst="roundRect">
            <a:avLst>
              <a:gd name="adj" fmla="val 4571"/>
            </a:avLst>
          </a:prstGeom>
          <a:solidFill>
            <a:srgbClr val="1C2541"/>
          </a:solidFill>
          <a:ln w="14288">
            <a:solidFill>
              <a:srgbClr val="818CF8"/>
            </a:solidFill>
          </a:ln>
        </p:spPr>
      </p:sp>
      <p:sp>
        <p:nvSpPr>
          <p:cNvPr id="26" name="Rectangle 26"/>
          <p:cNvSpPr/>
          <p:nvPr/>
        </p:nvSpPr>
        <p:spPr>
          <a:xfrm>
            <a:off x="4714875" y="2286000"/>
            <a:ext cx="1238250" cy="285750"/>
          </a:xfrm>
          <a:prstGeom prst="roundRect">
            <a:avLst>
              <a:gd name="adj" fmla="val 26667"/>
            </a:avLst>
          </a:prstGeom>
          <a:solidFill>
            <a:srgbClr val="818CF8">
              <a:alpha val="15000"/>
            </a:srgbClr>
          </a:solidFill>
          <a:ln>
            <a:noFill/>
          </a:ln>
        </p:spPr>
      </p:sp>
      <p:sp>
        <p:nvSpPr>
          <p:cNvPr id="27" name="TextBox 27"/>
          <p:cNvSpPr txBox="1"/>
          <p:nvPr/>
        </p:nvSpPr>
        <p:spPr>
          <a:xfrm>
            <a:off x="4755360" y="2359025"/>
            <a:ext cx="1157279" cy="205359"/>
          </a:xfrm>
          <a:prstGeom prst="rect">
            <a:avLst/>
          </a:prstGeom>
          <a:noFill/>
          <a:ln>
            <a:noFill/>
          </a:ln>
        </p:spPr>
        <p:txBody>
          <a:bodyPr wrap="none" lIns="0" tIns="0" rIns="0" bIns="0" anchor="t" anchorCtr="0">
            <a:spAutoFit/>
          </a:bodyPr>
          <a:lstStyle/>
          <a:p>
            <a:pPr algn="ctr"/>
            <a:r>
              <a:rPr lang="zh-CN" sz="1050" b="1" dirty="0">
                <a:solidFill>
                  <a:srgbClr val="818CF8"/>
                </a:solidFill>
                <a:latin typeface="+mn-lt"/>
                <a:ea typeface="+mn-ea"/>
                <a:cs typeface="+mn-cs"/>
              </a:rPr>
              <a:t>类别 2：内脏/感官</a:t>
            </a:r>
          </a:p>
        </p:txBody>
      </p:sp>
      <p:sp>
        <p:nvSpPr>
          <p:cNvPr id="28" name="TextBox 28"/>
          <p:cNvSpPr txBox="1"/>
          <p:nvPr/>
        </p:nvSpPr>
        <p:spPr>
          <a:xfrm>
            <a:off x="4707636" y="2679700"/>
            <a:ext cx="1759616" cy="278702"/>
          </a:xfrm>
          <a:prstGeom prst="rect">
            <a:avLst/>
          </a:prstGeom>
          <a:noFill/>
          <a:ln>
            <a:noFill/>
          </a:ln>
        </p:spPr>
        <p:txBody>
          <a:bodyPr wrap="none" lIns="0" tIns="0" rIns="0" bIns="0" anchor="t" anchorCtr="0">
            <a:spAutoFit/>
          </a:bodyPr>
          <a:lstStyle/>
          <a:p>
            <a:pPr algn="l"/>
            <a:r>
              <a:rPr lang="en-US" sz="1420" b="1" dirty="0">
                <a:solidFill>
                  <a:srgbClr val="F8FAFC"/>
                </a:solidFill>
                <a:latin typeface="+mn-lt"/>
                <a:ea typeface="+mn-ea"/>
                <a:cs typeface="+mn-cs"/>
              </a:rPr>
              <a:t>Visceral &amp; Sensory</a:t>
            </a:r>
          </a:p>
        </p:txBody>
      </p:sp>
      <p:sp>
        <p:nvSpPr>
          <p:cNvPr id="29" name="Rectangle 29"/>
          <p:cNvSpPr/>
          <p:nvPr/>
        </p:nvSpPr>
        <p:spPr>
          <a:xfrm>
            <a:off x="4714875" y="3000375"/>
            <a:ext cx="2762250" cy="400050"/>
          </a:xfrm>
          <a:prstGeom prst="roundRect">
            <a:avLst>
              <a:gd name="adj" fmla="val 14286"/>
            </a:avLst>
          </a:prstGeom>
          <a:solidFill>
            <a:srgbClr val="0B132B"/>
          </a:solidFill>
          <a:ln>
            <a:noFill/>
          </a:ln>
        </p:spPr>
      </p:sp>
      <p:sp>
        <p:nvSpPr>
          <p:cNvPr id="30" name="TextBox 30"/>
          <p:cNvSpPr txBox="1"/>
          <p:nvPr/>
        </p:nvSpPr>
        <p:spPr>
          <a:xfrm>
            <a:off x="4852797" y="3076575"/>
            <a:ext cx="2118814" cy="191643"/>
          </a:xfrm>
          <a:prstGeom prst="rect">
            <a:avLst/>
          </a:prstGeom>
          <a:noFill/>
          <a:ln>
            <a:noFill/>
          </a:ln>
        </p:spPr>
        <p:txBody>
          <a:bodyPr wrap="none" lIns="0" tIns="0" rIns="0" bIns="0" anchor="t" anchorCtr="0">
            <a:spAutoFit/>
          </a:bodyPr>
          <a:lstStyle/>
          <a:p>
            <a:pPr marL="103028" indent="-103028" algn="l">
              <a:buClr>
                <a:srgbClr val="818CF8"/>
              </a:buClr>
              <a:buSzTx/>
              <a:buFontTx/>
              <a:buChar char="●"/>
            </a:pPr>
            <a:r>
              <a:rPr lang="zh-CN" sz="980" dirty="0">
                <a:solidFill>
                  <a:srgbClr val="818CF8"/>
                </a:solidFill>
                <a:latin typeface="+mn-lt"/>
                <a:ea typeface="+mn-ea"/>
                <a:cs typeface="+mn-cs"/>
              </a:rPr>
              <a:t>部位: 心脏/胸部 | 症状: 心慌、胸闷</a:t>
            </a:r>
          </a:p>
        </p:txBody>
      </p:sp>
      <p:sp>
        <p:nvSpPr>
          <p:cNvPr id="31" name="TextBox 31"/>
          <p:cNvSpPr txBox="1"/>
          <p:nvPr/>
        </p:nvSpPr>
        <p:spPr>
          <a:xfrm>
            <a:off x="4852988" y="3228975"/>
            <a:ext cx="1046104" cy="176212"/>
          </a:xfrm>
          <a:prstGeom prst="rect">
            <a:avLst/>
          </a:prstGeom>
          <a:noFill/>
          <a:ln>
            <a:noFill/>
          </a:ln>
        </p:spPr>
        <p:txBody>
          <a:bodyPr wrap="none" lIns="0" tIns="0" rIns="0" bIns="0" anchor="t" anchorCtr="0">
            <a:spAutoFit/>
          </a:bodyPr>
          <a:lstStyle/>
          <a:p>
            <a:pPr algn="l"/>
            <a:r>
              <a:rPr lang="zh-CN" sz="900" dirty="0">
                <a:solidFill>
                  <a:srgbClr val="F59E0B"/>
                </a:solidFill>
                <a:latin typeface="+mn-lt"/>
                <a:ea typeface="+mn-ea"/>
                <a:cs typeface="+mn-cs"/>
              </a:rPr>
              <a:t>对应情感: 焦虑不安</a:t>
            </a:r>
          </a:p>
        </p:txBody>
      </p:sp>
      <p:sp>
        <p:nvSpPr>
          <p:cNvPr id="32" name="Rectangle 32"/>
          <p:cNvSpPr/>
          <p:nvPr/>
        </p:nvSpPr>
        <p:spPr>
          <a:xfrm>
            <a:off x="4714875" y="3476625"/>
            <a:ext cx="2762250" cy="400050"/>
          </a:xfrm>
          <a:prstGeom prst="roundRect">
            <a:avLst>
              <a:gd name="adj" fmla="val 14286"/>
            </a:avLst>
          </a:prstGeom>
          <a:solidFill>
            <a:srgbClr val="0B132B"/>
          </a:solidFill>
          <a:ln>
            <a:noFill/>
          </a:ln>
        </p:spPr>
      </p:sp>
      <p:sp>
        <p:nvSpPr>
          <p:cNvPr id="33" name="TextBox 33"/>
          <p:cNvSpPr txBox="1"/>
          <p:nvPr/>
        </p:nvSpPr>
        <p:spPr>
          <a:xfrm>
            <a:off x="4852797" y="3552825"/>
            <a:ext cx="2214092" cy="191643"/>
          </a:xfrm>
          <a:prstGeom prst="rect">
            <a:avLst/>
          </a:prstGeom>
          <a:noFill/>
          <a:ln>
            <a:noFill/>
          </a:ln>
        </p:spPr>
        <p:txBody>
          <a:bodyPr wrap="none" lIns="0" tIns="0" rIns="0" bIns="0" anchor="t" anchorCtr="0">
            <a:spAutoFit/>
          </a:bodyPr>
          <a:lstStyle/>
          <a:p>
            <a:pPr marL="103028" indent="-103028" algn="l">
              <a:buClr>
                <a:srgbClr val="818CF8"/>
              </a:buClr>
              <a:buSzTx/>
              <a:buFontTx/>
              <a:buChar char="●"/>
            </a:pPr>
            <a:r>
              <a:rPr lang="zh-CN" sz="980" dirty="0">
                <a:solidFill>
                  <a:srgbClr val="818CF8"/>
                </a:solidFill>
                <a:latin typeface="+mn-lt"/>
                <a:ea typeface="+mn-ea"/>
                <a:cs typeface="+mn-cs"/>
              </a:rPr>
              <a:t>部位: 背部 | 症状: 沉重得像压了石头</a:t>
            </a:r>
          </a:p>
        </p:txBody>
      </p:sp>
      <p:sp>
        <p:nvSpPr>
          <p:cNvPr id="34" name="TextBox 34"/>
          <p:cNvSpPr txBox="1"/>
          <p:nvPr/>
        </p:nvSpPr>
        <p:spPr>
          <a:xfrm>
            <a:off x="4852988" y="3705225"/>
            <a:ext cx="1046104" cy="176212"/>
          </a:xfrm>
          <a:prstGeom prst="rect">
            <a:avLst/>
          </a:prstGeom>
          <a:noFill/>
          <a:ln>
            <a:noFill/>
          </a:ln>
        </p:spPr>
        <p:txBody>
          <a:bodyPr wrap="none" lIns="0" tIns="0" rIns="0" bIns="0" anchor="t" anchorCtr="0">
            <a:spAutoFit/>
          </a:bodyPr>
          <a:lstStyle/>
          <a:p>
            <a:pPr algn="l"/>
            <a:r>
              <a:rPr lang="zh-CN" sz="900" dirty="0">
                <a:solidFill>
                  <a:srgbClr val="F59E0B"/>
                </a:solidFill>
                <a:latin typeface="+mn-lt"/>
                <a:ea typeface="+mn-ea"/>
                <a:cs typeface="+mn-cs"/>
              </a:rPr>
              <a:t>对应情感: 沉重压抑</a:t>
            </a:r>
          </a:p>
        </p:txBody>
      </p:sp>
      <p:sp>
        <p:nvSpPr>
          <p:cNvPr id="35" name="Rectangle 35"/>
          <p:cNvSpPr/>
          <p:nvPr/>
        </p:nvSpPr>
        <p:spPr>
          <a:xfrm>
            <a:off x="4714875" y="3952875"/>
            <a:ext cx="2762250" cy="400050"/>
          </a:xfrm>
          <a:prstGeom prst="roundRect">
            <a:avLst>
              <a:gd name="adj" fmla="val 14286"/>
            </a:avLst>
          </a:prstGeom>
          <a:solidFill>
            <a:srgbClr val="0B132B"/>
          </a:solidFill>
          <a:ln>
            <a:noFill/>
          </a:ln>
        </p:spPr>
      </p:sp>
      <p:sp>
        <p:nvSpPr>
          <p:cNvPr id="36" name="TextBox 36"/>
          <p:cNvSpPr txBox="1"/>
          <p:nvPr/>
        </p:nvSpPr>
        <p:spPr>
          <a:xfrm>
            <a:off x="4852797" y="4029075"/>
            <a:ext cx="2338605" cy="191643"/>
          </a:xfrm>
          <a:prstGeom prst="rect">
            <a:avLst/>
          </a:prstGeom>
          <a:noFill/>
          <a:ln>
            <a:noFill/>
          </a:ln>
        </p:spPr>
        <p:txBody>
          <a:bodyPr wrap="none" lIns="0" tIns="0" rIns="0" bIns="0" anchor="t" anchorCtr="0">
            <a:spAutoFit/>
          </a:bodyPr>
          <a:lstStyle/>
          <a:p>
            <a:pPr marL="103028" indent="-103028" algn="l">
              <a:buClr>
                <a:srgbClr val="818CF8"/>
              </a:buClr>
              <a:buSzTx/>
              <a:buFontTx/>
              <a:buChar char="●"/>
            </a:pPr>
            <a:r>
              <a:rPr lang="zh-CN" sz="980" dirty="0">
                <a:solidFill>
                  <a:srgbClr val="818CF8"/>
                </a:solidFill>
                <a:latin typeface="+mn-lt"/>
                <a:ea typeface="+mn-ea"/>
                <a:cs typeface="+mn-cs"/>
              </a:rPr>
              <a:t>部位: 感官(光/声) | 症状: 电话铃声惊恐</a:t>
            </a:r>
          </a:p>
        </p:txBody>
      </p:sp>
      <p:sp>
        <p:nvSpPr>
          <p:cNvPr id="37" name="TextBox 37"/>
          <p:cNvSpPr txBox="1"/>
          <p:nvPr/>
        </p:nvSpPr>
        <p:spPr>
          <a:xfrm>
            <a:off x="4852988" y="4181475"/>
            <a:ext cx="1288420" cy="176212"/>
          </a:xfrm>
          <a:prstGeom prst="rect">
            <a:avLst/>
          </a:prstGeom>
          <a:noFill/>
          <a:ln>
            <a:noFill/>
          </a:ln>
        </p:spPr>
        <p:txBody>
          <a:bodyPr wrap="none" lIns="0" tIns="0" rIns="0" bIns="0" anchor="t" anchorCtr="0">
            <a:spAutoFit/>
          </a:bodyPr>
          <a:lstStyle/>
          <a:p>
            <a:pPr algn="l"/>
            <a:r>
              <a:rPr lang="zh-CN" sz="900" dirty="0">
                <a:solidFill>
                  <a:srgbClr val="EF4444"/>
                </a:solidFill>
                <a:latin typeface="+mn-lt"/>
                <a:ea typeface="+mn-ea"/>
                <a:cs typeface="+mn-cs"/>
              </a:rPr>
              <a:t>对应情感: 惊恐过度防卫</a:t>
            </a:r>
          </a:p>
        </p:txBody>
      </p:sp>
      <p:sp>
        <p:nvSpPr>
          <p:cNvPr id="38" name="Line 38"/>
          <p:cNvSpPr/>
          <p:nvPr/>
        </p:nvSpPr>
        <p:spPr>
          <a:xfrm>
            <a:off x="4714875" y="4476750"/>
            <a:ext cx="2762250" cy="9525"/>
          </a:xfrm>
          <a:custGeom>
            <a:avLst/>
            <a:gdLst/>
            <a:ahLst/>
            <a:cxnLst/>
            <a:rect l="l" t="t" r="r" b="b"/>
            <a:pathLst>
              <a:path w="2762250" h="9525">
                <a:moveTo>
                  <a:pt x="0" y="0"/>
                </a:moveTo>
                <a:lnTo>
                  <a:pt x="2762250" y="0"/>
                </a:lnTo>
              </a:path>
            </a:pathLst>
          </a:custGeom>
          <a:noFill/>
          <a:ln w="9525">
            <a:solidFill>
              <a:srgbClr val="334155"/>
            </a:solidFill>
          </a:ln>
        </p:spPr>
      </p:sp>
      <p:sp>
        <p:nvSpPr>
          <p:cNvPr id="39" name="TextBox 39"/>
          <p:cNvSpPr txBox="1"/>
          <p:nvPr/>
        </p:nvSpPr>
        <p:spPr>
          <a:xfrm>
            <a:off x="4709922" y="4600575"/>
            <a:ext cx="1108573" cy="191643"/>
          </a:xfrm>
          <a:prstGeom prst="rect">
            <a:avLst/>
          </a:prstGeom>
          <a:noFill/>
          <a:ln>
            <a:noFill/>
          </a:ln>
        </p:spPr>
        <p:txBody>
          <a:bodyPr wrap="none" lIns="0" tIns="0" rIns="0" bIns="0" anchor="t" anchorCtr="0">
            <a:spAutoFit/>
          </a:bodyPr>
          <a:lstStyle/>
          <a:p>
            <a:pPr algn="l"/>
            <a:r>
              <a:rPr lang="zh-CN" sz="980" b="1" dirty="0">
                <a:solidFill>
                  <a:srgbClr val="818CF8"/>
                </a:solidFill>
                <a:latin typeface="+mn-lt"/>
                <a:ea typeface="+mn-ea"/>
                <a:cs typeface="+mn-cs"/>
              </a:rPr>
              <a:t>🔍 识别特征剖析：</a:t>
            </a:r>
          </a:p>
        </p:txBody>
      </p:sp>
      <p:sp>
        <p:nvSpPr>
          <p:cNvPr id="40" name="TextBox 40"/>
          <p:cNvSpPr txBox="1"/>
          <p:nvPr/>
        </p:nvSpPr>
        <p:spPr>
          <a:xfrm>
            <a:off x="4710112" y="4838700"/>
            <a:ext cx="2266569"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深刻理解文学式修辞（压了石头➔压抑）</a:t>
            </a:r>
          </a:p>
        </p:txBody>
      </p:sp>
      <p:sp>
        <p:nvSpPr>
          <p:cNvPr id="41" name="TextBox 41"/>
          <p:cNvSpPr txBox="1"/>
          <p:nvPr/>
        </p:nvSpPr>
        <p:spPr>
          <a:xfrm>
            <a:off x="4710112" y="5029200"/>
            <a:ext cx="2145411"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捕捉感官过载背后深层的自主神经紊乱</a:t>
            </a:r>
          </a:p>
        </p:txBody>
      </p:sp>
      <p:sp>
        <p:nvSpPr>
          <p:cNvPr id="42" name="Rectangle 42"/>
          <p:cNvSpPr/>
          <p:nvPr/>
        </p:nvSpPr>
        <p:spPr>
          <a:xfrm>
            <a:off x="8096250" y="2047875"/>
            <a:ext cx="3333750" cy="3381375"/>
          </a:xfrm>
          <a:prstGeom prst="roundRect">
            <a:avLst>
              <a:gd name="adj" fmla="val 4571"/>
            </a:avLst>
          </a:prstGeom>
          <a:solidFill>
            <a:srgbClr val="1C2541"/>
          </a:solidFill>
          <a:ln w="14288">
            <a:solidFill>
              <a:srgbClr val="EF4444"/>
            </a:solidFill>
          </a:ln>
        </p:spPr>
      </p:sp>
      <p:sp>
        <p:nvSpPr>
          <p:cNvPr id="43" name="Rectangle 43"/>
          <p:cNvSpPr/>
          <p:nvPr/>
        </p:nvSpPr>
        <p:spPr>
          <a:xfrm>
            <a:off x="8382000" y="2286000"/>
            <a:ext cx="1238250" cy="285750"/>
          </a:xfrm>
          <a:prstGeom prst="roundRect">
            <a:avLst>
              <a:gd name="adj" fmla="val 26667"/>
            </a:avLst>
          </a:prstGeom>
          <a:solidFill>
            <a:srgbClr val="EF4444">
              <a:alpha val="15000"/>
            </a:srgbClr>
          </a:solidFill>
          <a:ln>
            <a:noFill/>
          </a:ln>
        </p:spPr>
      </p:sp>
      <p:sp>
        <p:nvSpPr>
          <p:cNvPr id="44" name="TextBox 44"/>
          <p:cNvSpPr txBox="1"/>
          <p:nvPr/>
        </p:nvSpPr>
        <p:spPr>
          <a:xfrm>
            <a:off x="8422485" y="2359025"/>
            <a:ext cx="1157279" cy="205359"/>
          </a:xfrm>
          <a:prstGeom prst="rect">
            <a:avLst/>
          </a:prstGeom>
          <a:noFill/>
          <a:ln>
            <a:noFill/>
          </a:ln>
        </p:spPr>
        <p:txBody>
          <a:bodyPr wrap="none" lIns="0" tIns="0" rIns="0" bIns="0" anchor="t" anchorCtr="0">
            <a:spAutoFit/>
          </a:bodyPr>
          <a:lstStyle/>
          <a:p>
            <a:pPr algn="ctr"/>
            <a:r>
              <a:rPr lang="zh-CN" sz="1050" b="1" dirty="0">
                <a:solidFill>
                  <a:srgbClr val="EF4444"/>
                </a:solidFill>
                <a:latin typeface="+mn-lt"/>
                <a:ea typeface="+mn-ea"/>
                <a:cs typeface="+mn-cs"/>
              </a:rPr>
              <a:t>类别 3：心理/行为</a:t>
            </a:r>
          </a:p>
        </p:txBody>
      </p:sp>
      <p:sp>
        <p:nvSpPr>
          <p:cNvPr id="45" name="TextBox 45"/>
          <p:cNvSpPr txBox="1"/>
          <p:nvPr/>
        </p:nvSpPr>
        <p:spPr>
          <a:xfrm>
            <a:off x="8374761" y="2679700"/>
            <a:ext cx="1587424" cy="278702"/>
          </a:xfrm>
          <a:prstGeom prst="rect">
            <a:avLst/>
          </a:prstGeom>
          <a:noFill/>
          <a:ln>
            <a:noFill/>
          </a:ln>
        </p:spPr>
        <p:txBody>
          <a:bodyPr wrap="none" lIns="0" tIns="0" rIns="0" bIns="0" anchor="t" anchorCtr="0">
            <a:spAutoFit/>
          </a:bodyPr>
          <a:lstStyle/>
          <a:p>
            <a:pPr algn="l"/>
            <a:r>
              <a:rPr lang="en-US" sz="1420" b="1" dirty="0">
                <a:solidFill>
                  <a:srgbClr val="F8FAFC"/>
                </a:solidFill>
                <a:latin typeface="+mn-lt"/>
                <a:ea typeface="+mn-ea"/>
                <a:cs typeface="+mn-cs"/>
              </a:rPr>
              <a:t>Behavioral Crisis</a:t>
            </a:r>
          </a:p>
        </p:txBody>
      </p:sp>
      <p:sp>
        <p:nvSpPr>
          <p:cNvPr id="46" name="Rectangle 46"/>
          <p:cNvSpPr/>
          <p:nvPr/>
        </p:nvSpPr>
        <p:spPr>
          <a:xfrm>
            <a:off x="8382000" y="3000375"/>
            <a:ext cx="2762250" cy="400050"/>
          </a:xfrm>
          <a:prstGeom prst="roundRect">
            <a:avLst>
              <a:gd name="adj" fmla="val 14286"/>
            </a:avLst>
          </a:prstGeom>
          <a:solidFill>
            <a:srgbClr val="0B132B"/>
          </a:solidFill>
          <a:ln>
            <a:noFill/>
          </a:ln>
        </p:spPr>
      </p:sp>
      <p:sp>
        <p:nvSpPr>
          <p:cNvPr id="47" name="TextBox 47"/>
          <p:cNvSpPr txBox="1"/>
          <p:nvPr/>
        </p:nvSpPr>
        <p:spPr>
          <a:xfrm>
            <a:off x="8519922" y="3076575"/>
            <a:ext cx="1950237" cy="191643"/>
          </a:xfrm>
          <a:prstGeom prst="rect">
            <a:avLst/>
          </a:prstGeom>
          <a:noFill/>
          <a:ln>
            <a:noFill/>
          </a:ln>
        </p:spPr>
        <p:txBody>
          <a:bodyPr wrap="none" lIns="0" tIns="0" rIns="0" bIns="0" anchor="t" anchorCtr="0">
            <a:spAutoFit/>
          </a:bodyPr>
          <a:lstStyle/>
          <a:p>
            <a:pPr marL="103028" indent="-103028" algn="l">
              <a:buClr>
                <a:srgbClr val="EF4444"/>
              </a:buClr>
              <a:buSzTx/>
              <a:buFontTx/>
              <a:buChar char="●"/>
            </a:pPr>
            <a:r>
              <a:rPr lang="zh-CN" sz="980" dirty="0">
                <a:solidFill>
                  <a:srgbClr val="EF4444"/>
                </a:solidFill>
                <a:latin typeface="+mn-lt"/>
                <a:ea typeface="+mn-ea"/>
                <a:cs typeface="+mn-cs"/>
              </a:rPr>
              <a:t>部位: 心理行为 | 症状: 闭门不出</a:t>
            </a:r>
          </a:p>
        </p:txBody>
      </p:sp>
      <p:sp>
        <p:nvSpPr>
          <p:cNvPr id="48" name="TextBox 48"/>
          <p:cNvSpPr txBox="1"/>
          <p:nvPr/>
        </p:nvSpPr>
        <p:spPr>
          <a:xfrm>
            <a:off x="8520112" y="3228975"/>
            <a:ext cx="1409578"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对应情感: 社交退缩与回避</a:t>
            </a:r>
          </a:p>
        </p:txBody>
      </p:sp>
      <p:sp>
        <p:nvSpPr>
          <p:cNvPr id="49" name="Rectangle 49"/>
          <p:cNvSpPr/>
          <p:nvPr/>
        </p:nvSpPr>
        <p:spPr>
          <a:xfrm>
            <a:off x="8382000" y="3476625"/>
            <a:ext cx="2762250" cy="400050"/>
          </a:xfrm>
          <a:prstGeom prst="roundRect">
            <a:avLst>
              <a:gd name="adj" fmla="val 14286"/>
            </a:avLst>
          </a:prstGeom>
          <a:solidFill>
            <a:srgbClr val="0B132B"/>
          </a:solidFill>
          <a:ln>
            <a:noFill/>
          </a:ln>
        </p:spPr>
      </p:sp>
      <p:sp>
        <p:nvSpPr>
          <p:cNvPr id="50" name="TextBox 50"/>
          <p:cNvSpPr txBox="1"/>
          <p:nvPr/>
        </p:nvSpPr>
        <p:spPr>
          <a:xfrm>
            <a:off x="8519922" y="3552825"/>
            <a:ext cx="2214092" cy="191643"/>
          </a:xfrm>
          <a:prstGeom prst="rect">
            <a:avLst/>
          </a:prstGeom>
          <a:noFill/>
          <a:ln>
            <a:noFill/>
          </a:ln>
        </p:spPr>
        <p:txBody>
          <a:bodyPr wrap="none" lIns="0" tIns="0" rIns="0" bIns="0" anchor="t" anchorCtr="0">
            <a:spAutoFit/>
          </a:bodyPr>
          <a:lstStyle/>
          <a:p>
            <a:pPr marL="103028" indent="-103028" algn="l">
              <a:buClr>
                <a:srgbClr val="EF4444"/>
              </a:buClr>
              <a:buSzTx/>
              <a:buFontTx/>
              <a:buChar char="●"/>
            </a:pPr>
            <a:r>
              <a:rPr lang="zh-CN" sz="980" dirty="0">
                <a:solidFill>
                  <a:srgbClr val="EF4444"/>
                </a:solidFill>
                <a:latin typeface="+mn-lt"/>
                <a:ea typeface="+mn-ea"/>
                <a:cs typeface="+mn-cs"/>
              </a:rPr>
              <a:t>部位: 行为环境 | 症状: 拉紧窗帘避光</a:t>
            </a:r>
          </a:p>
        </p:txBody>
      </p:sp>
      <p:sp>
        <p:nvSpPr>
          <p:cNvPr id="51" name="TextBox 51"/>
          <p:cNvSpPr txBox="1"/>
          <p:nvPr/>
        </p:nvSpPr>
        <p:spPr>
          <a:xfrm>
            <a:off x="8520112" y="3705225"/>
            <a:ext cx="1288420"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对应情感: 封闭孤立求生</a:t>
            </a:r>
          </a:p>
        </p:txBody>
      </p:sp>
      <p:sp>
        <p:nvSpPr>
          <p:cNvPr id="52" name="Rectangle 52"/>
          <p:cNvSpPr/>
          <p:nvPr/>
        </p:nvSpPr>
        <p:spPr>
          <a:xfrm>
            <a:off x="8382000" y="3952875"/>
            <a:ext cx="2762250" cy="400050"/>
          </a:xfrm>
          <a:prstGeom prst="roundRect">
            <a:avLst>
              <a:gd name="adj" fmla="val 14286"/>
            </a:avLst>
          </a:prstGeom>
          <a:solidFill>
            <a:srgbClr val="0B132B"/>
          </a:solidFill>
          <a:ln>
            <a:noFill/>
          </a:ln>
        </p:spPr>
      </p:sp>
      <p:sp>
        <p:nvSpPr>
          <p:cNvPr id="53" name="TextBox 53"/>
          <p:cNvSpPr txBox="1"/>
          <p:nvPr/>
        </p:nvSpPr>
        <p:spPr>
          <a:xfrm>
            <a:off x="8519922" y="4029075"/>
            <a:ext cx="2082165" cy="191643"/>
          </a:xfrm>
          <a:prstGeom prst="rect">
            <a:avLst/>
          </a:prstGeom>
          <a:noFill/>
          <a:ln>
            <a:noFill/>
          </a:ln>
        </p:spPr>
        <p:txBody>
          <a:bodyPr wrap="none" lIns="0" tIns="0" rIns="0" bIns="0" anchor="t" anchorCtr="0">
            <a:spAutoFit/>
          </a:bodyPr>
          <a:lstStyle/>
          <a:p>
            <a:pPr marL="103028" indent="-103028" algn="l">
              <a:buClr>
                <a:srgbClr val="EF4444"/>
              </a:buClr>
              <a:buSzTx/>
              <a:buFontTx/>
              <a:buChar char="●"/>
            </a:pPr>
            <a:r>
              <a:rPr lang="zh-CN" sz="980" dirty="0">
                <a:solidFill>
                  <a:srgbClr val="EF4444"/>
                </a:solidFill>
                <a:latin typeface="+mn-lt"/>
                <a:ea typeface="+mn-ea"/>
                <a:cs typeface="+mn-cs"/>
              </a:rPr>
              <a:t>部位: 精神世界 | 症状: 感觉无意义</a:t>
            </a:r>
          </a:p>
        </p:txBody>
      </p:sp>
      <p:sp>
        <p:nvSpPr>
          <p:cNvPr id="54" name="TextBox 54"/>
          <p:cNvSpPr txBox="1"/>
          <p:nvPr/>
        </p:nvSpPr>
        <p:spPr>
          <a:xfrm>
            <a:off x="8520112" y="4181475"/>
            <a:ext cx="1651894" cy="176212"/>
          </a:xfrm>
          <a:prstGeom prst="rect">
            <a:avLst/>
          </a:prstGeom>
          <a:noFill/>
          <a:ln>
            <a:noFill/>
          </a:ln>
        </p:spPr>
        <p:txBody>
          <a:bodyPr wrap="none" lIns="0" tIns="0" rIns="0" bIns="0" anchor="t" anchorCtr="0">
            <a:spAutoFit/>
          </a:bodyPr>
          <a:lstStyle/>
          <a:p>
            <a:pPr algn="l"/>
            <a:r>
              <a:rPr lang="zh-CN" sz="900" dirty="0">
                <a:solidFill>
                  <a:srgbClr val="EF4444"/>
                </a:solidFill>
                <a:latin typeface="+mn-lt"/>
                <a:ea typeface="+mn-ea"/>
                <a:cs typeface="+mn-cs"/>
              </a:rPr>
              <a:t>对应情感: 重度抑郁与绝望危机</a:t>
            </a:r>
          </a:p>
        </p:txBody>
      </p:sp>
      <p:sp>
        <p:nvSpPr>
          <p:cNvPr id="55" name="Line 55"/>
          <p:cNvSpPr/>
          <p:nvPr/>
        </p:nvSpPr>
        <p:spPr>
          <a:xfrm>
            <a:off x="8382000" y="4476750"/>
            <a:ext cx="2762250" cy="9525"/>
          </a:xfrm>
          <a:custGeom>
            <a:avLst/>
            <a:gdLst/>
            <a:ahLst/>
            <a:cxnLst/>
            <a:rect l="l" t="t" r="r" b="b"/>
            <a:pathLst>
              <a:path w="2762250" h="9525">
                <a:moveTo>
                  <a:pt x="0" y="0"/>
                </a:moveTo>
                <a:lnTo>
                  <a:pt x="2762250" y="0"/>
                </a:lnTo>
              </a:path>
            </a:pathLst>
          </a:custGeom>
          <a:noFill/>
          <a:ln w="9525">
            <a:solidFill>
              <a:srgbClr val="334155"/>
            </a:solidFill>
          </a:ln>
        </p:spPr>
      </p:sp>
      <p:sp>
        <p:nvSpPr>
          <p:cNvPr id="56" name="TextBox 56"/>
          <p:cNvSpPr txBox="1"/>
          <p:nvPr/>
        </p:nvSpPr>
        <p:spPr>
          <a:xfrm>
            <a:off x="8377047" y="4600575"/>
            <a:ext cx="1108573" cy="191643"/>
          </a:xfrm>
          <a:prstGeom prst="rect">
            <a:avLst/>
          </a:prstGeom>
          <a:noFill/>
          <a:ln>
            <a:noFill/>
          </a:ln>
        </p:spPr>
        <p:txBody>
          <a:bodyPr wrap="none" lIns="0" tIns="0" rIns="0" bIns="0" anchor="t" anchorCtr="0">
            <a:spAutoFit/>
          </a:bodyPr>
          <a:lstStyle/>
          <a:p>
            <a:pPr algn="l"/>
            <a:r>
              <a:rPr lang="zh-CN" sz="980" b="1" dirty="0">
                <a:solidFill>
                  <a:srgbClr val="EF4444"/>
                </a:solidFill>
                <a:latin typeface="+mn-lt"/>
                <a:ea typeface="+mn-ea"/>
                <a:cs typeface="+mn-cs"/>
              </a:rPr>
              <a:t>🔍 识别特征剖析：</a:t>
            </a:r>
          </a:p>
        </p:txBody>
      </p:sp>
      <p:sp>
        <p:nvSpPr>
          <p:cNvPr id="57" name="TextBox 57"/>
          <p:cNvSpPr txBox="1"/>
          <p:nvPr/>
        </p:nvSpPr>
        <p:spPr>
          <a:xfrm>
            <a:off x="8377238" y="4838700"/>
            <a:ext cx="1903095"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跨越字面描述，提炼自毁退缩倾向</a:t>
            </a:r>
          </a:p>
        </p:txBody>
      </p:sp>
      <p:sp>
        <p:nvSpPr>
          <p:cNvPr id="58" name="TextBox 58"/>
          <p:cNvSpPr txBox="1"/>
          <p:nvPr/>
        </p:nvSpPr>
        <p:spPr>
          <a:xfrm>
            <a:off x="8377238" y="5029200"/>
            <a:ext cx="2024253" cy="176212"/>
          </a:xfrm>
          <a:prstGeom prst="rect">
            <a:avLst/>
          </a:prstGeom>
          <a:noFill/>
          <a:ln>
            <a:noFill/>
          </a:ln>
        </p:spPr>
        <p:txBody>
          <a:bodyPr wrap="none" lIns="0" tIns="0" rIns="0" bIns="0" anchor="t" anchorCtr="0">
            <a:spAutoFit/>
          </a:bodyPr>
          <a:lstStyle/>
          <a:p>
            <a:pPr marL="76200" indent="-76200" algn="l">
              <a:buClr>
                <a:srgbClr val="94A3B8"/>
              </a:buClr>
              <a:buSzTx/>
              <a:buFontTx/>
              <a:buChar char="•"/>
            </a:pPr>
            <a:r>
              <a:rPr lang="zh-CN" sz="900" dirty="0">
                <a:solidFill>
                  <a:srgbClr val="94A3B8"/>
                </a:solidFill>
                <a:latin typeface="+mn-lt"/>
                <a:ea typeface="+mn-ea"/>
                <a:cs typeface="+mn-cs"/>
              </a:rPr>
              <a:t>形成可结构化入库的患者画像三元组</a:t>
            </a:r>
          </a:p>
        </p:txBody>
      </p:sp>
      <p:sp>
        <p:nvSpPr>
          <p:cNvPr id="59" name="Rectangle 59"/>
          <p:cNvSpPr/>
          <p:nvPr/>
        </p:nvSpPr>
        <p:spPr>
          <a:xfrm>
            <a:off x="762000" y="5572125"/>
            <a:ext cx="10668000" cy="476250"/>
          </a:xfrm>
          <a:prstGeom prst="roundRect">
            <a:avLst>
              <a:gd name="adj" fmla="val 20000"/>
            </a:avLst>
          </a:prstGeom>
          <a:solidFill>
            <a:srgbClr val="1E293B"/>
          </a:solidFill>
          <a:ln w="9525">
            <a:solidFill>
              <a:srgbClr val="334155"/>
            </a:solidFill>
          </a:ln>
        </p:spPr>
      </p:sp>
      <p:sp>
        <p:nvSpPr>
          <p:cNvPr id="60" name="TextBox 60"/>
          <p:cNvSpPr txBox="1"/>
          <p:nvPr/>
        </p:nvSpPr>
        <p:spPr>
          <a:xfrm>
            <a:off x="1042416" y="5749925"/>
            <a:ext cx="7211625" cy="205359"/>
          </a:xfrm>
          <a:prstGeom prst="rect">
            <a:avLst/>
          </a:prstGeom>
          <a:noFill/>
          <a:ln>
            <a:noFill/>
          </a:ln>
        </p:spPr>
        <p:txBody>
          <a:bodyPr wrap="none" lIns="0" tIns="0" rIns="0" bIns="0" anchor="t" anchorCtr="0">
            <a:spAutoFit/>
          </a:bodyPr>
          <a:lstStyle/>
          <a:p>
            <a:pPr algn="l"/>
            <a:r>
              <a:rPr lang="zh-CN" sz="1050" dirty="0">
                <a:solidFill>
                  <a:srgbClr val="F8FAFC"/>
                </a:solidFill>
                <a:latin typeface="+mn-lt"/>
                <a:ea typeface="+mn-ea"/>
                <a:cs typeface="+mn-cs"/>
              </a:rPr>
              <a:t>💡 技术跃迁：传统模型仅能得出全局“负面打分”，而大模型能够精准解构不同生理部位与心理情感的精细映射关联！</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8065592"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模块三深度思考 · 细粒度情感抽取的行业延伸与价值拓展</a:t>
            </a:r>
          </a:p>
        </p:txBody>
      </p:sp>
      <p:sp>
        <p:nvSpPr>
          <p:cNvPr id="3" name="TextBox 3"/>
          <p:cNvSpPr txBox="1"/>
          <p:nvPr/>
        </p:nvSpPr>
        <p:spPr>
          <a:xfrm>
            <a:off x="755904" y="847725"/>
            <a:ext cx="6473952"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回应课后提问：大语言模型在身心健康中的表现评测，以及跨领域、跨行业的创新应用探索</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428750"/>
            <a:ext cx="3333750" cy="4000500"/>
          </a:xfrm>
          <a:prstGeom prst="roundRect">
            <a:avLst>
              <a:gd name="adj" fmla="val 4571"/>
            </a:avLst>
          </a:prstGeom>
          <a:solidFill>
            <a:srgbClr val="1C2541"/>
          </a:solidFill>
          <a:ln w="14288">
            <a:solidFill>
              <a:srgbClr val="38BDF8"/>
            </a:solidFill>
          </a:ln>
        </p:spPr>
      </p:sp>
      <p:sp>
        <p:nvSpPr>
          <p:cNvPr id="6" name="Rectangle 6"/>
          <p:cNvSpPr/>
          <p:nvPr/>
        </p:nvSpPr>
        <p:spPr>
          <a:xfrm>
            <a:off x="1047750" y="1714500"/>
            <a:ext cx="476250" cy="476250"/>
          </a:xfrm>
          <a:prstGeom prst="roundRect">
            <a:avLst>
              <a:gd name="adj" fmla="val 24000"/>
            </a:avLst>
          </a:prstGeom>
          <a:solidFill>
            <a:srgbClr val="38BDF8">
              <a:alpha val="15000"/>
            </a:srgbClr>
          </a:solidFill>
          <a:ln>
            <a:noFill/>
          </a:ln>
        </p:spPr>
      </p:sp>
      <p:sp>
        <p:nvSpPr>
          <p:cNvPr id="7" name="TextBox 7"/>
          <p:cNvSpPr txBox="1"/>
          <p:nvPr/>
        </p:nvSpPr>
        <p:spPr>
          <a:xfrm>
            <a:off x="1153948" y="1825625"/>
            <a:ext cx="263854" cy="322707"/>
          </a:xfrm>
          <a:prstGeom prst="rect">
            <a:avLst/>
          </a:prstGeom>
          <a:noFill/>
          <a:ln>
            <a:noFill/>
          </a:ln>
        </p:spPr>
        <p:txBody>
          <a:bodyPr wrap="none" lIns="0" tIns="0" rIns="0" bIns="0" anchor="t" anchorCtr="0">
            <a:spAutoFit/>
          </a:bodyPr>
          <a:lstStyle/>
          <a:p>
            <a:pPr algn="ctr"/>
            <a:r>
              <a:rPr lang="zh-CN" sz="1650" b="1" dirty="0">
                <a:solidFill>
                  <a:srgbClr val="38BDF8"/>
                </a:solidFill>
                <a:latin typeface="+mn-lt"/>
                <a:ea typeface="+mn-ea"/>
                <a:cs typeface="+mn-cs"/>
              </a:rPr>
              <a:t>01</a:t>
            </a:r>
          </a:p>
        </p:txBody>
      </p:sp>
      <p:sp>
        <p:nvSpPr>
          <p:cNvPr id="8" name="TextBox 8"/>
          <p:cNvSpPr txBox="1"/>
          <p:nvPr/>
        </p:nvSpPr>
        <p:spPr>
          <a:xfrm>
            <a:off x="1040130" y="2298700"/>
            <a:ext cx="163068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身心识别效能评估</a:t>
            </a:r>
          </a:p>
        </p:txBody>
      </p:sp>
      <p:sp>
        <p:nvSpPr>
          <p:cNvPr id="9" name="TextBox 9"/>
          <p:cNvSpPr txBox="1"/>
          <p:nvPr/>
        </p:nvSpPr>
        <p:spPr>
          <a:xfrm>
            <a:off x="1042416" y="2635250"/>
            <a:ext cx="1424178" cy="205359"/>
          </a:xfrm>
          <a:prstGeom prst="rect">
            <a:avLst/>
          </a:prstGeom>
          <a:noFill/>
          <a:ln>
            <a:noFill/>
          </a:ln>
        </p:spPr>
        <p:txBody>
          <a:bodyPr wrap="none" lIns="0" tIns="0" rIns="0" bIns="0" anchor="t" anchorCtr="0">
            <a:spAutoFit/>
          </a:bodyPr>
          <a:lstStyle/>
          <a:p>
            <a:pPr algn="l"/>
            <a:r>
              <a:rPr lang="zh-CN" sz="1050" b="1" dirty="0">
                <a:solidFill>
                  <a:srgbClr val="38BDF8"/>
                </a:solidFill>
                <a:latin typeface="+mn-lt"/>
                <a:ea typeface="+mn-ea"/>
                <a:cs typeface="+mn-cs"/>
              </a:rPr>
              <a:t>“高维共情、结构严谨”</a:t>
            </a:r>
          </a:p>
        </p:txBody>
      </p:sp>
      <p:sp>
        <p:nvSpPr>
          <p:cNvPr id="10" name="TextBox 10"/>
          <p:cNvSpPr txBox="1"/>
          <p:nvPr/>
        </p:nvSpPr>
        <p:spPr>
          <a:xfrm>
            <a:off x="1042416" y="3063875"/>
            <a:ext cx="2214663"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隐喻解构：准确领悟文学修辞内涵</a:t>
            </a:r>
          </a:p>
        </p:txBody>
      </p:sp>
      <p:sp>
        <p:nvSpPr>
          <p:cNvPr id="11" name="TextBox 11"/>
          <p:cNvSpPr txBox="1"/>
          <p:nvPr/>
        </p:nvSpPr>
        <p:spPr>
          <a:xfrm>
            <a:off x="1042416" y="3349625"/>
            <a:ext cx="249736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躯体化捕捉：建立生理与精神双向映射</a:t>
            </a:r>
          </a:p>
        </p:txBody>
      </p:sp>
      <p:sp>
        <p:nvSpPr>
          <p:cNvPr id="12" name="TextBox 12"/>
          <p:cNvSpPr txBox="1"/>
          <p:nvPr/>
        </p:nvSpPr>
        <p:spPr>
          <a:xfrm>
            <a:off x="1042416" y="3635375"/>
            <a:ext cx="2356014"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零样本泛化：摆脱繁重标注数据依赖</a:t>
            </a:r>
          </a:p>
        </p:txBody>
      </p:sp>
      <p:sp>
        <p:nvSpPr>
          <p:cNvPr id="13" name="TextBox 13"/>
          <p:cNvSpPr txBox="1"/>
          <p:nvPr/>
        </p:nvSpPr>
        <p:spPr>
          <a:xfrm>
            <a:off x="1042416" y="3921125"/>
            <a:ext cx="249736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医疗伦理提示：需专业医生做最终裁定</a:t>
            </a:r>
          </a:p>
        </p:txBody>
      </p:sp>
      <p:sp>
        <p:nvSpPr>
          <p:cNvPr id="14" name="Rectangle 14"/>
          <p:cNvSpPr/>
          <p:nvPr/>
        </p:nvSpPr>
        <p:spPr>
          <a:xfrm>
            <a:off x="1047750" y="4524375"/>
            <a:ext cx="2762250" cy="619125"/>
          </a:xfrm>
          <a:prstGeom prst="roundRect">
            <a:avLst>
              <a:gd name="adj" fmla="val 12308"/>
            </a:avLst>
          </a:prstGeom>
          <a:solidFill>
            <a:srgbClr val="0B132B"/>
          </a:solidFill>
          <a:ln w="9525">
            <a:solidFill>
              <a:srgbClr val="334155"/>
            </a:solidFill>
          </a:ln>
        </p:spPr>
      </p:sp>
      <p:sp>
        <p:nvSpPr>
          <p:cNvPr id="15" name="TextBox 15"/>
          <p:cNvSpPr txBox="1"/>
          <p:nvPr/>
        </p:nvSpPr>
        <p:spPr>
          <a:xfrm>
            <a:off x="1185672" y="4670425"/>
            <a:ext cx="2250186"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38BDF8"/>
                </a:solidFill>
                <a:latin typeface="+mn-lt"/>
                <a:ea typeface="+mn-ea"/>
                <a:cs typeface="+mn-cs"/>
              </a:rPr>
              <a:t>🌟 评测定性：表现极其惊艳，</a:t>
            </a:r>
            <a:br>
              <a:rPr lang="zh-CN" sz="980" dirty="0">
                <a:solidFill>
                  <a:srgbClr val="38BDF8"/>
                </a:solidFill>
                <a:latin typeface="+mn-lt"/>
                <a:ea typeface="+mn-ea"/>
                <a:cs typeface="+mn-cs"/>
              </a:rPr>
            </a:br>
            <a:r>
              <a:rPr lang="zh-CN" sz="980" dirty="0">
                <a:solidFill>
                  <a:srgbClr val="38BDF8"/>
                </a:solidFill>
                <a:latin typeface="+mn-lt"/>
                <a:ea typeface="+mn-ea"/>
                <a:cs typeface="+mn-cs"/>
              </a:rPr>
              <a:t>具备准专科医生级的共情与病症结构力。</a:t>
            </a:r>
          </a:p>
        </p:txBody>
      </p:sp>
      <p:sp>
        <p:nvSpPr>
          <p:cNvPr id="16" name="Rectangle 16"/>
          <p:cNvSpPr/>
          <p:nvPr/>
        </p:nvSpPr>
        <p:spPr>
          <a:xfrm>
            <a:off x="4429125" y="1428750"/>
            <a:ext cx="3333750" cy="4000500"/>
          </a:xfrm>
          <a:prstGeom prst="roundRect">
            <a:avLst>
              <a:gd name="adj" fmla="val 4571"/>
            </a:avLst>
          </a:prstGeom>
          <a:solidFill>
            <a:srgbClr val="1C2541"/>
          </a:solidFill>
          <a:ln w="14288">
            <a:solidFill>
              <a:srgbClr val="818CF8"/>
            </a:solidFill>
          </a:ln>
        </p:spPr>
      </p:sp>
      <p:sp>
        <p:nvSpPr>
          <p:cNvPr id="17" name="Rectangle 17"/>
          <p:cNvSpPr/>
          <p:nvPr/>
        </p:nvSpPr>
        <p:spPr>
          <a:xfrm>
            <a:off x="4714875" y="1714500"/>
            <a:ext cx="476250" cy="476250"/>
          </a:xfrm>
          <a:prstGeom prst="roundRect">
            <a:avLst>
              <a:gd name="adj" fmla="val 24000"/>
            </a:avLst>
          </a:prstGeom>
          <a:solidFill>
            <a:srgbClr val="818CF8">
              <a:alpha val="15000"/>
            </a:srgbClr>
          </a:solidFill>
          <a:ln>
            <a:noFill/>
          </a:ln>
        </p:spPr>
      </p:sp>
      <p:sp>
        <p:nvSpPr>
          <p:cNvPr id="18" name="TextBox 18"/>
          <p:cNvSpPr txBox="1"/>
          <p:nvPr/>
        </p:nvSpPr>
        <p:spPr>
          <a:xfrm>
            <a:off x="4821073" y="1825625"/>
            <a:ext cx="263854" cy="322707"/>
          </a:xfrm>
          <a:prstGeom prst="rect">
            <a:avLst/>
          </a:prstGeom>
          <a:noFill/>
          <a:ln>
            <a:noFill/>
          </a:ln>
        </p:spPr>
        <p:txBody>
          <a:bodyPr wrap="none" lIns="0" tIns="0" rIns="0" bIns="0" anchor="t" anchorCtr="0">
            <a:spAutoFit/>
          </a:bodyPr>
          <a:lstStyle/>
          <a:p>
            <a:pPr algn="ctr"/>
            <a:r>
              <a:rPr lang="zh-CN" sz="1650" b="1" dirty="0">
                <a:solidFill>
                  <a:srgbClr val="818CF8"/>
                </a:solidFill>
                <a:latin typeface="+mn-lt"/>
                <a:ea typeface="+mn-ea"/>
                <a:cs typeface="+mn-cs"/>
              </a:rPr>
              <a:t>02</a:t>
            </a:r>
          </a:p>
        </p:txBody>
      </p:sp>
      <p:sp>
        <p:nvSpPr>
          <p:cNvPr id="19" name="TextBox 19"/>
          <p:cNvSpPr txBox="1"/>
          <p:nvPr/>
        </p:nvSpPr>
        <p:spPr>
          <a:xfrm>
            <a:off x="4707255" y="2298700"/>
            <a:ext cx="142875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跨领域迁移场景</a:t>
            </a:r>
          </a:p>
        </p:txBody>
      </p:sp>
      <p:sp>
        <p:nvSpPr>
          <p:cNvPr id="20" name="TextBox 20"/>
          <p:cNvSpPr txBox="1"/>
          <p:nvPr/>
        </p:nvSpPr>
        <p:spPr>
          <a:xfrm>
            <a:off x="4709541" y="2635250"/>
            <a:ext cx="1565529" cy="205359"/>
          </a:xfrm>
          <a:prstGeom prst="rect">
            <a:avLst/>
          </a:prstGeom>
          <a:noFill/>
          <a:ln>
            <a:noFill/>
          </a:ln>
        </p:spPr>
        <p:txBody>
          <a:bodyPr wrap="none" lIns="0" tIns="0" rIns="0" bIns="0" anchor="t" anchorCtr="0">
            <a:spAutoFit/>
          </a:bodyPr>
          <a:lstStyle/>
          <a:p>
            <a:pPr algn="l"/>
            <a:r>
              <a:rPr lang="zh-CN" sz="1050" b="1" dirty="0">
                <a:solidFill>
                  <a:srgbClr val="818CF8"/>
                </a:solidFill>
                <a:latin typeface="+mn-lt"/>
                <a:ea typeface="+mn-ea"/>
                <a:cs typeface="+mn-cs"/>
              </a:rPr>
              <a:t>“从医疗健康走向全行业”</a:t>
            </a:r>
          </a:p>
        </p:txBody>
      </p:sp>
      <p:sp>
        <p:nvSpPr>
          <p:cNvPr id="21" name="TextBox 21"/>
          <p:cNvSpPr txBox="1"/>
          <p:nvPr/>
        </p:nvSpPr>
        <p:spPr>
          <a:xfrm>
            <a:off x="4709541" y="3063875"/>
            <a:ext cx="2536633"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金融风控：贷款催收对话抵触/恐慌预警</a:t>
            </a:r>
          </a:p>
        </p:txBody>
      </p:sp>
      <p:sp>
        <p:nvSpPr>
          <p:cNvPr id="22" name="TextBox 22"/>
          <p:cNvSpPr txBox="1"/>
          <p:nvPr/>
        </p:nvSpPr>
        <p:spPr>
          <a:xfrm>
            <a:off x="4709541" y="334962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司法审判：法庭供述真实心证与悔过挖掘</a:t>
            </a:r>
          </a:p>
        </p:txBody>
      </p:sp>
      <p:sp>
        <p:nvSpPr>
          <p:cNvPr id="23" name="TextBox 23"/>
          <p:cNvSpPr txBox="1"/>
          <p:nvPr/>
        </p:nvSpPr>
        <p:spPr>
          <a:xfrm>
            <a:off x="4709541" y="363537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企业管理：核心员工离职与倦怠倾向早筛</a:t>
            </a:r>
          </a:p>
        </p:txBody>
      </p:sp>
      <p:sp>
        <p:nvSpPr>
          <p:cNvPr id="24" name="TextBox 24"/>
          <p:cNvSpPr txBox="1"/>
          <p:nvPr/>
        </p:nvSpPr>
        <p:spPr>
          <a:xfrm>
            <a:off x="4709541" y="392112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客户服务：高危客诉愤怒点多维实体溯源</a:t>
            </a:r>
          </a:p>
        </p:txBody>
      </p:sp>
      <p:sp>
        <p:nvSpPr>
          <p:cNvPr id="25" name="Rectangle 25"/>
          <p:cNvSpPr/>
          <p:nvPr/>
        </p:nvSpPr>
        <p:spPr>
          <a:xfrm>
            <a:off x="4714875" y="4524375"/>
            <a:ext cx="2762250" cy="619125"/>
          </a:xfrm>
          <a:prstGeom prst="roundRect">
            <a:avLst>
              <a:gd name="adj" fmla="val 12308"/>
            </a:avLst>
          </a:prstGeom>
          <a:solidFill>
            <a:srgbClr val="0B132B"/>
          </a:solidFill>
          <a:ln w="9525">
            <a:solidFill>
              <a:srgbClr val="334155"/>
            </a:solidFill>
          </a:ln>
        </p:spPr>
      </p:sp>
      <p:sp>
        <p:nvSpPr>
          <p:cNvPr id="26" name="TextBox 26"/>
          <p:cNvSpPr txBox="1"/>
          <p:nvPr/>
        </p:nvSpPr>
        <p:spPr>
          <a:xfrm>
            <a:off x="4852797" y="4670425"/>
            <a:ext cx="2035841"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818CF8"/>
                </a:solidFill>
                <a:latin typeface="+mn-lt"/>
                <a:ea typeface="+mn-ea"/>
                <a:cs typeface="+mn-cs"/>
              </a:rPr>
              <a:t>🎯 广阔空间：任何人类复杂主观体验</a:t>
            </a:r>
            <a:br>
              <a:rPr lang="zh-CN" sz="980" dirty="0">
                <a:solidFill>
                  <a:srgbClr val="818CF8"/>
                </a:solidFill>
                <a:latin typeface="+mn-lt"/>
                <a:ea typeface="+mn-ea"/>
                <a:cs typeface="+mn-cs"/>
              </a:rPr>
            </a:br>
            <a:r>
              <a:rPr lang="zh-CN" sz="980" dirty="0">
                <a:solidFill>
                  <a:srgbClr val="818CF8"/>
                </a:solidFill>
                <a:latin typeface="+mn-lt"/>
                <a:ea typeface="+mn-ea"/>
                <a:cs typeface="+mn-cs"/>
              </a:rPr>
              <a:t>与客观行为交织的场景，均可落地。</a:t>
            </a:r>
          </a:p>
        </p:txBody>
      </p:sp>
      <p:sp>
        <p:nvSpPr>
          <p:cNvPr id="27" name="Rectangle 27"/>
          <p:cNvSpPr/>
          <p:nvPr/>
        </p:nvSpPr>
        <p:spPr>
          <a:xfrm>
            <a:off x="8096250" y="1428750"/>
            <a:ext cx="3333750" cy="4000500"/>
          </a:xfrm>
          <a:prstGeom prst="roundRect">
            <a:avLst>
              <a:gd name="adj" fmla="val 4571"/>
            </a:avLst>
          </a:prstGeom>
          <a:solidFill>
            <a:srgbClr val="1C2541"/>
          </a:solidFill>
          <a:ln w="14288">
            <a:solidFill>
              <a:srgbClr val="34D399"/>
            </a:solidFill>
          </a:ln>
        </p:spPr>
      </p:sp>
      <p:sp>
        <p:nvSpPr>
          <p:cNvPr id="28" name="Rectangle 28"/>
          <p:cNvSpPr/>
          <p:nvPr/>
        </p:nvSpPr>
        <p:spPr>
          <a:xfrm>
            <a:off x="8382000" y="1714500"/>
            <a:ext cx="476250" cy="476250"/>
          </a:xfrm>
          <a:prstGeom prst="roundRect">
            <a:avLst>
              <a:gd name="adj" fmla="val 24000"/>
            </a:avLst>
          </a:prstGeom>
          <a:solidFill>
            <a:srgbClr val="34D399">
              <a:alpha val="15000"/>
            </a:srgbClr>
          </a:solidFill>
          <a:ln>
            <a:noFill/>
          </a:ln>
        </p:spPr>
      </p:sp>
      <p:sp>
        <p:nvSpPr>
          <p:cNvPr id="29" name="TextBox 29"/>
          <p:cNvSpPr txBox="1"/>
          <p:nvPr/>
        </p:nvSpPr>
        <p:spPr>
          <a:xfrm>
            <a:off x="8488198" y="1825625"/>
            <a:ext cx="263854" cy="322707"/>
          </a:xfrm>
          <a:prstGeom prst="rect">
            <a:avLst/>
          </a:prstGeom>
          <a:noFill/>
          <a:ln>
            <a:noFill/>
          </a:ln>
        </p:spPr>
        <p:txBody>
          <a:bodyPr wrap="none" lIns="0" tIns="0" rIns="0" bIns="0" anchor="t" anchorCtr="0">
            <a:spAutoFit/>
          </a:bodyPr>
          <a:lstStyle/>
          <a:p>
            <a:pPr algn="ctr"/>
            <a:r>
              <a:rPr lang="zh-CN" sz="1650" b="1" dirty="0">
                <a:solidFill>
                  <a:srgbClr val="34D399"/>
                </a:solidFill>
                <a:latin typeface="+mn-lt"/>
                <a:ea typeface="+mn-ea"/>
                <a:cs typeface="+mn-cs"/>
              </a:rPr>
              <a:t>03</a:t>
            </a:r>
          </a:p>
        </p:txBody>
      </p:sp>
      <p:sp>
        <p:nvSpPr>
          <p:cNvPr id="30" name="TextBox 30"/>
          <p:cNvSpPr txBox="1"/>
          <p:nvPr/>
        </p:nvSpPr>
        <p:spPr>
          <a:xfrm>
            <a:off x="8374380" y="2298700"/>
            <a:ext cx="163068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迈向情感知识图谱</a:t>
            </a:r>
          </a:p>
        </p:txBody>
      </p:sp>
      <p:sp>
        <p:nvSpPr>
          <p:cNvPr id="31" name="TextBox 31"/>
          <p:cNvSpPr txBox="1"/>
          <p:nvPr/>
        </p:nvSpPr>
        <p:spPr>
          <a:xfrm>
            <a:off x="8376666" y="2635250"/>
            <a:ext cx="1565529" cy="205359"/>
          </a:xfrm>
          <a:prstGeom prst="rect">
            <a:avLst/>
          </a:prstGeom>
          <a:noFill/>
          <a:ln>
            <a:noFill/>
          </a:ln>
        </p:spPr>
        <p:txBody>
          <a:bodyPr wrap="none" lIns="0" tIns="0" rIns="0" bIns="0" anchor="t" anchorCtr="0">
            <a:spAutoFit/>
          </a:bodyPr>
          <a:lstStyle/>
          <a:p>
            <a:pPr algn="l"/>
            <a:r>
              <a:rPr lang="zh-CN" sz="1050" b="1" dirty="0">
                <a:solidFill>
                  <a:srgbClr val="34D399"/>
                </a:solidFill>
                <a:latin typeface="+mn-lt"/>
                <a:ea typeface="+mn-ea"/>
                <a:cs typeface="+mn-cs"/>
              </a:rPr>
              <a:t>“从离散实体到因果推断”</a:t>
            </a:r>
          </a:p>
        </p:txBody>
      </p:sp>
      <p:sp>
        <p:nvSpPr>
          <p:cNvPr id="32" name="TextBox 32"/>
          <p:cNvSpPr txBox="1"/>
          <p:nvPr/>
        </p:nvSpPr>
        <p:spPr>
          <a:xfrm>
            <a:off x="8376666" y="3063875"/>
            <a:ext cx="2828317"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实体关联：对接标准医学术语库(SNOMED)</a:t>
            </a:r>
          </a:p>
        </p:txBody>
      </p:sp>
      <p:sp>
        <p:nvSpPr>
          <p:cNvPr id="33" name="TextBox 33"/>
          <p:cNvSpPr txBox="1"/>
          <p:nvPr/>
        </p:nvSpPr>
        <p:spPr>
          <a:xfrm>
            <a:off x="8376666" y="3349625"/>
            <a:ext cx="2748688"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因果拓扑：[诱因] ➔ [心理] ➔ [躯体化症状]</a:t>
            </a:r>
          </a:p>
        </p:txBody>
      </p:sp>
      <p:sp>
        <p:nvSpPr>
          <p:cNvPr id="34" name="TextBox 34"/>
          <p:cNvSpPr txBox="1"/>
          <p:nvPr/>
        </p:nvSpPr>
        <p:spPr>
          <a:xfrm>
            <a:off x="8376666" y="363537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动态监测：将时间戳引入图谱形成演化链</a:t>
            </a:r>
          </a:p>
        </p:txBody>
      </p:sp>
      <p:sp>
        <p:nvSpPr>
          <p:cNvPr id="35" name="TextBox 35"/>
          <p:cNvSpPr txBox="1"/>
          <p:nvPr/>
        </p:nvSpPr>
        <p:spPr>
          <a:xfrm>
            <a:off x="8376666" y="3921125"/>
            <a:ext cx="249736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智能推断：辅助心理医生追溯根源症结</a:t>
            </a:r>
          </a:p>
        </p:txBody>
      </p:sp>
      <p:sp>
        <p:nvSpPr>
          <p:cNvPr id="36" name="Rectangle 36"/>
          <p:cNvSpPr/>
          <p:nvPr/>
        </p:nvSpPr>
        <p:spPr>
          <a:xfrm>
            <a:off x="8382000" y="4524375"/>
            <a:ext cx="2762250" cy="619125"/>
          </a:xfrm>
          <a:prstGeom prst="roundRect">
            <a:avLst>
              <a:gd name="adj" fmla="val 12308"/>
            </a:avLst>
          </a:prstGeom>
          <a:solidFill>
            <a:srgbClr val="0B132B"/>
          </a:solidFill>
          <a:ln w="9525">
            <a:solidFill>
              <a:srgbClr val="334155"/>
            </a:solidFill>
          </a:ln>
        </p:spPr>
      </p:sp>
      <p:sp>
        <p:nvSpPr>
          <p:cNvPr id="37" name="TextBox 37"/>
          <p:cNvSpPr txBox="1"/>
          <p:nvPr/>
        </p:nvSpPr>
        <p:spPr>
          <a:xfrm>
            <a:off x="8519922" y="4670425"/>
            <a:ext cx="2125726" cy="382143"/>
          </a:xfrm>
          <a:prstGeom prst="rect">
            <a:avLst/>
          </a:prstGeom>
          <a:noFill/>
          <a:ln>
            <a:noFill/>
          </a:ln>
        </p:spPr>
        <p:txBody>
          <a:bodyPr wrap="none" lIns="0" tIns="0" rIns="0" bIns="0" anchor="t" anchorCtr="0">
            <a:spAutoFit/>
          </a:bodyPr>
          <a:lstStyle/>
          <a:p>
            <a:pPr algn="l">
              <a:lnSpc>
                <a:spcPts val="1500"/>
              </a:lnSpc>
            </a:pPr>
            <a:r>
              <a:rPr lang="zh-CN" sz="980" dirty="0">
                <a:solidFill>
                  <a:srgbClr val="34D399"/>
                </a:solidFill>
                <a:latin typeface="+mn-lt"/>
                <a:ea typeface="+mn-ea"/>
                <a:cs typeface="+mn-cs"/>
              </a:rPr>
              <a:t>🚀 演进愿景：细粒度三元组是构建</a:t>
            </a:r>
            <a:br>
              <a:rPr lang="zh-CN" sz="980" dirty="0">
                <a:solidFill>
                  <a:srgbClr val="34D399"/>
                </a:solidFill>
                <a:latin typeface="+mn-lt"/>
                <a:ea typeface="+mn-ea"/>
                <a:cs typeface="+mn-cs"/>
              </a:rPr>
            </a:br>
            <a:r>
              <a:rPr lang="zh-CN" sz="980" dirty="0">
                <a:solidFill>
                  <a:srgbClr val="34D399"/>
                </a:solidFill>
                <a:latin typeface="+mn-lt"/>
                <a:ea typeface="+mn-ea"/>
                <a:cs typeface="+mn-cs"/>
              </a:rPr>
              <a:t>多模态心身因果知识图谱的关键基石！</a:t>
            </a:r>
          </a:p>
        </p:txBody>
      </p:sp>
      <p:sp>
        <p:nvSpPr>
          <p:cNvPr id="38" name="Rectangle 38"/>
          <p:cNvSpPr/>
          <p:nvPr/>
        </p:nvSpPr>
        <p:spPr>
          <a:xfrm>
            <a:off x="762000" y="5572125"/>
            <a:ext cx="10668000" cy="476250"/>
          </a:xfrm>
          <a:prstGeom prst="roundRect">
            <a:avLst>
              <a:gd name="adj" fmla="val 20000"/>
            </a:avLst>
          </a:prstGeom>
          <a:solidFill>
            <a:srgbClr val="1E293B"/>
          </a:solidFill>
          <a:ln w="9525">
            <a:solidFill>
              <a:srgbClr val="334155"/>
            </a:solidFill>
          </a:ln>
        </p:spPr>
      </p:sp>
      <p:sp>
        <p:nvSpPr>
          <p:cNvPr id="39" name="TextBox 39"/>
          <p:cNvSpPr txBox="1"/>
          <p:nvPr/>
        </p:nvSpPr>
        <p:spPr>
          <a:xfrm>
            <a:off x="1042416" y="5749925"/>
            <a:ext cx="7255241" cy="205359"/>
          </a:xfrm>
          <a:prstGeom prst="rect">
            <a:avLst/>
          </a:prstGeom>
          <a:noFill/>
          <a:ln>
            <a:noFill/>
          </a:ln>
        </p:spPr>
        <p:txBody>
          <a:bodyPr wrap="none" lIns="0" tIns="0" rIns="0" bIns="0" anchor="t" anchorCtr="0">
            <a:spAutoFit/>
          </a:bodyPr>
          <a:lstStyle/>
          <a:p>
            <a:pPr algn="l"/>
            <a:r>
              <a:rPr lang="zh-CN" sz="1050" dirty="0">
                <a:solidFill>
                  <a:srgbClr val="F8FAFC"/>
                </a:solidFill>
                <a:latin typeface="+mn-lt"/>
                <a:ea typeface="+mn-ea"/>
                <a:cs typeface="+mn-cs"/>
              </a:rPr>
              <a:t>💡 深度思考：细粒度抽取不仅是一项 NLP 技术，更是连接“人类主观经验感知”与“机器可计算因果逻辑”的核心纽带。</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7742504"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模块四 · 文学计算：朱自清《背影》全篇情绪轨迹量化</a:t>
            </a:r>
          </a:p>
        </p:txBody>
      </p:sp>
      <p:sp>
        <p:nvSpPr>
          <p:cNvPr id="3" name="TextBox 3"/>
          <p:cNvSpPr txBox="1"/>
          <p:nvPr/>
        </p:nvSpPr>
        <p:spPr>
          <a:xfrm>
            <a:off x="755904" y="847725"/>
            <a:ext cx="6126420"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数字人文视角：58句按标点分句流水线、DeepSeek逐句情绪打分与叙事动力学波形图</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381125"/>
            <a:ext cx="4286250" cy="4048125"/>
          </a:xfrm>
          <a:prstGeom prst="roundRect">
            <a:avLst>
              <a:gd name="adj" fmla="val 3765"/>
            </a:avLst>
          </a:prstGeom>
          <a:solidFill>
            <a:srgbClr val="1C2541"/>
          </a:solidFill>
          <a:ln w="14288">
            <a:solidFill>
              <a:srgbClr val="334155"/>
            </a:solidFill>
          </a:ln>
        </p:spPr>
      </p:sp>
      <p:sp>
        <p:nvSpPr>
          <p:cNvPr id="6" name="TextBox 6"/>
          <p:cNvSpPr txBox="1"/>
          <p:nvPr/>
        </p:nvSpPr>
        <p:spPr>
          <a:xfrm>
            <a:off x="993267" y="1549400"/>
            <a:ext cx="2376297" cy="264033"/>
          </a:xfrm>
          <a:prstGeom prst="rect">
            <a:avLst/>
          </a:prstGeom>
          <a:noFill/>
          <a:ln>
            <a:noFill/>
          </a:ln>
        </p:spPr>
        <p:txBody>
          <a:bodyPr wrap="none" lIns="0" tIns="0" rIns="0" bIns="0" anchor="t" anchorCtr="0">
            <a:spAutoFit/>
          </a:bodyPr>
          <a:lstStyle/>
          <a:p>
            <a:pPr algn="l"/>
            <a:r>
              <a:rPr lang="zh-CN" sz="1350" b="1" dirty="0">
                <a:solidFill>
                  <a:srgbClr val="F8FAFC"/>
                </a:solidFill>
                <a:latin typeface="+mn-lt"/>
                <a:ea typeface="+mn-ea"/>
                <a:cs typeface="+mn-cs"/>
              </a:rPr>
              <a:t>技术管线与叙事动力学四阶段</a:t>
            </a:r>
          </a:p>
        </p:txBody>
      </p:sp>
      <p:sp>
        <p:nvSpPr>
          <p:cNvPr id="7" name="Rectangle 7"/>
          <p:cNvSpPr/>
          <p:nvPr/>
        </p:nvSpPr>
        <p:spPr>
          <a:xfrm>
            <a:off x="1000125" y="1905000"/>
            <a:ext cx="3810000" cy="762000"/>
          </a:xfrm>
          <a:prstGeom prst="roundRect">
            <a:avLst>
              <a:gd name="adj" fmla="val 10000"/>
            </a:avLst>
          </a:prstGeom>
          <a:solidFill>
            <a:srgbClr val="0B132B"/>
          </a:solidFill>
          <a:ln w="9525">
            <a:solidFill>
              <a:srgbClr val="334155"/>
            </a:solidFill>
          </a:ln>
        </p:spPr>
      </p:sp>
      <p:sp>
        <p:nvSpPr>
          <p:cNvPr id="8" name="TextBox 8"/>
          <p:cNvSpPr txBox="1"/>
          <p:nvPr/>
        </p:nvSpPr>
        <p:spPr>
          <a:xfrm>
            <a:off x="1138238" y="2019300"/>
            <a:ext cx="2532374" cy="176212"/>
          </a:xfrm>
          <a:prstGeom prst="rect">
            <a:avLst/>
          </a:prstGeom>
          <a:noFill/>
          <a:ln>
            <a:noFill/>
          </a:ln>
        </p:spPr>
        <p:txBody>
          <a:bodyPr wrap="none" lIns="0" tIns="0" rIns="0" bIns="0" anchor="t" anchorCtr="0">
            <a:spAutoFit/>
          </a:bodyPr>
          <a:lstStyle/>
          <a:p>
            <a:pPr algn="l"/>
            <a:r>
              <a:rPr lang="zh-CN" sz="900" dirty="0">
                <a:solidFill>
                  <a:srgbClr val="38BDF8"/>
                </a:solidFill>
                <a:latin typeface="+mn-lt"/>
                <a:ea typeface="+mn-ea"/>
                <a:cs typeface="+mn-cs"/>
              </a:rPr>
              <a:t>① 正则保留标点分句: re.split(r'(?&lt;=[。！])', text)</a:t>
            </a:r>
          </a:p>
        </p:txBody>
      </p:sp>
      <p:sp>
        <p:nvSpPr>
          <p:cNvPr id="9" name="TextBox 9"/>
          <p:cNvSpPr txBox="1"/>
          <p:nvPr/>
        </p:nvSpPr>
        <p:spPr>
          <a:xfrm>
            <a:off x="1138238" y="2209800"/>
            <a:ext cx="3013825" cy="176212"/>
          </a:xfrm>
          <a:prstGeom prst="rect">
            <a:avLst/>
          </a:prstGeom>
          <a:noFill/>
          <a:ln>
            <a:noFill/>
          </a:ln>
        </p:spPr>
        <p:txBody>
          <a:bodyPr wrap="none" lIns="0" tIns="0" rIns="0" bIns="0" anchor="t" anchorCtr="0">
            <a:spAutoFit/>
          </a:bodyPr>
          <a:lstStyle/>
          <a:p>
            <a:pPr algn="l"/>
            <a:r>
              <a:rPr lang="zh-CN" sz="900" dirty="0">
                <a:solidFill>
                  <a:srgbClr val="818CF8"/>
                </a:solidFill>
                <a:latin typeface="+mn-lt"/>
                <a:ea typeface="+mn-ea"/>
                <a:cs typeface="+mn-cs"/>
              </a:rPr>
              <a:t>② 58句编号调用DeepSeek: 提取单核情感词与[-1, 1]分值</a:t>
            </a:r>
          </a:p>
        </p:txBody>
      </p:sp>
      <p:sp>
        <p:nvSpPr>
          <p:cNvPr id="10" name="TextBox 10"/>
          <p:cNvSpPr txBox="1"/>
          <p:nvPr/>
        </p:nvSpPr>
        <p:spPr>
          <a:xfrm>
            <a:off x="1138238" y="2400300"/>
            <a:ext cx="2429254" cy="176212"/>
          </a:xfrm>
          <a:prstGeom prst="rect">
            <a:avLst/>
          </a:prstGeom>
          <a:noFill/>
          <a:ln>
            <a:noFill/>
          </a:ln>
        </p:spPr>
        <p:txBody>
          <a:bodyPr wrap="none" lIns="0" tIns="0" rIns="0" bIns="0" anchor="t" anchorCtr="0">
            <a:spAutoFit/>
          </a:bodyPr>
          <a:lstStyle/>
          <a:p>
            <a:pPr algn="l"/>
            <a:r>
              <a:rPr lang="zh-CN" sz="900" dirty="0">
                <a:solidFill>
                  <a:srgbClr val="34D399"/>
                </a:solidFill>
                <a:latin typeface="+mn-lt"/>
                <a:ea typeface="+mn-ea"/>
                <a:cs typeface="+mn-cs"/>
              </a:rPr>
              <a:t>③ Matplotlib 时间序列拟合: 散点附带汉字标签</a:t>
            </a:r>
          </a:p>
        </p:txBody>
      </p:sp>
      <p:sp>
        <p:nvSpPr>
          <p:cNvPr id="11" name="Rectangle 11"/>
          <p:cNvSpPr/>
          <p:nvPr/>
        </p:nvSpPr>
        <p:spPr>
          <a:xfrm>
            <a:off x="1000125" y="2809875"/>
            <a:ext cx="3810000" cy="523875"/>
          </a:xfrm>
          <a:prstGeom prst="roundRect">
            <a:avLst>
              <a:gd name="adj" fmla="val 14545"/>
            </a:avLst>
          </a:prstGeom>
          <a:solidFill>
            <a:srgbClr val="0B132B"/>
          </a:solidFill>
          <a:ln w="9525">
            <a:solidFill>
              <a:srgbClr val="EF4444"/>
            </a:solidFill>
          </a:ln>
        </p:spPr>
      </p:sp>
      <p:sp>
        <p:nvSpPr>
          <p:cNvPr id="12" name="TextBox 12"/>
          <p:cNvSpPr txBox="1"/>
          <p:nvPr/>
        </p:nvSpPr>
        <p:spPr>
          <a:xfrm>
            <a:off x="1138047" y="2914650"/>
            <a:ext cx="2264252" cy="191643"/>
          </a:xfrm>
          <a:prstGeom prst="rect">
            <a:avLst/>
          </a:prstGeom>
          <a:noFill/>
          <a:ln>
            <a:noFill/>
          </a:ln>
        </p:spPr>
        <p:txBody>
          <a:bodyPr wrap="none" lIns="0" tIns="0" rIns="0" bIns="0" anchor="t" anchorCtr="0">
            <a:spAutoFit/>
          </a:bodyPr>
          <a:lstStyle/>
          <a:p>
            <a:pPr algn="l"/>
            <a:r>
              <a:rPr lang="zh-CN" sz="980" b="1" dirty="0">
                <a:solidFill>
                  <a:srgbClr val="EF4444"/>
                </a:solidFill>
                <a:latin typeface="+mn-lt"/>
                <a:ea typeface="+mn-ea"/>
                <a:cs typeface="+mn-cs"/>
              </a:rPr>
              <a:t>阶段一 · 家道惨澹 (S1~S7)：低谷断崖</a:t>
            </a:r>
          </a:p>
        </p:txBody>
      </p:sp>
      <p:sp>
        <p:nvSpPr>
          <p:cNvPr id="13" name="TextBox 13"/>
          <p:cNvSpPr txBox="1"/>
          <p:nvPr/>
        </p:nvSpPr>
        <p:spPr>
          <a:xfrm>
            <a:off x="1138238" y="3105150"/>
            <a:ext cx="2931032"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祖母去世、差使交卸、变卖典质 ➔ 悲痛 -0.9, 惨澹 -0.8</a:t>
            </a:r>
          </a:p>
        </p:txBody>
      </p:sp>
      <p:sp>
        <p:nvSpPr>
          <p:cNvPr id="14" name="Rectangle 14"/>
          <p:cNvSpPr/>
          <p:nvPr/>
        </p:nvSpPr>
        <p:spPr>
          <a:xfrm>
            <a:off x="1000125" y="3429000"/>
            <a:ext cx="3810000" cy="523875"/>
          </a:xfrm>
          <a:prstGeom prst="roundRect">
            <a:avLst>
              <a:gd name="adj" fmla="val 14545"/>
            </a:avLst>
          </a:prstGeom>
          <a:solidFill>
            <a:srgbClr val="0B132B"/>
          </a:solidFill>
          <a:ln w="9525">
            <a:solidFill>
              <a:srgbClr val="818CF8"/>
            </a:solidFill>
          </a:ln>
        </p:spPr>
      </p:sp>
      <p:sp>
        <p:nvSpPr>
          <p:cNvPr id="15" name="TextBox 15"/>
          <p:cNvSpPr txBox="1"/>
          <p:nvPr/>
        </p:nvSpPr>
        <p:spPr>
          <a:xfrm>
            <a:off x="1138047" y="3533775"/>
            <a:ext cx="2341784" cy="191643"/>
          </a:xfrm>
          <a:prstGeom prst="rect">
            <a:avLst/>
          </a:prstGeom>
          <a:noFill/>
          <a:ln>
            <a:noFill/>
          </a:ln>
        </p:spPr>
        <p:txBody>
          <a:bodyPr wrap="none" lIns="0" tIns="0" rIns="0" bIns="0" anchor="t" anchorCtr="0">
            <a:spAutoFit/>
          </a:bodyPr>
          <a:lstStyle/>
          <a:p>
            <a:pPr algn="l"/>
            <a:r>
              <a:rPr lang="zh-CN" sz="980" b="1" dirty="0">
                <a:solidFill>
                  <a:srgbClr val="818CF8"/>
                </a:solidFill>
                <a:latin typeface="+mn-lt"/>
                <a:ea typeface="+mn-ea"/>
                <a:cs typeface="+mn-cs"/>
              </a:rPr>
              <a:t>阶段二 · 车站送别 (S8~S29)：微妙波折</a:t>
            </a:r>
          </a:p>
        </p:txBody>
      </p:sp>
      <p:sp>
        <p:nvSpPr>
          <p:cNvPr id="16" name="TextBox 16"/>
          <p:cNvSpPr txBox="1"/>
          <p:nvPr/>
        </p:nvSpPr>
        <p:spPr>
          <a:xfrm>
            <a:off x="1138238" y="3724275"/>
            <a:ext cx="2961443"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踌躇不决、讲价照看、暗笑迂腐 ➔ 自责 -0.6, 关切 +0.6</a:t>
            </a:r>
          </a:p>
        </p:txBody>
      </p:sp>
      <p:sp>
        <p:nvSpPr>
          <p:cNvPr id="17" name="Rectangle 17"/>
          <p:cNvSpPr/>
          <p:nvPr/>
        </p:nvSpPr>
        <p:spPr>
          <a:xfrm>
            <a:off x="1000125" y="4048125"/>
            <a:ext cx="3810000" cy="523875"/>
          </a:xfrm>
          <a:prstGeom prst="roundRect">
            <a:avLst>
              <a:gd name="adj" fmla="val 14545"/>
            </a:avLst>
          </a:prstGeom>
          <a:solidFill>
            <a:srgbClr val="0B132B"/>
          </a:solidFill>
          <a:ln w="9525">
            <a:solidFill>
              <a:srgbClr val="34D399"/>
            </a:solidFill>
          </a:ln>
        </p:spPr>
      </p:sp>
      <p:sp>
        <p:nvSpPr>
          <p:cNvPr id="18" name="TextBox 18"/>
          <p:cNvSpPr txBox="1"/>
          <p:nvPr/>
        </p:nvSpPr>
        <p:spPr>
          <a:xfrm>
            <a:off x="1138047" y="4152900"/>
            <a:ext cx="2683171" cy="191643"/>
          </a:xfrm>
          <a:prstGeom prst="rect">
            <a:avLst/>
          </a:prstGeom>
          <a:noFill/>
          <a:ln>
            <a:noFill/>
          </a:ln>
        </p:spPr>
        <p:txBody>
          <a:bodyPr wrap="none" lIns="0" tIns="0" rIns="0" bIns="0" anchor="t" anchorCtr="0">
            <a:spAutoFit/>
          </a:bodyPr>
          <a:lstStyle/>
          <a:p>
            <a:pPr algn="l"/>
            <a:r>
              <a:rPr lang="zh-CN" sz="980" b="1" dirty="0">
                <a:solidFill>
                  <a:srgbClr val="34D399"/>
                </a:solidFill>
                <a:latin typeface="+mn-lt"/>
                <a:ea typeface="+mn-ea"/>
                <a:cs typeface="+mn-cs"/>
              </a:rPr>
              <a:t>阶段三 · 攀爬买橘 (S30~S43)：全篇高潮暖色</a:t>
            </a:r>
          </a:p>
        </p:txBody>
      </p:sp>
      <p:sp>
        <p:nvSpPr>
          <p:cNvPr id="19" name="TextBox 19"/>
          <p:cNvSpPr txBox="1"/>
          <p:nvPr/>
        </p:nvSpPr>
        <p:spPr>
          <a:xfrm>
            <a:off x="1138238" y="4343400"/>
            <a:ext cx="2991853"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蹒跚探身、肥胖微倾、扑扑泥土 ➔ 努力 +0.3, 感动 +0.6</a:t>
            </a:r>
          </a:p>
        </p:txBody>
      </p:sp>
      <p:sp>
        <p:nvSpPr>
          <p:cNvPr id="20" name="Rectangle 20"/>
          <p:cNvSpPr/>
          <p:nvPr/>
        </p:nvSpPr>
        <p:spPr>
          <a:xfrm>
            <a:off x="1000125" y="4667250"/>
            <a:ext cx="3810000" cy="571500"/>
          </a:xfrm>
          <a:prstGeom prst="roundRect">
            <a:avLst>
              <a:gd name="adj" fmla="val 13333"/>
            </a:avLst>
          </a:prstGeom>
          <a:solidFill>
            <a:srgbClr val="0B132B"/>
          </a:solidFill>
          <a:ln w="9525">
            <a:solidFill>
              <a:srgbClr val="F59E0B"/>
            </a:solidFill>
          </a:ln>
        </p:spPr>
      </p:sp>
      <p:sp>
        <p:nvSpPr>
          <p:cNvPr id="21" name="TextBox 21"/>
          <p:cNvSpPr txBox="1"/>
          <p:nvPr/>
        </p:nvSpPr>
        <p:spPr>
          <a:xfrm>
            <a:off x="1138047" y="4772025"/>
            <a:ext cx="2419316" cy="191643"/>
          </a:xfrm>
          <a:prstGeom prst="rect">
            <a:avLst/>
          </a:prstGeom>
          <a:noFill/>
          <a:ln>
            <a:noFill/>
          </a:ln>
        </p:spPr>
        <p:txBody>
          <a:bodyPr wrap="none" lIns="0" tIns="0" rIns="0" bIns="0" anchor="t" anchorCtr="0">
            <a:spAutoFit/>
          </a:bodyPr>
          <a:lstStyle/>
          <a:p>
            <a:pPr algn="l"/>
            <a:r>
              <a:rPr lang="zh-CN" sz="980" b="1" dirty="0">
                <a:solidFill>
                  <a:srgbClr val="F59E0B"/>
                </a:solidFill>
                <a:latin typeface="+mn-lt"/>
                <a:ea typeface="+mn-ea"/>
                <a:cs typeface="+mn-cs"/>
              </a:rPr>
              <a:t>阶段四 · 离别回首 (S44~S58)：晚景惆怅</a:t>
            </a:r>
          </a:p>
        </p:txBody>
      </p:sp>
      <p:sp>
        <p:nvSpPr>
          <p:cNvPr id="22" name="TextBox 22"/>
          <p:cNvSpPr txBox="1"/>
          <p:nvPr/>
        </p:nvSpPr>
        <p:spPr>
          <a:xfrm>
            <a:off x="1138238" y="4981575"/>
            <a:ext cx="2809874" cy="176212"/>
          </a:xfrm>
          <a:prstGeom prst="rect">
            <a:avLst/>
          </a:prstGeom>
          <a:noFill/>
          <a:ln>
            <a:noFill/>
          </a:ln>
        </p:spPr>
        <p:txBody>
          <a:bodyPr wrap="none" lIns="0" tIns="0" rIns="0" bIns="0" anchor="t" anchorCtr="0">
            <a:spAutoFit/>
          </a:bodyPr>
          <a:lstStyle/>
          <a:p>
            <a:pPr algn="l"/>
            <a:r>
              <a:rPr lang="zh-CN" sz="900" dirty="0">
                <a:solidFill>
                  <a:srgbClr val="94A3B8"/>
                </a:solidFill>
                <a:latin typeface="+mn-lt"/>
                <a:ea typeface="+mn-ea"/>
                <a:cs typeface="+mn-cs"/>
              </a:rPr>
              <a:t>背影混入人流、大去之期不远 ➔ 悲伤 -0.8, 惆怅 -0.6</a:t>
            </a:r>
          </a:p>
        </p:txBody>
      </p:sp>
      <p:sp>
        <p:nvSpPr>
          <p:cNvPr id="23" name="Rectangle 23"/>
          <p:cNvSpPr/>
          <p:nvPr/>
        </p:nvSpPr>
        <p:spPr>
          <a:xfrm>
            <a:off x="5238750" y="1381125"/>
            <a:ext cx="6191250" cy="4048125"/>
          </a:xfrm>
          <a:prstGeom prst="roundRect">
            <a:avLst>
              <a:gd name="adj" fmla="val 3765"/>
            </a:avLst>
          </a:prstGeom>
          <a:solidFill>
            <a:srgbClr val="1C2541"/>
          </a:solidFill>
          <a:ln w="14288">
            <a:solidFill>
              <a:srgbClr val="334155"/>
            </a:solidFill>
          </a:ln>
        </p:spPr>
      </p:sp>
      <p:sp>
        <p:nvSpPr>
          <p:cNvPr id="24" name="TextBox 24"/>
          <p:cNvSpPr txBox="1"/>
          <p:nvPr/>
        </p:nvSpPr>
        <p:spPr>
          <a:xfrm>
            <a:off x="5470017" y="1549400"/>
            <a:ext cx="3951193" cy="264033"/>
          </a:xfrm>
          <a:prstGeom prst="rect">
            <a:avLst/>
          </a:prstGeom>
          <a:noFill/>
          <a:ln>
            <a:noFill/>
          </a:ln>
        </p:spPr>
        <p:txBody>
          <a:bodyPr wrap="none" lIns="0" tIns="0" rIns="0" bIns="0" anchor="t" anchorCtr="0">
            <a:spAutoFit/>
          </a:bodyPr>
          <a:lstStyle/>
          <a:p>
            <a:pPr algn="l"/>
            <a:r>
              <a:rPr lang="zh-CN" sz="1350" b="1" dirty="0">
                <a:solidFill>
                  <a:srgbClr val="F8FAFC"/>
                </a:solidFill>
                <a:latin typeface="+mn-lt"/>
                <a:ea typeface="+mn-ea"/>
                <a:cs typeface="+mn-cs"/>
              </a:rPr>
              <a:t>散文全景情绪时序波形图 (对应 output_7_1.png)</a:t>
            </a:r>
          </a:p>
        </p:txBody>
      </p:sp>
      <p:sp>
        <p:nvSpPr>
          <p:cNvPr id="25" name="Rectangle 25"/>
          <p:cNvSpPr/>
          <p:nvPr/>
        </p:nvSpPr>
        <p:spPr>
          <a:xfrm>
            <a:off x="5476875" y="1857375"/>
            <a:ext cx="5715000" cy="2238375"/>
          </a:xfrm>
          <a:prstGeom prst="roundRect">
            <a:avLst>
              <a:gd name="adj" fmla="val 4255"/>
            </a:avLst>
          </a:prstGeom>
          <a:solidFill>
            <a:srgbClr val="0B132B"/>
          </a:solidFill>
          <a:ln w="9525">
            <a:solidFill>
              <a:srgbClr val="334155"/>
            </a:solidFill>
          </a:ln>
        </p:spPr>
      </p:sp>
      <p:sp>
        <p:nvSpPr>
          <p:cNvPr id="26" name="Line 26"/>
          <p:cNvSpPr/>
          <p:nvPr/>
        </p:nvSpPr>
        <p:spPr>
          <a:xfrm>
            <a:off x="5905500" y="2952750"/>
            <a:ext cx="5000625" cy="9525"/>
          </a:xfrm>
          <a:custGeom>
            <a:avLst/>
            <a:gdLst/>
            <a:ahLst/>
            <a:cxnLst/>
            <a:rect l="l" t="t" r="r" b="b"/>
            <a:pathLst>
              <a:path w="5000625" h="9525">
                <a:moveTo>
                  <a:pt x="0" y="0"/>
                </a:moveTo>
                <a:lnTo>
                  <a:pt x="5000625" y="0"/>
                </a:lnTo>
              </a:path>
            </a:pathLst>
          </a:custGeom>
          <a:noFill/>
          <a:ln w="9525">
            <a:solidFill>
              <a:srgbClr val="475569"/>
            </a:solidFill>
          </a:ln>
        </p:spPr>
      </p:sp>
      <p:sp>
        <p:nvSpPr>
          <p:cNvPr id="27" name="Line 27"/>
          <p:cNvSpPr/>
          <p:nvPr/>
        </p:nvSpPr>
        <p:spPr>
          <a:xfrm>
            <a:off x="5905500" y="2190750"/>
            <a:ext cx="5000625" cy="9525"/>
          </a:xfrm>
          <a:custGeom>
            <a:avLst/>
            <a:gdLst/>
            <a:ahLst/>
            <a:cxnLst/>
            <a:rect l="l" t="t" r="r" b="b"/>
            <a:pathLst>
              <a:path w="5000625" h="9525">
                <a:moveTo>
                  <a:pt x="0" y="0"/>
                </a:moveTo>
                <a:lnTo>
                  <a:pt x="5000625" y="0"/>
                </a:lnTo>
              </a:path>
            </a:pathLst>
          </a:custGeom>
          <a:noFill/>
          <a:ln w="9525">
            <a:solidFill>
              <a:srgbClr val="334155"/>
            </a:solidFill>
            <a:custDash>
              <a:ds d="300000" sp="300000"/>
            </a:custDash>
          </a:ln>
        </p:spPr>
      </p:sp>
      <p:sp>
        <p:nvSpPr>
          <p:cNvPr id="28" name="Line 28"/>
          <p:cNvSpPr/>
          <p:nvPr/>
        </p:nvSpPr>
        <p:spPr>
          <a:xfrm>
            <a:off x="5905500" y="3714750"/>
            <a:ext cx="5000625" cy="9525"/>
          </a:xfrm>
          <a:custGeom>
            <a:avLst/>
            <a:gdLst/>
            <a:ahLst/>
            <a:cxnLst/>
            <a:rect l="l" t="t" r="r" b="b"/>
            <a:pathLst>
              <a:path w="5000625" h="9525">
                <a:moveTo>
                  <a:pt x="0" y="0"/>
                </a:moveTo>
                <a:lnTo>
                  <a:pt x="5000625" y="0"/>
                </a:lnTo>
              </a:path>
            </a:pathLst>
          </a:custGeom>
          <a:noFill/>
          <a:ln w="9525">
            <a:solidFill>
              <a:srgbClr val="334155"/>
            </a:solidFill>
            <a:custDash>
              <a:ds d="300000" sp="300000"/>
            </a:custDash>
          </a:ln>
        </p:spPr>
      </p:sp>
      <p:sp>
        <p:nvSpPr>
          <p:cNvPr id="29" name="Line 29"/>
          <p:cNvSpPr/>
          <p:nvPr/>
        </p:nvSpPr>
        <p:spPr>
          <a:xfrm>
            <a:off x="5905500" y="2047875"/>
            <a:ext cx="9525" cy="1809750"/>
          </a:xfrm>
          <a:custGeom>
            <a:avLst/>
            <a:gdLst/>
            <a:ahLst/>
            <a:cxnLst/>
            <a:rect l="l" t="t" r="r" b="b"/>
            <a:pathLst>
              <a:path w="9525" h="1809750">
                <a:moveTo>
                  <a:pt x="0" y="0"/>
                </a:moveTo>
                <a:lnTo>
                  <a:pt x="0" y="1809750"/>
                </a:lnTo>
              </a:path>
            </a:pathLst>
          </a:custGeom>
          <a:noFill/>
          <a:ln w="9525">
            <a:solidFill>
              <a:srgbClr val="475569"/>
            </a:solidFill>
          </a:ln>
        </p:spPr>
      </p:sp>
      <p:sp>
        <p:nvSpPr>
          <p:cNvPr id="30" name="TextBox 30"/>
          <p:cNvSpPr txBox="1"/>
          <p:nvPr/>
        </p:nvSpPr>
        <p:spPr>
          <a:xfrm>
            <a:off x="5625212" y="2149475"/>
            <a:ext cx="208850" cy="147638"/>
          </a:xfrm>
          <a:prstGeom prst="rect">
            <a:avLst/>
          </a:prstGeom>
          <a:noFill/>
          <a:ln>
            <a:noFill/>
          </a:ln>
        </p:spPr>
        <p:txBody>
          <a:bodyPr wrap="none" lIns="0" tIns="0" rIns="0" bIns="0" anchor="t" anchorCtr="0">
            <a:spAutoFit/>
          </a:bodyPr>
          <a:lstStyle/>
          <a:p>
            <a:pPr algn="r"/>
            <a:r>
              <a:rPr lang="zh-CN" sz="750" dirty="0">
                <a:solidFill>
                  <a:srgbClr val="34D399"/>
                </a:solidFill>
                <a:latin typeface="+mn-lt"/>
                <a:ea typeface="+mn-ea"/>
                <a:cs typeface="+mn-cs"/>
              </a:rPr>
              <a:t>+1.0</a:t>
            </a:r>
          </a:p>
        </p:txBody>
      </p:sp>
      <p:sp>
        <p:nvSpPr>
          <p:cNvPr id="31" name="TextBox 31"/>
          <p:cNvSpPr txBox="1"/>
          <p:nvPr/>
        </p:nvSpPr>
        <p:spPr>
          <a:xfrm>
            <a:off x="5684176" y="2901950"/>
            <a:ext cx="149887" cy="147638"/>
          </a:xfrm>
          <a:prstGeom prst="rect">
            <a:avLst/>
          </a:prstGeom>
          <a:noFill/>
          <a:ln>
            <a:noFill/>
          </a:ln>
        </p:spPr>
        <p:txBody>
          <a:bodyPr wrap="none" lIns="0" tIns="0" rIns="0" bIns="0" anchor="t" anchorCtr="0">
            <a:spAutoFit/>
          </a:bodyPr>
          <a:lstStyle/>
          <a:p>
            <a:pPr algn="r"/>
            <a:r>
              <a:rPr lang="zh-CN" sz="750" dirty="0">
                <a:solidFill>
                  <a:srgbClr val="64748B"/>
                </a:solidFill>
                <a:latin typeface="+mn-lt"/>
                <a:ea typeface="+mn-ea"/>
                <a:cs typeface="+mn-cs"/>
              </a:rPr>
              <a:t>0.0</a:t>
            </a:r>
          </a:p>
        </p:txBody>
      </p:sp>
      <p:sp>
        <p:nvSpPr>
          <p:cNvPr id="32" name="TextBox 32"/>
          <p:cNvSpPr txBox="1"/>
          <p:nvPr/>
        </p:nvSpPr>
        <p:spPr>
          <a:xfrm>
            <a:off x="5650555" y="3663950"/>
            <a:ext cx="183508" cy="147638"/>
          </a:xfrm>
          <a:prstGeom prst="rect">
            <a:avLst/>
          </a:prstGeom>
          <a:noFill/>
          <a:ln>
            <a:noFill/>
          </a:ln>
        </p:spPr>
        <p:txBody>
          <a:bodyPr wrap="none" lIns="0" tIns="0" rIns="0" bIns="0" anchor="t" anchorCtr="0">
            <a:spAutoFit/>
          </a:bodyPr>
          <a:lstStyle/>
          <a:p>
            <a:pPr algn="r"/>
            <a:r>
              <a:rPr lang="zh-CN" sz="750" dirty="0">
                <a:solidFill>
                  <a:srgbClr val="EF4444"/>
                </a:solidFill>
                <a:latin typeface="+mn-lt"/>
                <a:ea typeface="+mn-ea"/>
                <a:cs typeface="+mn-cs"/>
              </a:rPr>
              <a:t>-1.0</a:t>
            </a:r>
          </a:p>
        </p:txBody>
      </p:sp>
      <p:sp>
        <p:nvSpPr>
          <p:cNvPr id="33" name="TextBox 33"/>
          <p:cNvSpPr txBox="1"/>
          <p:nvPr/>
        </p:nvSpPr>
        <p:spPr>
          <a:xfrm>
            <a:off x="5948362" y="3911600"/>
            <a:ext cx="199351" cy="147638"/>
          </a:xfrm>
          <a:prstGeom prst="rect">
            <a:avLst/>
          </a:prstGeom>
          <a:noFill/>
          <a:ln>
            <a:noFill/>
          </a:ln>
        </p:spPr>
        <p:txBody>
          <a:bodyPr wrap="none" lIns="0" tIns="0" rIns="0" bIns="0" anchor="t" anchorCtr="0">
            <a:spAutoFit/>
          </a:bodyPr>
          <a:lstStyle/>
          <a:p>
            <a:pPr algn="l"/>
            <a:r>
              <a:rPr lang="en-US" sz="750" dirty="0">
                <a:solidFill>
                  <a:srgbClr val="64748B"/>
                </a:solidFill>
                <a:latin typeface="+mn-lt"/>
                <a:ea typeface="+mn-ea"/>
                <a:cs typeface="+mn-cs"/>
              </a:rPr>
              <a:t>S01</a:t>
            </a:r>
          </a:p>
        </p:txBody>
      </p:sp>
      <p:sp>
        <p:nvSpPr>
          <p:cNvPr id="34" name="TextBox 34"/>
          <p:cNvSpPr txBox="1"/>
          <p:nvPr/>
        </p:nvSpPr>
        <p:spPr>
          <a:xfrm>
            <a:off x="7138988" y="3911600"/>
            <a:ext cx="470427"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S15(送别)</a:t>
            </a:r>
          </a:p>
        </p:txBody>
      </p:sp>
      <p:sp>
        <p:nvSpPr>
          <p:cNvPr id="35" name="TextBox 35"/>
          <p:cNvSpPr txBox="1"/>
          <p:nvPr/>
        </p:nvSpPr>
        <p:spPr>
          <a:xfrm>
            <a:off x="8662988" y="3911600"/>
            <a:ext cx="571392"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S36(买橘子)</a:t>
            </a:r>
          </a:p>
        </p:txBody>
      </p:sp>
      <p:sp>
        <p:nvSpPr>
          <p:cNvPr id="36" name="TextBox 36"/>
          <p:cNvSpPr txBox="1"/>
          <p:nvPr/>
        </p:nvSpPr>
        <p:spPr>
          <a:xfrm>
            <a:off x="9710738" y="3911600"/>
            <a:ext cx="470427"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S47(分别)</a:t>
            </a:r>
          </a:p>
        </p:txBody>
      </p:sp>
      <p:sp>
        <p:nvSpPr>
          <p:cNvPr id="37" name="TextBox 37"/>
          <p:cNvSpPr txBox="1"/>
          <p:nvPr/>
        </p:nvSpPr>
        <p:spPr>
          <a:xfrm>
            <a:off x="10710862" y="3911600"/>
            <a:ext cx="369462" cy="147638"/>
          </a:xfrm>
          <a:prstGeom prst="rect">
            <a:avLst/>
          </a:prstGeom>
          <a:noFill/>
          <a:ln>
            <a:noFill/>
          </a:ln>
        </p:spPr>
        <p:txBody>
          <a:bodyPr wrap="none" lIns="0" tIns="0" rIns="0" bIns="0" anchor="t" anchorCtr="0">
            <a:spAutoFit/>
          </a:bodyPr>
          <a:lstStyle/>
          <a:p>
            <a:pPr algn="l"/>
            <a:r>
              <a:rPr lang="zh-CN" sz="750" dirty="0">
                <a:solidFill>
                  <a:srgbClr val="64748B"/>
                </a:solidFill>
                <a:latin typeface="+mn-lt"/>
                <a:ea typeface="+mn-ea"/>
                <a:cs typeface="+mn-cs"/>
              </a:rPr>
              <a:t>S58(信)</a:t>
            </a:r>
          </a:p>
        </p:txBody>
      </p:sp>
      <p:sp>
        <p:nvSpPr>
          <p:cNvPr id="38" name="Polyline 38"/>
          <p:cNvSpPr/>
          <p:nvPr/>
        </p:nvSpPr>
        <p:spPr>
          <a:xfrm>
            <a:off x="5953125" y="2419350"/>
            <a:ext cx="4886325" cy="1219200"/>
          </a:xfrm>
          <a:custGeom>
            <a:avLst/>
            <a:gdLst/>
            <a:ahLst/>
            <a:cxnLst/>
            <a:rect l="l" t="t" r="r" b="b"/>
            <a:pathLst>
              <a:path w="4886325" h="1219200">
                <a:moveTo>
                  <a:pt x="0" y="304800"/>
                </a:moveTo>
                <a:lnTo>
                  <a:pt x="85725" y="1219200"/>
                </a:lnTo>
                <a:lnTo>
                  <a:pt x="171450" y="1219200"/>
                </a:lnTo>
                <a:lnTo>
                  <a:pt x="257175" y="1143000"/>
                </a:lnTo>
                <a:lnTo>
                  <a:pt x="342900" y="304800"/>
                </a:lnTo>
                <a:lnTo>
                  <a:pt x="428625" y="1143000"/>
                </a:lnTo>
                <a:lnTo>
                  <a:pt x="514350" y="1143000"/>
                </a:lnTo>
                <a:lnTo>
                  <a:pt x="600075" y="533400"/>
                </a:lnTo>
                <a:lnTo>
                  <a:pt x="685800" y="533400"/>
                </a:lnTo>
                <a:lnTo>
                  <a:pt x="771525" y="762000"/>
                </a:lnTo>
                <a:lnTo>
                  <a:pt x="857250" y="304800"/>
                </a:lnTo>
                <a:lnTo>
                  <a:pt x="942975" y="762000"/>
                </a:lnTo>
                <a:lnTo>
                  <a:pt x="1028700" y="381000"/>
                </a:lnTo>
                <a:lnTo>
                  <a:pt x="1114425" y="457200"/>
                </a:lnTo>
                <a:lnTo>
                  <a:pt x="1200150" y="762000"/>
                </a:lnTo>
                <a:lnTo>
                  <a:pt x="1285875" y="533400"/>
                </a:lnTo>
                <a:lnTo>
                  <a:pt x="1371600" y="533400"/>
                </a:lnTo>
                <a:lnTo>
                  <a:pt x="1457325" y="762000"/>
                </a:lnTo>
                <a:lnTo>
                  <a:pt x="1543050" y="762000"/>
                </a:lnTo>
                <a:lnTo>
                  <a:pt x="1628775" y="990600"/>
                </a:lnTo>
                <a:lnTo>
                  <a:pt x="1714500" y="76200"/>
                </a:lnTo>
                <a:lnTo>
                  <a:pt x="1800225" y="76200"/>
                </a:lnTo>
                <a:lnTo>
                  <a:pt x="1885950" y="76200"/>
                </a:lnTo>
                <a:lnTo>
                  <a:pt x="1971675" y="838200"/>
                </a:lnTo>
                <a:lnTo>
                  <a:pt x="2057400" y="990600"/>
                </a:lnTo>
                <a:lnTo>
                  <a:pt x="2143125" y="838200"/>
                </a:lnTo>
                <a:lnTo>
                  <a:pt x="2228850" y="457200"/>
                </a:lnTo>
                <a:lnTo>
                  <a:pt x="2314575" y="533400"/>
                </a:lnTo>
                <a:lnTo>
                  <a:pt x="2400300" y="533400"/>
                </a:lnTo>
                <a:lnTo>
                  <a:pt x="2486025" y="762000"/>
                </a:lnTo>
                <a:lnTo>
                  <a:pt x="2571750" y="533400"/>
                </a:lnTo>
                <a:lnTo>
                  <a:pt x="2657475" y="762000"/>
                </a:lnTo>
                <a:lnTo>
                  <a:pt x="2743200" y="533400"/>
                </a:lnTo>
                <a:lnTo>
                  <a:pt x="2828925" y="838200"/>
                </a:lnTo>
                <a:lnTo>
                  <a:pt x="2914650" y="304800"/>
                </a:lnTo>
                <a:lnTo>
                  <a:pt x="3000375" y="76200"/>
                </a:lnTo>
                <a:lnTo>
                  <a:pt x="3086100" y="990600"/>
                </a:lnTo>
                <a:lnTo>
                  <a:pt x="3171825" y="990600"/>
                </a:lnTo>
                <a:lnTo>
                  <a:pt x="3257550" y="76200"/>
                </a:lnTo>
                <a:lnTo>
                  <a:pt x="3343275" y="76200"/>
                </a:lnTo>
                <a:lnTo>
                  <a:pt x="3429000" y="76200"/>
                </a:lnTo>
                <a:lnTo>
                  <a:pt x="3514725" y="76200"/>
                </a:lnTo>
                <a:lnTo>
                  <a:pt x="3600450" y="76200"/>
                </a:lnTo>
                <a:lnTo>
                  <a:pt x="3686175" y="762000"/>
                </a:lnTo>
                <a:lnTo>
                  <a:pt x="3771900" y="838200"/>
                </a:lnTo>
                <a:lnTo>
                  <a:pt x="3857625" y="762000"/>
                </a:lnTo>
                <a:lnTo>
                  <a:pt x="3943350" y="1143000"/>
                </a:lnTo>
                <a:lnTo>
                  <a:pt x="4029075" y="1066800"/>
                </a:lnTo>
                <a:lnTo>
                  <a:pt x="4114800" y="0"/>
                </a:lnTo>
                <a:lnTo>
                  <a:pt x="4200525" y="1143000"/>
                </a:lnTo>
                <a:lnTo>
                  <a:pt x="4286250" y="1143000"/>
                </a:lnTo>
                <a:lnTo>
                  <a:pt x="4371975" y="1066800"/>
                </a:lnTo>
                <a:lnTo>
                  <a:pt x="4457700" y="990600"/>
                </a:lnTo>
                <a:lnTo>
                  <a:pt x="4543425" y="76200"/>
                </a:lnTo>
                <a:lnTo>
                  <a:pt x="4629150" y="1143000"/>
                </a:lnTo>
                <a:lnTo>
                  <a:pt x="4714875" y="76200"/>
                </a:lnTo>
                <a:lnTo>
                  <a:pt x="4800600" y="990600"/>
                </a:lnTo>
                <a:lnTo>
                  <a:pt x="4886325" y="990600"/>
                </a:lnTo>
              </a:path>
            </a:pathLst>
          </a:custGeom>
          <a:noFill/>
          <a:ln w="17145">
            <a:solidFill>
              <a:srgbClr val="38BDF8"/>
            </a:solidFill>
          </a:ln>
        </p:spPr>
      </p:sp>
      <p:sp>
        <p:nvSpPr>
          <p:cNvPr id="39" name="Ellipse 39"/>
          <p:cNvSpPr/>
          <p:nvPr/>
        </p:nvSpPr>
        <p:spPr>
          <a:xfrm>
            <a:off x="8905875" y="2447925"/>
            <a:ext cx="95250" cy="95250"/>
          </a:xfrm>
          <a:prstGeom prst="ellipse">
            <a:avLst/>
          </a:prstGeom>
          <a:solidFill>
            <a:srgbClr val="34D399"/>
          </a:solidFill>
          <a:ln>
            <a:noFill/>
          </a:ln>
        </p:spPr>
      </p:sp>
      <p:sp>
        <p:nvSpPr>
          <p:cNvPr id="40" name="Rectangle 40"/>
          <p:cNvSpPr/>
          <p:nvPr/>
        </p:nvSpPr>
        <p:spPr>
          <a:xfrm>
            <a:off x="8715375" y="2286000"/>
            <a:ext cx="476250" cy="171450"/>
          </a:xfrm>
          <a:prstGeom prst="roundRect">
            <a:avLst>
              <a:gd name="adj" fmla="val 22222"/>
            </a:avLst>
          </a:prstGeom>
          <a:solidFill>
            <a:srgbClr val="34D399">
              <a:alpha val="20000"/>
            </a:srgbClr>
          </a:solidFill>
          <a:ln w="9525">
            <a:solidFill>
              <a:srgbClr val="34D399"/>
            </a:solidFill>
          </a:ln>
        </p:spPr>
      </p:sp>
      <p:sp>
        <p:nvSpPr>
          <p:cNvPr id="41" name="TextBox 41"/>
          <p:cNvSpPr txBox="1"/>
          <p:nvPr/>
        </p:nvSpPr>
        <p:spPr>
          <a:xfrm>
            <a:off x="8734086" y="2320925"/>
            <a:ext cx="438828" cy="147638"/>
          </a:xfrm>
          <a:prstGeom prst="rect">
            <a:avLst/>
          </a:prstGeom>
          <a:noFill/>
          <a:ln>
            <a:noFill/>
          </a:ln>
        </p:spPr>
        <p:txBody>
          <a:bodyPr wrap="none" lIns="0" tIns="0" rIns="0" bIns="0" anchor="t" anchorCtr="0">
            <a:spAutoFit/>
          </a:bodyPr>
          <a:lstStyle/>
          <a:p>
            <a:pPr algn="ctr"/>
            <a:r>
              <a:rPr lang="zh-CN" sz="750" b="1" dirty="0">
                <a:solidFill>
                  <a:srgbClr val="34D399"/>
                </a:solidFill>
                <a:latin typeface="+mn-lt"/>
                <a:ea typeface="+mn-ea"/>
                <a:cs typeface="+mn-cs"/>
              </a:rPr>
              <a:t>感动 +0.6</a:t>
            </a:r>
          </a:p>
        </p:txBody>
      </p:sp>
      <p:sp>
        <p:nvSpPr>
          <p:cNvPr id="42" name="Ellipse 42"/>
          <p:cNvSpPr/>
          <p:nvPr/>
        </p:nvSpPr>
        <p:spPr>
          <a:xfrm>
            <a:off x="5991225" y="3590925"/>
            <a:ext cx="95250" cy="95250"/>
          </a:xfrm>
          <a:prstGeom prst="ellipse">
            <a:avLst/>
          </a:prstGeom>
          <a:solidFill>
            <a:srgbClr val="EF4444"/>
          </a:solidFill>
          <a:ln>
            <a:noFill/>
          </a:ln>
        </p:spPr>
      </p:sp>
      <p:sp>
        <p:nvSpPr>
          <p:cNvPr id="43" name="Rectangle 43"/>
          <p:cNvSpPr/>
          <p:nvPr/>
        </p:nvSpPr>
        <p:spPr>
          <a:xfrm>
            <a:off x="5953125" y="3695700"/>
            <a:ext cx="476250" cy="171450"/>
          </a:xfrm>
          <a:prstGeom prst="roundRect">
            <a:avLst>
              <a:gd name="adj" fmla="val 22222"/>
            </a:avLst>
          </a:prstGeom>
          <a:solidFill>
            <a:srgbClr val="EF4444">
              <a:alpha val="20000"/>
            </a:srgbClr>
          </a:solidFill>
          <a:ln w="9525">
            <a:solidFill>
              <a:srgbClr val="EF4444"/>
            </a:solidFill>
          </a:ln>
        </p:spPr>
      </p:sp>
      <p:sp>
        <p:nvSpPr>
          <p:cNvPr id="44" name="TextBox 44"/>
          <p:cNvSpPr txBox="1"/>
          <p:nvPr/>
        </p:nvSpPr>
        <p:spPr>
          <a:xfrm>
            <a:off x="5984507" y="3730625"/>
            <a:ext cx="413486" cy="147638"/>
          </a:xfrm>
          <a:prstGeom prst="rect">
            <a:avLst/>
          </a:prstGeom>
          <a:noFill/>
          <a:ln>
            <a:noFill/>
          </a:ln>
        </p:spPr>
        <p:txBody>
          <a:bodyPr wrap="none" lIns="0" tIns="0" rIns="0" bIns="0" anchor="t" anchorCtr="0">
            <a:spAutoFit/>
          </a:bodyPr>
          <a:lstStyle/>
          <a:p>
            <a:pPr algn="ctr"/>
            <a:r>
              <a:rPr lang="zh-CN" sz="750" b="1" dirty="0">
                <a:solidFill>
                  <a:srgbClr val="EF4444"/>
                </a:solidFill>
                <a:latin typeface="+mn-lt"/>
                <a:ea typeface="+mn-ea"/>
                <a:cs typeface="+mn-cs"/>
              </a:rPr>
              <a:t>悲痛 -0.9</a:t>
            </a:r>
          </a:p>
        </p:txBody>
      </p:sp>
      <p:sp>
        <p:nvSpPr>
          <p:cNvPr id="45" name="Ellipse 45"/>
          <p:cNvSpPr/>
          <p:nvPr/>
        </p:nvSpPr>
        <p:spPr>
          <a:xfrm>
            <a:off x="10106025" y="3514725"/>
            <a:ext cx="95250" cy="95250"/>
          </a:xfrm>
          <a:prstGeom prst="ellipse">
            <a:avLst/>
          </a:prstGeom>
          <a:solidFill>
            <a:srgbClr val="EF4444"/>
          </a:solidFill>
          <a:ln>
            <a:noFill/>
          </a:ln>
        </p:spPr>
      </p:sp>
      <p:sp>
        <p:nvSpPr>
          <p:cNvPr id="46" name="Rectangle 46"/>
          <p:cNvSpPr/>
          <p:nvPr/>
        </p:nvSpPr>
        <p:spPr>
          <a:xfrm>
            <a:off x="10048875" y="3695700"/>
            <a:ext cx="476250" cy="171450"/>
          </a:xfrm>
          <a:prstGeom prst="roundRect">
            <a:avLst>
              <a:gd name="adj" fmla="val 22222"/>
            </a:avLst>
          </a:prstGeom>
          <a:solidFill>
            <a:srgbClr val="EF4444">
              <a:alpha val="20000"/>
            </a:srgbClr>
          </a:solidFill>
          <a:ln w="9525">
            <a:solidFill>
              <a:srgbClr val="EF4444"/>
            </a:solidFill>
          </a:ln>
        </p:spPr>
      </p:sp>
      <p:sp>
        <p:nvSpPr>
          <p:cNvPr id="47" name="TextBox 47"/>
          <p:cNvSpPr txBox="1"/>
          <p:nvPr/>
        </p:nvSpPr>
        <p:spPr>
          <a:xfrm>
            <a:off x="10080257" y="3730625"/>
            <a:ext cx="413486" cy="147638"/>
          </a:xfrm>
          <a:prstGeom prst="rect">
            <a:avLst/>
          </a:prstGeom>
          <a:noFill/>
          <a:ln>
            <a:noFill/>
          </a:ln>
        </p:spPr>
        <p:txBody>
          <a:bodyPr wrap="none" lIns="0" tIns="0" rIns="0" bIns="0" anchor="t" anchorCtr="0">
            <a:spAutoFit/>
          </a:bodyPr>
          <a:lstStyle/>
          <a:p>
            <a:pPr algn="ctr"/>
            <a:r>
              <a:rPr lang="zh-CN" sz="750" b="1" dirty="0">
                <a:solidFill>
                  <a:srgbClr val="EF4444"/>
                </a:solidFill>
                <a:latin typeface="+mn-lt"/>
                <a:ea typeface="+mn-ea"/>
                <a:cs typeface="+mn-cs"/>
              </a:rPr>
              <a:t>颓唐 -0.8</a:t>
            </a:r>
          </a:p>
        </p:txBody>
      </p:sp>
      <p:sp>
        <p:nvSpPr>
          <p:cNvPr id="48" name="Rectangle 48"/>
          <p:cNvSpPr/>
          <p:nvPr/>
        </p:nvSpPr>
        <p:spPr>
          <a:xfrm>
            <a:off x="5476875" y="4191000"/>
            <a:ext cx="5715000" cy="1095375"/>
          </a:xfrm>
          <a:prstGeom prst="roundRect">
            <a:avLst>
              <a:gd name="adj" fmla="val 6957"/>
            </a:avLst>
          </a:prstGeom>
          <a:solidFill>
            <a:srgbClr val="0B132B"/>
          </a:solidFill>
          <a:ln w="9525">
            <a:solidFill>
              <a:srgbClr val="334155"/>
            </a:solidFill>
          </a:ln>
        </p:spPr>
      </p:sp>
      <p:sp>
        <p:nvSpPr>
          <p:cNvPr id="49" name="TextBox 49"/>
          <p:cNvSpPr txBox="1"/>
          <p:nvPr/>
        </p:nvSpPr>
        <p:spPr>
          <a:xfrm>
            <a:off x="5662041" y="4302125"/>
            <a:ext cx="2806830" cy="205359"/>
          </a:xfrm>
          <a:prstGeom prst="rect">
            <a:avLst/>
          </a:prstGeom>
          <a:noFill/>
          <a:ln>
            <a:noFill/>
          </a:ln>
        </p:spPr>
        <p:txBody>
          <a:bodyPr wrap="none" lIns="0" tIns="0" rIns="0" bIns="0" anchor="t" anchorCtr="0">
            <a:spAutoFit/>
          </a:bodyPr>
          <a:lstStyle/>
          <a:p>
            <a:pPr algn="l"/>
            <a:r>
              <a:rPr lang="zh-CN" sz="1050" b="1" dirty="0">
                <a:solidFill>
                  <a:srgbClr val="F8FAFC"/>
                </a:solidFill>
                <a:latin typeface="+mn-lt"/>
                <a:ea typeface="+mn-ea"/>
                <a:cs typeface="+mn-cs"/>
              </a:rPr>
              <a:t>数字人文（Digital Humanities）核心价值：</a:t>
            </a:r>
          </a:p>
        </p:txBody>
      </p:sp>
      <p:sp>
        <p:nvSpPr>
          <p:cNvPr id="50" name="TextBox 50"/>
          <p:cNvSpPr txBox="1"/>
          <p:nvPr/>
        </p:nvSpPr>
        <p:spPr>
          <a:xfrm>
            <a:off x="5662612" y="4533900"/>
            <a:ext cx="5645617" cy="176212"/>
          </a:xfrm>
          <a:prstGeom prst="rect">
            <a:avLst/>
          </a:prstGeom>
          <a:noFill/>
          <a:ln>
            <a:noFill/>
          </a:ln>
        </p:spPr>
        <p:txBody>
          <a:bodyPr wrap="none" lIns="0" tIns="0" rIns="0" bIns="0" anchor="t" anchorCtr="0">
            <a:spAutoFit/>
          </a:bodyPr>
          <a:lstStyle/>
          <a:p>
            <a:pPr marL="76200" indent="-76200" algn="l">
              <a:buClr>
                <a:srgbClr val="CBD5E1"/>
              </a:buClr>
              <a:buSzTx/>
              <a:buFontTx/>
              <a:buChar char="•"/>
            </a:pPr>
            <a:r>
              <a:rPr lang="zh-CN" sz="900" dirty="0">
                <a:solidFill>
                  <a:srgbClr val="CBD5E1"/>
                </a:solidFill>
                <a:latin typeface="+mn-lt"/>
                <a:ea typeface="+mn-ea"/>
                <a:cs typeface="+mn-cs"/>
              </a:rPr>
              <a:t>**感性赏析 ➔ 动力学量化**：用情绪曲线具象展现了散文“深沉悲凉 ➔ 骤升温情 ➔ 暮年沉郁”的抑扬节奏</a:t>
            </a:r>
          </a:p>
        </p:txBody>
      </p:sp>
      <p:sp>
        <p:nvSpPr>
          <p:cNvPr id="51" name="TextBox 51"/>
          <p:cNvSpPr txBox="1"/>
          <p:nvPr/>
        </p:nvSpPr>
        <p:spPr>
          <a:xfrm>
            <a:off x="5662612" y="4724400"/>
            <a:ext cx="5824446" cy="176212"/>
          </a:xfrm>
          <a:prstGeom prst="rect">
            <a:avLst/>
          </a:prstGeom>
          <a:noFill/>
          <a:ln>
            <a:noFill/>
          </a:ln>
        </p:spPr>
        <p:txBody>
          <a:bodyPr wrap="none" lIns="0" tIns="0" rIns="0" bIns="0" anchor="t" anchorCtr="0">
            <a:spAutoFit/>
          </a:bodyPr>
          <a:lstStyle/>
          <a:p>
            <a:pPr marL="76200" indent="-76200" algn="l">
              <a:buClr>
                <a:srgbClr val="CBD5E1"/>
              </a:buClr>
              <a:buSzTx/>
              <a:buFontTx/>
              <a:buChar char="•"/>
            </a:pPr>
            <a:r>
              <a:rPr lang="zh-CN" sz="900" dirty="0">
                <a:solidFill>
                  <a:srgbClr val="CBD5E1"/>
                </a:solidFill>
                <a:latin typeface="+mn-lt"/>
                <a:ea typeface="+mn-ea"/>
                <a:cs typeface="+mn-cs"/>
              </a:rPr>
              <a:t>**叙事重心锚定**：数据波形最高峰精确对应第36~43句（父亲穿铁道买橘子），构成全篇唯一暖色情感奇点</a:t>
            </a:r>
          </a:p>
        </p:txBody>
      </p:sp>
      <p:sp>
        <p:nvSpPr>
          <p:cNvPr id="52" name="TextBox 52"/>
          <p:cNvSpPr txBox="1"/>
          <p:nvPr/>
        </p:nvSpPr>
        <p:spPr>
          <a:xfrm>
            <a:off x="5662612" y="4914900"/>
            <a:ext cx="4999506" cy="176212"/>
          </a:xfrm>
          <a:prstGeom prst="rect">
            <a:avLst/>
          </a:prstGeom>
          <a:noFill/>
          <a:ln>
            <a:noFill/>
          </a:ln>
        </p:spPr>
        <p:txBody>
          <a:bodyPr wrap="none" lIns="0" tIns="0" rIns="0" bIns="0" anchor="t" anchorCtr="0">
            <a:spAutoFit/>
          </a:bodyPr>
          <a:lstStyle/>
          <a:p>
            <a:pPr marL="76200" indent="-76200" algn="l">
              <a:buClr>
                <a:srgbClr val="38BDF8"/>
              </a:buClr>
              <a:buSzTx/>
              <a:buFontTx/>
              <a:buChar char="•"/>
            </a:pPr>
            <a:r>
              <a:rPr lang="zh-CN" sz="900" dirty="0">
                <a:solidFill>
                  <a:srgbClr val="38BDF8"/>
                </a:solidFill>
                <a:latin typeface="+mn-lt"/>
                <a:ea typeface="+mn-ea"/>
                <a:cs typeface="+mn-cs"/>
              </a:rPr>
              <a:t>**方法论拓展**：验证了大语言模型对长文本叙事张力与情绪波动的微观可解释性刻画能力！</a:t>
            </a:r>
          </a:p>
        </p:txBody>
      </p:sp>
      <p:sp>
        <p:nvSpPr>
          <p:cNvPr id="53" name="Rectangle 53"/>
          <p:cNvSpPr/>
          <p:nvPr/>
        </p:nvSpPr>
        <p:spPr>
          <a:xfrm>
            <a:off x="762000" y="5572125"/>
            <a:ext cx="10668000" cy="476250"/>
          </a:xfrm>
          <a:prstGeom prst="roundRect">
            <a:avLst>
              <a:gd name="adj" fmla="val 20000"/>
            </a:avLst>
          </a:prstGeom>
          <a:solidFill>
            <a:srgbClr val="1E293B"/>
          </a:solidFill>
          <a:ln w="9525">
            <a:solidFill>
              <a:srgbClr val="334155"/>
            </a:solidFill>
          </a:ln>
        </p:spPr>
      </p:sp>
      <p:sp>
        <p:nvSpPr>
          <p:cNvPr id="54" name="TextBox 54"/>
          <p:cNvSpPr txBox="1"/>
          <p:nvPr/>
        </p:nvSpPr>
        <p:spPr>
          <a:xfrm>
            <a:off x="1042416" y="5749925"/>
            <a:ext cx="7635678" cy="205359"/>
          </a:xfrm>
          <a:prstGeom prst="rect">
            <a:avLst/>
          </a:prstGeom>
          <a:noFill/>
          <a:ln>
            <a:noFill/>
          </a:ln>
        </p:spPr>
        <p:txBody>
          <a:bodyPr wrap="none" lIns="0" tIns="0" rIns="0" bIns="0" anchor="t" anchorCtr="0">
            <a:spAutoFit/>
          </a:bodyPr>
          <a:lstStyle/>
          <a:p>
            <a:pPr algn="l"/>
            <a:r>
              <a:rPr lang="zh-CN" sz="1050" dirty="0">
                <a:solidFill>
                  <a:srgbClr val="F8FAFC"/>
                </a:solidFill>
                <a:latin typeface="+mn-lt"/>
                <a:ea typeface="+mn-ea"/>
                <a:cs typeface="+mn-cs"/>
              </a:rPr>
              <a:t>💡 文学计算启示：大语言模型为传统文学细读提供了“数字显微镜”，让文字间流淌的复杂情感化为精准可观测的知识曲线。</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TextBox 2"/>
          <p:cNvSpPr txBox="1"/>
          <p:nvPr/>
        </p:nvSpPr>
        <p:spPr>
          <a:xfrm>
            <a:off x="749808" y="422275"/>
            <a:ext cx="6773240" cy="469392"/>
          </a:xfrm>
          <a:prstGeom prst="rect">
            <a:avLst/>
          </a:prstGeom>
          <a:noFill/>
          <a:ln>
            <a:noFill/>
          </a:ln>
        </p:spPr>
        <p:txBody>
          <a:bodyPr wrap="none" lIns="0" tIns="0" rIns="0" bIns="0" anchor="t" anchorCtr="0">
            <a:spAutoFit/>
          </a:bodyPr>
          <a:lstStyle/>
          <a:p>
            <a:pPr algn="l"/>
            <a:r>
              <a:rPr lang="zh-CN" sz="2400" b="1" dirty="0">
                <a:solidFill>
                  <a:srgbClr val="F8FAFC"/>
                </a:solidFill>
                <a:latin typeface="+mn-lt"/>
                <a:ea typeface="+mn-ea"/>
                <a:cs typeface="+mn-cs"/>
              </a:rPr>
              <a:t>课程总结与反思 · 从情感计算走向认知知识图谱</a:t>
            </a:r>
          </a:p>
        </p:txBody>
      </p:sp>
      <p:sp>
        <p:nvSpPr>
          <p:cNvPr id="3" name="TextBox 3"/>
          <p:cNvSpPr txBox="1"/>
          <p:nvPr/>
        </p:nvSpPr>
        <p:spPr>
          <a:xfrm>
            <a:off x="755904" y="847725"/>
            <a:ext cx="5666232" cy="234696"/>
          </a:xfrm>
          <a:prstGeom prst="rect">
            <a:avLst/>
          </a:prstGeom>
          <a:noFill/>
          <a:ln>
            <a:noFill/>
          </a:ln>
        </p:spPr>
        <p:txBody>
          <a:bodyPr wrap="none" lIns="0" tIns="0" rIns="0" bIns="0" anchor="t" anchorCtr="0">
            <a:spAutoFit/>
          </a:bodyPr>
          <a:lstStyle/>
          <a:p>
            <a:pPr algn="l"/>
            <a:r>
              <a:rPr lang="zh-CN" sz="1200" dirty="0">
                <a:solidFill>
                  <a:srgbClr val="94A3B8"/>
                </a:solidFill>
                <a:latin typeface="+mn-lt"/>
                <a:ea typeface="+mn-ea"/>
                <a:cs typeface="+mn-cs"/>
              </a:rPr>
              <a:t>综合复盘：技术范式演进规律、现实场景核心局限与面向知识图谱的下一步探索</a:t>
            </a:r>
          </a:p>
        </p:txBody>
      </p:sp>
      <p:sp>
        <p:nvSpPr>
          <p:cNvPr id="4" name="Line 4"/>
          <p:cNvSpPr/>
          <p:nvPr/>
        </p:nvSpPr>
        <p:spPr>
          <a:xfrm>
            <a:off x="762000" y="1190625"/>
            <a:ext cx="10668000" cy="9525"/>
          </a:xfrm>
          <a:custGeom>
            <a:avLst/>
            <a:gdLst/>
            <a:ahLst/>
            <a:cxnLst/>
            <a:rect l="l" t="t" r="r" b="b"/>
            <a:pathLst>
              <a:path w="10668000" h="9525">
                <a:moveTo>
                  <a:pt x="0" y="0"/>
                </a:moveTo>
                <a:lnTo>
                  <a:pt x="10668000" y="0"/>
                </a:lnTo>
              </a:path>
            </a:pathLst>
          </a:custGeom>
          <a:noFill/>
          <a:ln w="14288">
            <a:solidFill>
              <a:srgbClr val="1E293B"/>
            </a:solidFill>
          </a:ln>
        </p:spPr>
      </p:sp>
      <p:sp>
        <p:nvSpPr>
          <p:cNvPr id="5" name="Rectangle 5"/>
          <p:cNvSpPr/>
          <p:nvPr/>
        </p:nvSpPr>
        <p:spPr>
          <a:xfrm>
            <a:off x="762000" y="1428750"/>
            <a:ext cx="3333750" cy="3810000"/>
          </a:xfrm>
          <a:prstGeom prst="roundRect">
            <a:avLst>
              <a:gd name="adj" fmla="val 4571"/>
            </a:avLst>
          </a:prstGeom>
          <a:solidFill>
            <a:srgbClr val="1C2541"/>
          </a:solidFill>
          <a:ln w="14288">
            <a:solidFill>
              <a:srgbClr val="38BDF8"/>
            </a:solidFill>
          </a:ln>
        </p:spPr>
      </p:sp>
      <p:sp>
        <p:nvSpPr>
          <p:cNvPr id="6" name="Rectangle 6"/>
          <p:cNvSpPr/>
          <p:nvPr/>
        </p:nvSpPr>
        <p:spPr>
          <a:xfrm>
            <a:off x="1047750" y="1714500"/>
            <a:ext cx="476250" cy="476250"/>
          </a:xfrm>
          <a:prstGeom prst="roundRect">
            <a:avLst>
              <a:gd name="adj" fmla="val 24000"/>
            </a:avLst>
          </a:prstGeom>
          <a:solidFill>
            <a:srgbClr val="38BDF8">
              <a:alpha val="15000"/>
            </a:srgbClr>
          </a:solidFill>
          <a:ln>
            <a:noFill/>
          </a:ln>
        </p:spPr>
      </p:sp>
      <p:sp>
        <p:nvSpPr>
          <p:cNvPr id="7" name="TextBox 7"/>
          <p:cNvSpPr txBox="1"/>
          <p:nvPr/>
        </p:nvSpPr>
        <p:spPr>
          <a:xfrm>
            <a:off x="1153948" y="1825625"/>
            <a:ext cx="263854" cy="322707"/>
          </a:xfrm>
          <a:prstGeom prst="rect">
            <a:avLst/>
          </a:prstGeom>
          <a:noFill/>
          <a:ln>
            <a:noFill/>
          </a:ln>
        </p:spPr>
        <p:txBody>
          <a:bodyPr wrap="none" lIns="0" tIns="0" rIns="0" bIns="0" anchor="t" anchorCtr="0">
            <a:spAutoFit/>
          </a:bodyPr>
          <a:lstStyle/>
          <a:p>
            <a:pPr algn="ctr"/>
            <a:r>
              <a:rPr lang="zh-CN" sz="1650" b="1" dirty="0">
                <a:solidFill>
                  <a:srgbClr val="38BDF8"/>
                </a:solidFill>
                <a:latin typeface="+mn-lt"/>
                <a:ea typeface="+mn-ea"/>
                <a:cs typeface="+mn-cs"/>
              </a:rPr>
              <a:t>01</a:t>
            </a:r>
          </a:p>
        </p:txBody>
      </p:sp>
      <p:sp>
        <p:nvSpPr>
          <p:cNvPr id="8" name="TextBox 8"/>
          <p:cNvSpPr txBox="1"/>
          <p:nvPr/>
        </p:nvSpPr>
        <p:spPr>
          <a:xfrm>
            <a:off x="1040130" y="2298700"/>
            <a:ext cx="163068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技术范式演进三阶</a:t>
            </a:r>
          </a:p>
        </p:txBody>
      </p:sp>
      <p:sp>
        <p:nvSpPr>
          <p:cNvPr id="9" name="TextBox 9"/>
          <p:cNvSpPr txBox="1"/>
          <p:nvPr/>
        </p:nvSpPr>
        <p:spPr>
          <a:xfrm>
            <a:off x="1042416" y="2635250"/>
            <a:ext cx="1565529" cy="205359"/>
          </a:xfrm>
          <a:prstGeom prst="rect">
            <a:avLst/>
          </a:prstGeom>
          <a:noFill/>
          <a:ln>
            <a:noFill/>
          </a:ln>
        </p:spPr>
        <p:txBody>
          <a:bodyPr wrap="none" lIns="0" tIns="0" rIns="0" bIns="0" anchor="t" anchorCtr="0">
            <a:spAutoFit/>
          </a:bodyPr>
          <a:lstStyle/>
          <a:p>
            <a:pPr algn="l"/>
            <a:r>
              <a:rPr lang="zh-CN" sz="1050" b="1" dirty="0">
                <a:solidFill>
                  <a:srgbClr val="38BDF8"/>
                </a:solidFill>
                <a:latin typeface="+mn-lt"/>
                <a:ea typeface="+mn-ea"/>
                <a:cs typeface="+mn-cs"/>
              </a:rPr>
              <a:t>“从表层打分到深层语义”</a:t>
            </a:r>
          </a:p>
        </p:txBody>
      </p:sp>
      <p:sp>
        <p:nvSpPr>
          <p:cNvPr id="10" name="TextBox 10"/>
          <p:cNvSpPr txBox="1"/>
          <p:nvPr/>
        </p:nvSpPr>
        <p:spPr>
          <a:xfrm>
            <a:off x="1042416" y="3063875"/>
            <a:ext cx="2073312"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阶段一：词典与贝叶斯轻量初筛</a:t>
            </a:r>
          </a:p>
        </p:txBody>
      </p:sp>
      <p:sp>
        <p:nvSpPr>
          <p:cNvPr id="11" name="TextBox 11"/>
          <p:cNvSpPr txBox="1"/>
          <p:nvPr/>
        </p:nvSpPr>
        <p:spPr>
          <a:xfrm>
            <a:off x="1042416" y="3349625"/>
            <a:ext cx="2214663"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阶段二：时序聚合与异常业务监测</a:t>
            </a:r>
          </a:p>
        </p:txBody>
      </p:sp>
      <p:sp>
        <p:nvSpPr>
          <p:cNvPr id="12" name="TextBox 12"/>
          <p:cNvSpPr txBox="1"/>
          <p:nvPr/>
        </p:nvSpPr>
        <p:spPr>
          <a:xfrm>
            <a:off x="1042416" y="3635375"/>
            <a:ext cx="2214663"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阶段三：大模型端到端细粒度解构</a:t>
            </a:r>
          </a:p>
        </p:txBody>
      </p:sp>
      <p:sp>
        <p:nvSpPr>
          <p:cNvPr id="13" name="TextBox 13"/>
          <p:cNvSpPr txBox="1"/>
          <p:nvPr/>
        </p:nvSpPr>
        <p:spPr>
          <a:xfrm>
            <a:off x="1042416" y="3921125"/>
            <a:ext cx="2214663"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跨越词袋假说，实现真正语篇共情</a:t>
            </a:r>
          </a:p>
        </p:txBody>
      </p:sp>
      <p:sp>
        <p:nvSpPr>
          <p:cNvPr id="14" name="Rectangle 14"/>
          <p:cNvSpPr/>
          <p:nvPr/>
        </p:nvSpPr>
        <p:spPr>
          <a:xfrm>
            <a:off x="1047750" y="4429125"/>
            <a:ext cx="2762250" cy="571500"/>
          </a:xfrm>
          <a:prstGeom prst="roundRect">
            <a:avLst>
              <a:gd name="adj" fmla="val 13333"/>
            </a:avLst>
          </a:prstGeom>
          <a:solidFill>
            <a:srgbClr val="0B132B"/>
          </a:solidFill>
          <a:ln w="9525">
            <a:solidFill>
              <a:srgbClr val="334155"/>
            </a:solidFill>
          </a:ln>
        </p:spPr>
      </p:sp>
      <p:sp>
        <p:nvSpPr>
          <p:cNvPr id="15" name="TextBox 15"/>
          <p:cNvSpPr txBox="1"/>
          <p:nvPr/>
        </p:nvSpPr>
        <p:spPr>
          <a:xfrm>
            <a:off x="1185672" y="4575175"/>
            <a:ext cx="2500685" cy="366254"/>
          </a:xfrm>
          <a:prstGeom prst="rect">
            <a:avLst/>
          </a:prstGeom>
          <a:noFill/>
          <a:ln>
            <a:noFill/>
          </a:ln>
        </p:spPr>
        <p:txBody>
          <a:bodyPr wrap="none" lIns="0" tIns="0" rIns="0" bIns="0" anchor="t" anchorCtr="0">
            <a:spAutoFit/>
          </a:bodyPr>
          <a:lstStyle/>
          <a:p>
            <a:pPr algn="l">
              <a:lnSpc>
                <a:spcPts val="1500"/>
              </a:lnSpc>
            </a:pPr>
            <a:r>
              <a:rPr lang="zh-CN" sz="980" dirty="0">
                <a:solidFill>
                  <a:srgbClr val="38BDF8"/>
                </a:solidFill>
                <a:latin typeface="+mn-lt"/>
                <a:ea typeface="+mn-ea"/>
                <a:cs typeface="+mn-cs"/>
              </a:rPr>
              <a:t>告别了单一死板的极性打分，</a:t>
            </a:r>
            <a:br>
              <a:rPr lang="zh-CN" sz="980" dirty="0">
                <a:solidFill>
                  <a:srgbClr val="38BDF8"/>
                </a:solidFill>
                <a:latin typeface="+mn-lt"/>
                <a:ea typeface="+mn-ea"/>
                <a:cs typeface="+mn-cs"/>
              </a:rPr>
            </a:br>
            <a:r>
              <a:rPr lang="zh-CN" sz="980" dirty="0">
                <a:solidFill>
                  <a:srgbClr val="38BDF8"/>
                </a:solidFill>
                <a:latin typeface="+mn-lt"/>
                <a:ea typeface="+mn-ea"/>
                <a:cs typeface="+mn-cs"/>
              </a:rPr>
              <a:t>感受到了大模型对人类复杂情感的深刻洞察。</a:t>
            </a:r>
          </a:p>
        </p:txBody>
      </p:sp>
      <p:sp>
        <p:nvSpPr>
          <p:cNvPr id="16" name="Rectangle 16"/>
          <p:cNvSpPr/>
          <p:nvPr/>
        </p:nvSpPr>
        <p:spPr>
          <a:xfrm>
            <a:off x="4429125" y="1428750"/>
            <a:ext cx="3333750" cy="3810000"/>
          </a:xfrm>
          <a:prstGeom prst="roundRect">
            <a:avLst>
              <a:gd name="adj" fmla="val 4571"/>
            </a:avLst>
          </a:prstGeom>
          <a:solidFill>
            <a:srgbClr val="1C2541"/>
          </a:solidFill>
          <a:ln w="14288">
            <a:solidFill>
              <a:srgbClr val="EF4444"/>
            </a:solidFill>
          </a:ln>
        </p:spPr>
      </p:sp>
      <p:sp>
        <p:nvSpPr>
          <p:cNvPr id="17" name="Rectangle 17"/>
          <p:cNvSpPr/>
          <p:nvPr/>
        </p:nvSpPr>
        <p:spPr>
          <a:xfrm>
            <a:off x="4714875" y="1714500"/>
            <a:ext cx="476250" cy="476250"/>
          </a:xfrm>
          <a:prstGeom prst="roundRect">
            <a:avLst>
              <a:gd name="adj" fmla="val 24000"/>
            </a:avLst>
          </a:prstGeom>
          <a:solidFill>
            <a:srgbClr val="EF4444">
              <a:alpha val="15000"/>
            </a:srgbClr>
          </a:solidFill>
          <a:ln>
            <a:noFill/>
          </a:ln>
        </p:spPr>
      </p:sp>
      <p:sp>
        <p:nvSpPr>
          <p:cNvPr id="18" name="TextBox 18"/>
          <p:cNvSpPr txBox="1"/>
          <p:nvPr/>
        </p:nvSpPr>
        <p:spPr>
          <a:xfrm>
            <a:off x="4821073" y="1825625"/>
            <a:ext cx="263854" cy="322707"/>
          </a:xfrm>
          <a:prstGeom prst="rect">
            <a:avLst/>
          </a:prstGeom>
          <a:noFill/>
          <a:ln>
            <a:noFill/>
          </a:ln>
        </p:spPr>
        <p:txBody>
          <a:bodyPr wrap="none" lIns="0" tIns="0" rIns="0" bIns="0" anchor="t" anchorCtr="0">
            <a:spAutoFit/>
          </a:bodyPr>
          <a:lstStyle/>
          <a:p>
            <a:pPr algn="ctr"/>
            <a:r>
              <a:rPr lang="zh-CN" sz="1650" b="1" dirty="0">
                <a:solidFill>
                  <a:srgbClr val="EF4444"/>
                </a:solidFill>
                <a:latin typeface="+mn-lt"/>
                <a:ea typeface="+mn-ea"/>
                <a:cs typeface="+mn-cs"/>
              </a:rPr>
              <a:t>02</a:t>
            </a:r>
          </a:p>
        </p:txBody>
      </p:sp>
      <p:sp>
        <p:nvSpPr>
          <p:cNvPr id="19" name="TextBox 19"/>
          <p:cNvSpPr txBox="1"/>
          <p:nvPr/>
        </p:nvSpPr>
        <p:spPr>
          <a:xfrm>
            <a:off x="4707255" y="2298700"/>
            <a:ext cx="183261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现实局限与批判反思</a:t>
            </a:r>
          </a:p>
        </p:txBody>
      </p:sp>
      <p:sp>
        <p:nvSpPr>
          <p:cNvPr id="20" name="TextBox 20"/>
          <p:cNvSpPr txBox="1"/>
          <p:nvPr/>
        </p:nvSpPr>
        <p:spPr>
          <a:xfrm>
            <a:off x="4709541" y="2635250"/>
            <a:ext cx="1424178" cy="205359"/>
          </a:xfrm>
          <a:prstGeom prst="rect">
            <a:avLst/>
          </a:prstGeom>
          <a:noFill/>
          <a:ln>
            <a:noFill/>
          </a:ln>
        </p:spPr>
        <p:txBody>
          <a:bodyPr wrap="none" lIns="0" tIns="0" rIns="0" bIns="0" anchor="t" anchorCtr="0">
            <a:spAutoFit/>
          </a:bodyPr>
          <a:lstStyle/>
          <a:p>
            <a:pPr algn="l"/>
            <a:r>
              <a:rPr lang="zh-CN" sz="1050" b="1" dirty="0">
                <a:solidFill>
                  <a:srgbClr val="EF4444"/>
                </a:solidFill>
                <a:latin typeface="+mn-lt"/>
                <a:ea typeface="+mn-ea"/>
                <a:cs typeface="+mn-cs"/>
              </a:rPr>
              <a:t>“警惕简单化标量偏见”</a:t>
            </a:r>
          </a:p>
        </p:txBody>
      </p:sp>
      <p:sp>
        <p:nvSpPr>
          <p:cNvPr id="21" name="TextBox 21"/>
          <p:cNvSpPr txBox="1"/>
          <p:nvPr/>
        </p:nvSpPr>
        <p:spPr>
          <a:xfrm>
            <a:off x="4709541" y="3063875"/>
            <a:ext cx="249736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反讽盲区：网络流行讽刺语态仍具挑战</a:t>
            </a:r>
          </a:p>
        </p:txBody>
      </p:sp>
      <p:sp>
        <p:nvSpPr>
          <p:cNvPr id="22" name="TextBox 22"/>
          <p:cNvSpPr txBox="1"/>
          <p:nvPr/>
        </p:nvSpPr>
        <p:spPr>
          <a:xfrm>
            <a:off x="4709541" y="3349625"/>
            <a:ext cx="2356014"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语境依赖：特定垂直领域先验强绑定</a:t>
            </a:r>
          </a:p>
        </p:txBody>
      </p:sp>
      <p:sp>
        <p:nvSpPr>
          <p:cNvPr id="23" name="TextBox 23"/>
          <p:cNvSpPr txBox="1"/>
          <p:nvPr/>
        </p:nvSpPr>
        <p:spPr>
          <a:xfrm>
            <a:off x="4709541" y="3635375"/>
            <a:ext cx="249736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矛盾重叠：悲凉与温情并存的混合情绪</a:t>
            </a:r>
          </a:p>
        </p:txBody>
      </p:sp>
      <p:sp>
        <p:nvSpPr>
          <p:cNvPr id="24" name="TextBox 24"/>
          <p:cNvSpPr txBox="1"/>
          <p:nvPr/>
        </p:nvSpPr>
        <p:spPr>
          <a:xfrm>
            <a:off x="4709541" y="392112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自动化陷阱：不能单凭分数替代业务复核</a:t>
            </a:r>
          </a:p>
        </p:txBody>
      </p:sp>
      <p:sp>
        <p:nvSpPr>
          <p:cNvPr id="25" name="Rectangle 25"/>
          <p:cNvSpPr/>
          <p:nvPr/>
        </p:nvSpPr>
        <p:spPr>
          <a:xfrm>
            <a:off x="4714875" y="4429125"/>
            <a:ext cx="2762250" cy="571500"/>
          </a:xfrm>
          <a:prstGeom prst="roundRect">
            <a:avLst>
              <a:gd name="adj" fmla="val 13333"/>
            </a:avLst>
          </a:prstGeom>
          <a:solidFill>
            <a:srgbClr val="0B132B"/>
          </a:solidFill>
          <a:ln w="9525">
            <a:solidFill>
              <a:srgbClr val="334155"/>
            </a:solidFill>
          </a:ln>
        </p:spPr>
      </p:sp>
      <p:sp>
        <p:nvSpPr>
          <p:cNvPr id="26" name="TextBox 26"/>
          <p:cNvSpPr txBox="1"/>
          <p:nvPr/>
        </p:nvSpPr>
        <p:spPr>
          <a:xfrm>
            <a:off x="4852797" y="4575175"/>
            <a:ext cx="2375650" cy="366254"/>
          </a:xfrm>
          <a:prstGeom prst="rect">
            <a:avLst/>
          </a:prstGeom>
          <a:noFill/>
          <a:ln>
            <a:noFill/>
          </a:ln>
        </p:spPr>
        <p:txBody>
          <a:bodyPr wrap="none" lIns="0" tIns="0" rIns="0" bIns="0" anchor="t" anchorCtr="0">
            <a:spAutoFit/>
          </a:bodyPr>
          <a:lstStyle/>
          <a:p>
            <a:pPr algn="l">
              <a:lnSpc>
                <a:spcPts val="1500"/>
              </a:lnSpc>
            </a:pPr>
            <a:r>
              <a:rPr lang="zh-CN" sz="980" dirty="0">
                <a:solidFill>
                  <a:srgbClr val="EF4444"/>
                </a:solidFill>
                <a:latin typeface="+mn-lt"/>
                <a:ea typeface="+mn-ea"/>
                <a:cs typeface="+mn-cs"/>
              </a:rPr>
              <a:t>情感不是绝对的黑白二元，</a:t>
            </a:r>
            <a:br>
              <a:rPr lang="zh-CN" sz="980" dirty="0">
                <a:solidFill>
                  <a:srgbClr val="EF4444"/>
                </a:solidFill>
                <a:latin typeface="+mn-lt"/>
                <a:ea typeface="+mn-ea"/>
                <a:cs typeface="+mn-cs"/>
              </a:rPr>
            </a:br>
            <a:r>
              <a:rPr lang="zh-CN" sz="980" dirty="0">
                <a:solidFill>
                  <a:srgbClr val="EF4444"/>
                </a:solidFill>
                <a:latin typeface="+mn-lt"/>
                <a:ea typeface="+mn-ea"/>
                <a:cs typeface="+mn-cs"/>
              </a:rPr>
              <a:t>必须结合领域语境与深层因果做立体理解。</a:t>
            </a:r>
          </a:p>
        </p:txBody>
      </p:sp>
      <p:sp>
        <p:nvSpPr>
          <p:cNvPr id="27" name="Rectangle 27"/>
          <p:cNvSpPr/>
          <p:nvPr/>
        </p:nvSpPr>
        <p:spPr>
          <a:xfrm>
            <a:off x="8096250" y="1428750"/>
            <a:ext cx="3333750" cy="3810000"/>
          </a:xfrm>
          <a:prstGeom prst="roundRect">
            <a:avLst>
              <a:gd name="adj" fmla="val 4571"/>
            </a:avLst>
          </a:prstGeom>
          <a:solidFill>
            <a:srgbClr val="1C2541"/>
          </a:solidFill>
          <a:ln w="14288">
            <a:solidFill>
              <a:srgbClr val="34D399"/>
            </a:solidFill>
          </a:ln>
        </p:spPr>
      </p:sp>
      <p:sp>
        <p:nvSpPr>
          <p:cNvPr id="28" name="Rectangle 28"/>
          <p:cNvSpPr/>
          <p:nvPr/>
        </p:nvSpPr>
        <p:spPr>
          <a:xfrm>
            <a:off x="8382000" y="1714500"/>
            <a:ext cx="476250" cy="476250"/>
          </a:xfrm>
          <a:prstGeom prst="roundRect">
            <a:avLst>
              <a:gd name="adj" fmla="val 24000"/>
            </a:avLst>
          </a:prstGeom>
          <a:solidFill>
            <a:srgbClr val="34D399">
              <a:alpha val="15000"/>
            </a:srgbClr>
          </a:solidFill>
          <a:ln>
            <a:noFill/>
          </a:ln>
        </p:spPr>
      </p:sp>
      <p:sp>
        <p:nvSpPr>
          <p:cNvPr id="29" name="TextBox 29"/>
          <p:cNvSpPr txBox="1"/>
          <p:nvPr/>
        </p:nvSpPr>
        <p:spPr>
          <a:xfrm>
            <a:off x="8488198" y="1825625"/>
            <a:ext cx="263854" cy="322707"/>
          </a:xfrm>
          <a:prstGeom prst="rect">
            <a:avLst/>
          </a:prstGeom>
          <a:noFill/>
          <a:ln>
            <a:noFill/>
          </a:ln>
        </p:spPr>
        <p:txBody>
          <a:bodyPr wrap="none" lIns="0" tIns="0" rIns="0" bIns="0" anchor="t" anchorCtr="0">
            <a:spAutoFit/>
          </a:bodyPr>
          <a:lstStyle/>
          <a:p>
            <a:pPr algn="ctr"/>
            <a:r>
              <a:rPr lang="zh-CN" sz="1650" b="1" dirty="0">
                <a:solidFill>
                  <a:srgbClr val="34D399"/>
                </a:solidFill>
                <a:latin typeface="+mn-lt"/>
                <a:ea typeface="+mn-ea"/>
                <a:cs typeface="+mn-cs"/>
              </a:rPr>
              <a:t>03</a:t>
            </a:r>
          </a:p>
        </p:txBody>
      </p:sp>
      <p:sp>
        <p:nvSpPr>
          <p:cNvPr id="30" name="TextBox 30"/>
          <p:cNvSpPr txBox="1"/>
          <p:nvPr/>
        </p:nvSpPr>
        <p:spPr>
          <a:xfrm>
            <a:off x="8374380" y="2298700"/>
            <a:ext cx="1832610" cy="293370"/>
          </a:xfrm>
          <a:prstGeom prst="rect">
            <a:avLst/>
          </a:prstGeom>
          <a:noFill/>
          <a:ln>
            <a:noFill/>
          </a:ln>
        </p:spPr>
        <p:txBody>
          <a:bodyPr wrap="none" lIns="0" tIns="0" rIns="0" bIns="0" anchor="t" anchorCtr="0">
            <a:spAutoFit/>
          </a:bodyPr>
          <a:lstStyle/>
          <a:p>
            <a:pPr algn="l"/>
            <a:r>
              <a:rPr lang="zh-CN" sz="1500" b="1" dirty="0">
                <a:solidFill>
                  <a:srgbClr val="F8FAFC"/>
                </a:solidFill>
                <a:latin typeface="+mn-lt"/>
                <a:ea typeface="+mn-ea"/>
                <a:cs typeface="+mn-cs"/>
              </a:rPr>
              <a:t>终极探索：知识图谱</a:t>
            </a:r>
          </a:p>
        </p:txBody>
      </p:sp>
      <p:sp>
        <p:nvSpPr>
          <p:cNvPr id="31" name="TextBox 31"/>
          <p:cNvSpPr txBox="1"/>
          <p:nvPr/>
        </p:nvSpPr>
        <p:spPr>
          <a:xfrm>
            <a:off x="8376666" y="2635250"/>
            <a:ext cx="1706880" cy="205359"/>
          </a:xfrm>
          <a:prstGeom prst="rect">
            <a:avLst/>
          </a:prstGeom>
          <a:noFill/>
          <a:ln>
            <a:noFill/>
          </a:ln>
        </p:spPr>
        <p:txBody>
          <a:bodyPr wrap="none" lIns="0" tIns="0" rIns="0" bIns="0" anchor="t" anchorCtr="0">
            <a:spAutoFit/>
          </a:bodyPr>
          <a:lstStyle/>
          <a:p>
            <a:pPr algn="l"/>
            <a:r>
              <a:rPr lang="zh-CN" sz="1050" b="1" dirty="0">
                <a:solidFill>
                  <a:srgbClr val="34D399"/>
                </a:solidFill>
                <a:latin typeface="+mn-lt"/>
                <a:ea typeface="+mn-ea"/>
                <a:cs typeface="+mn-cs"/>
              </a:rPr>
              <a:t>“从情绪标签走向认知推断”</a:t>
            </a:r>
          </a:p>
        </p:txBody>
      </p:sp>
      <p:sp>
        <p:nvSpPr>
          <p:cNvPr id="32" name="TextBox 32"/>
          <p:cNvSpPr txBox="1"/>
          <p:nvPr/>
        </p:nvSpPr>
        <p:spPr>
          <a:xfrm>
            <a:off x="8376666" y="3063875"/>
            <a:ext cx="2434549"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情感实体入图：部位/症状/情感三元组</a:t>
            </a:r>
          </a:p>
        </p:txBody>
      </p:sp>
      <p:sp>
        <p:nvSpPr>
          <p:cNvPr id="33" name="TextBox 33"/>
          <p:cNvSpPr txBox="1"/>
          <p:nvPr/>
        </p:nvSpPr>
        <p:spPr>
          <a:xfrm>
            <a:off x="8376666" y="3349625"/>
            <a:ext cx="2654435"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因果拓扑演化：触发事件 ➔ 认知 ➔ 情感</a:t>
            </a:r>
          </a:p>
        </p:txBody>
      </p:sp>
      <p:sp>
        <p:nvSpPr>
          <p:cNvPr id="34" name="TextBox 34"/>
          <p:cNvSpPr txBox="1"/>
          <p:nvPr/>
        </p:nvSpPr>
        <p:spPr>
          <a:xfrm>
            <a:off x="8376666" y="363537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动态知识网络：沉淀跨时间的情绪演化谱</a:t>
            </a:r>
          </a:p>
        </p:txBody>
      </p:sp>
      <p:sp>
        <p:nvSpPr>
          <p:cNvPr id="35" name="TextBox 35"/>
          <p:cNvSpPr txBox="1"/>
          <p:nvPr/>
        </p:nvSpPr>
        <p:spPr>
          <a:xfrm>
            <a:off x="8376666" y="3921125"/>
            <a:ext cx="2638716" cy="205359"/>
          </a:xfrm>
          <a:prstGeom prst="rect">
            <a:avLst/>
          </a:prstGeom>
          <a:noFill/>
          <a:ln>
            <a:noFill/>
          </a:ln>
        </p:spPr>
        <p:txBody>
          <a:bodyPr wrap="none" lIns="0" tIns="0" rIns="0" bIns="0" anchor="t" anchorCtr="0">
            <a:spAutoFit/>
          </a:bodyPr>
          <a:lstStyle/>
          <a:p>
            <a:pPr marL="83730" indent="-83730" algn="l">
              <a:buClr>
                <a:srgbClr val="CBD5E1"/>
              </a:buClr>
              <a:buSzTx/>
              <a:buFontTx/>
              <a:buChar char="•"/>
            </a:pPr>
            <a:r>
              <a:rPr lang="zh-CN" sz="1050" dirty="0">
                <a:solidFill>
                  <a:srgbClr val="CBD5E1"/>
                </a:solidFill>
                <a:latin typeface="+mn-lt"/>
                <a:ea typeface="+mn-ea"/>
                <a:cs typeface="+mn-cs"/>
              </a:rPr>
              <a:t>驱动智能决策：赋能智慧医疗与数字人文</a:t>
            </a:r>
          </a:p>
        </p:txBody>
      </p:sp>
      <p:sp>
        <p:nvSpPr>
          <p:cNvPr id="36" name="Rectangle 36"/>
          <p:cNvSpPr/>
          <p:nvPr/>
        </p:nvSpPr>
        <p:spPr>
          <a:xfrm>
            <a:off x="8382000" y="4429125"/>
            <a:ext cx="2762250" cy="571500"/>
          </a:xfrm>
          <a:prstGeom prst="roundRect">
            <a:avLst>
              <a:gd name="adj" fmla="val 13333"/>
            </a:avLst>
          </a:prstGeom>
          <a:solidFill>
            <a:srgbClr val="0B132B"/>
          </a:solidFill>
          <a:ln w="9525">
            <a:solidFill>
              <a:srgbClr val="334155"/>
            </a:solidFill>
          </a:ln>
        </p:spPr>
      </p:sp>
      <p:sp>
        <p:nvSpPr>
          <p:cNvPr id="37" name="TextBox 37"/>
          <p:cNvSpPr txBox="1"/>
          <p:nvPr/>
        </p:nvSpPr>
        <p:spPr>
          <a:xfrm>
            <a:off x="8519922" y="4575175"/>
            <a:ext cx="2250616" cy="366254"/>
          </a:xfrm>
          <a:prstGeom prst="rect">
            <a:avLst/>
          </a:prstGeom>
          <a:noFill/>
          <a:ln>
            <a:noFill/>
          </a:ln>
        </p:spPr>
        <p:txBody>
          <a:bodyPr wrap="none" lIns="0" tIns="0" rIns="0" bIns="0" anchor="t" anchorCtr="0">
            <a:spAutoFit/>
          </a:bodyPr>
          <a:lstStyle/>
          <a:p>
            <a:pPr algn="l">
              <a:lnSpc>
                <a:spcPts val="1500"/>
              </a:lnSpc>
            </a:pPr>
            <a:r>
              <a:rPr lang="zh-CN" sz="980">
                <a:solidFill>
                  <a:srgbClr val="34D399"/>
                </a:solidFill>
                <a:latin typeface="+mn-lt"/>
                <a:ea typeface="+mn-ea"/>
                <a:cs typeface="+mn-cs"/>
              </a:rPr>
              <a:t>构</a:t>
            </a:r>
            <a:r>
              <a:rPr lang="zh-CN" sz="980" dirty="0">
                <a:solidFill>
                  <a:srgbClr val="34D399"/>
                </a:solidFill>
                <a:latin typeface="+mn-lt"/>
                <a:ea typeface="+mn-ea"/>
                <a:cs typeface="+mn-cs"/>
              </a:rPr>
              <a:t>建具备人类情感感知力</a:t>
            </a:r>
            <a:br>
              <a:rPr lang="zh-CN" sz="980" dirty="0">
                <a:solidFill>
                  <a:srgbClr val="34D399"/>
                </a:solidFill>
                <a:latin typeface="+mn-lt"/>
                <a:ea typeface="+mn-ea"/>
                <a:cs typeface="+mn-cs"/>
              </a:rPr>
            </a:br>
            <a:r>
              <a:rPr lang="zh-CN" sz="980" dirty="0">
                <a:solidFill>
                  <a:srgbClr val="34D399"/>
                </a:solidFill>
                <a:latin typeface="+mn-lt"/>
                <a:ea typeface="+mn-ea"/>
                <a:cs typeface="+mn-cs"/>
              </a:rPr>
              <a:t>与逻辑推理能力的下一代智能知识图谱！</a:t>
            </a:r>
          </a:p>
        </p:txBody>
      </p:sp>
      <p:sp>
        <p:nvSpPr>
          <p:cNvPr id="38" name="Rectangle 38"/>
          <p:cNvSpPr/>
          <p:nvPr/>
        </p:nvSpPr>
        <p:spPr>
          <a:xfrm>
            <a:off x="762000" y="5476875"/>
            <a:ext cx="10668000" cy="619125"/>
          </a:xfrm>
          <a:prstGeom prst="roundRect">
            <a:avLst>
              <a:gd name="adj" fmla="val 21538"/>
            </a:avLst>
          </a:prstGeom>
          <a:solidFill>
            <a:srgbClr val="1E293B"/>
          </a:solidFill>
          <a:ln w="14288">
            <a:solidFill>
              <a:srgbClr val="3A506B"/>
            </a:solidFill>
          </a:ln>
        </p:spPr>
      </p:sp>
      <p:sp>
        <p:nvSpPr>
          <p:cNvPr id="39" name="TextBox 39"/>
          <p:cNvSpPr txBox="1"/>
          <p:nvPr/>
        </p:nvSpPr>
        <p:spPr>
          <a:xfrm>
            <a:off x="3850349" y="5680075"/>
            <a:ext cx="4491301" cy="293370"/>
          </a:xfrm>
          <a:prstGeom prst="rect">
            <a:avLst/>
          </a:prstGeom>
          <a:noFill/>
          <a:ln>
            <a:noFill/>
          </a:ln>
        </p:spPr>
        <p:txBody>
          <a:bodyPr wrap="none" lIns="0" tIns="0" rIns="0" bIns="0" anchor="t" anchorCtr="0">
            <a:spAutoFit/>
          </a:bodyPr>
          <a:lstStyle/>
          <a:p>
            <a:pPr algn="ctr"/>
            <a:r>
              <a:rPr lang="zh-CN" sz="1500" b="1" dirty="0">
                <a:solidFill>
                  <a:srgbClr val="F8FAFC"/>
                </a:solidFill>
                <a:latin typeface="+mn-lt"/>
                <a:ea typeface="+mn-ea"/>
                <a:cs typeface="+mn-cs"/>
              </a:rPr>
              <a:t>感谢聆听 · 欢迎交流与探讨！ 感知世界，洞见知识</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text_mining_lecture4_assignment">
  <a:themeElements>
    <a:clrScheme name="text_mining_lecture4_assignment">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xt_mining_lecture4_assign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xt_mining_lecture4_assign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4265</Words>
  <Application>Microsoft Office PowerPoint</Application>
  <PresentationFormat>宽屏</PresentationFormat>
  <Paragraphs>241</Paragraphs>
  <Slides>8</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8</vt:i4>
      </vt:variant>
    </vt:vector>
  </HeadingPairs>
  <TitlesOfParts>
    <vt:vector size="10" baseType="lpstr">
      <vt:lpstr>Arial</vt:lpstr>
      <vt:lpstr>text_mining_lecture4_assignment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梓祺 钟</cp:lastModifiedBy>
  <cp:revision>2</cp:revision>
  <dcterms:created xsi:type="dcterms:W3CDTF">2026-10-30T06:20:05Z</dcterms:created>
  <dcterms:modified xsi:type="dcterms:W3CDTF">2026-10-30T06:22:09Z</dcterms:modified>
  <cp:category/>
  <cp:contentStatus/>
  <dc:language>zh-CN</dc:language>
</cp:coreProperties>
</file>