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xt_mining_lecture2_assignmen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10/9/2026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ext_mining_lecture2_assignmen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10/9/2026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62000" y="571500"/>
            <a:ext cx="10668000" cy="5715000"/>
          </a:xfrm>
          <a:prstGeom prst="roundRect">
            <a:avLst>
              <a:gd name="adj" fmla="val 4000"/>
            </a:avLst>
          </a:prstGeom>
          <a:solidFill>
            <a:srgbClr val="1C2541"/>
          </a:solidFill>
          <a:ln w="14288">
            <a:solidFill>
              <a:srgbClr val="3A506B"/>
            </a:solidFill>
          </a:ln>
        </p:spPr>
      </p:sp>
      <p:sp>
        <p:nvSpPr>
          <p:cNvPr id="3" name="Rectangle 3"/>
          <p:cNvSpPr/>
          <p:nvPr/>
        </p:nvSpPr>
        <p:spPr>
          <a:xfrm>
            <a:off x="1333500" y="1143000"/>
            <a:ext cx="2952750" cy="361950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  <a:ln w="14288">
            <a:solidFill>
              <a:srgbClr val="818CF8"/>
            </a:solidFill>
          </a:ln>
        </p:spPr>
      </p:sp>
      <p:sp>
        <p:nvSpPr>
          <p:cNvPr id="4" name="Ellipse 4"/>
          <p:cNvSpPr/>
          <p:nvPr/>
        </p:nvSpPr>
        <p:spPr>
          <a:xfrm>
            <a:off x="1485900" y="1266825"/>
            <a:ext cx="114300" cy="1143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08785" y="1259681"/>
            <a:ext cx="218933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文本数据采集与知识图谱 · 第2讲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4450" y="1864995"/>
            <a:ext cx="843838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感知世界：词频统计与文本特征分析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24356" y="2663190"/>
            <a:ext cx="65608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从全文本无监督分词到先验指定匹配的实战探索与方法论反思</a:t>
            </a:r>
          </a:p>
        </p:txBody>
      </p:sp>
      <p:sp>
        <p:nvSpPr>
          <p:cNvPr id="8" name="Line 8"/>
          <p:cNvSpPr/>
          <p:nvPr/>
        </p:nvSpPr>
        <p:spPr>
          <a:xfrm>
            <a:off x="1333500" y="3286125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14288">
            <a:solidFill>
              <a:srgbClr val="3A506B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1333500" y="3571875"/>
            <a:ext cx="2190750" cy="1428750"/>
          </a:xfrm>
          <a:prstGeom prst="roundRect">
            <a:avLst>
              <a:gd name="adj" fmla="val 9333"/>
            </a:avLst>
          </a:prstGeom>
          <a:solidFill>
            <a:srgbClr val="0B132B">
              <a:alpha val="60000"/>
            </a:srgbClr>
          </a:solidFill>
          <a:ln w="11430">
            <a:solidFill>
              <a:srgbClr val="334155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1524000" y="37623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38BDF8">
              <a:alpha val="20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580453" y="3842385"/>
            <a:ext cx="1918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17523" y="4196239"/>
            <a:ext cx="104683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全文词频统计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19047" y="4514374"/>
            <a:ext cx="1164621" cy="3811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Jieba分词机制与</a:t>
            </a:r>
            <a:br/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文言/纪实双语料实测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714750" y="3571875"/>
            <a:ext cx="2190750" cy="1428750"/>
          </a:xfrm>
          <a:prstGeom prst="roundRect">
            <a:avLst>
              <a:gd name="adj" fmla="val 9333"/>
            </a:avLst>
          </a:prstGeom>
          <a:solidFill>
            <a:srgbClr val="0B132B">
              <a:alpha val="60000"/>
            </a:srgbClr>
          </a:solidFill>
          <a:ln w="11430">
            <a:solidFill>
              <a:srgbClr val="334155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3905250" y="37623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818CF8">
              <a:alpha val="20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961703" y="3842385"/>
            <a:ext cx="1918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98773" y="4196239"/>
            <a:ext cx="104683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专有名词匹配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00297" y="4514374"/>
            <a:ext cx="1130046" cy="3811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字符串精确匹配与</a:t>
            </a:r>
            <a:br/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黄旭华传记精确定位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096000" y="3571875"/>
            <a:ext cx="2190750" cy="1428750"/>
          </a:xfrm>
          <a:prstGeom prst="roundRect">
            <a:avLst>
              <a:gd name="adj" fmla="val 9333"/>
            </a:avLst>
          </a:prstGeom>
          <a:solidFill>
            <a:srgbClr val="0B132B">
              <a:alpha val="60000"/>
            </a:srgbClr>
          </a:solidFill>
          <a:ln w="11430">
            <a:solidFill>
              <a:srgbClr val="334155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6286500" y="37623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34D399">
              <a:alpha val="20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342953" y="3842385"/>
            <a:ext cx="1918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80023" y="4196239"/>
            <a:ext cx="104683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人物武器挖掘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81547" y="4514374"/>
            <a:ext cx="1088476" cy="3811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三国演义统计与</a:t>
            </a:r>
            <a:br/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“关羽之谜”指代反思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477250" y="3571875"/>
            <a:ext cx="2190750" cy="1428750"/>
          </a:xfrm>
          <a:prstGeom prst="roundRect">
            <a:avLst>
              <a:gd name="adj" fmla="val 9333"/>
            </a:avLst>
          </a:prstGeom>
          <a:solidFill>
            <a:srgbClr val="0B132B">
              <a:alpha val="60000"/>
            </a:srgbClr>
          </a:solidFill>
          <a:ln w="11430">
            <a:solidFill>
              <a:srgbClr val="334155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667750" y="37623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724203" y="3842385"/>
            <a:ext cx="1918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61273" y="4196239"/>
            <a:ext cx="121914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方法论深度反思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62797" y="4514374"/>
            <a:ext cx="1130046" cy="3811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频次缺陷、指代消歧</a:t>
            </a:r>
            <a:br/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与知识图谱演进路径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28166" y="5506402"/>
            <a:ext cx="26805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汇报人：课程学员 · 课程实践作业复盘演示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105613" y="5506402"/>
            <a:ext cx="758221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2026年10月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55295"/>
            <a:ext cx="357835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实践内容大纲与演进逻辑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5904" y="870585"/>
            <a:ext cx="5020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从无监督字词切分到目标假设检验，再到文本表征瓶颈与知识图谱演进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906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1E293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476375"/>
            <a:ext cx="2476500" cy="3619500"/>
          </a:xfrm>
          <a:prstGeom prst="roundRect">
            <a:avLst>
              <a:gd name="adj" fmla="val 6154"/>
            </a:avLst>
          </a:prstGeom>
          <a:solidFill>
            <a:srgbClr val="1C2541"/>
          </a:solidFill>
          <a:ln w="14288">
            <a:solidFill>
              <a:srgbClr val="334155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000125" y="1714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38BDF8">
              <a:alpha val="15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18317" y="1866900"/>
            <a:ext cx="2398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505" y="2362200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全文词频统计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4791" y="26965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算法切分与特征提取</a:t>
            </a:r>
          </a:p>
        </p:txBody>
      </p:sp>
      <p:sp>
        <p:nvSpPr>
          <p:cNvPr id="10" name="Line 10"/>
          <p:cNvSpPr/>
          <p:nvPr/>
        </p:nvSpPr>
        <p:spPr>
          <a:xfrm>
            <a:off x="1000125" y="3000375"/>
            <a:ext cx="2000250" cy="9525"/>
          </a:xfrm>
          <a:custGeom>
            <a:avLst/>
            <a:gdLst/>
            <a:ahLst/>
            <a:cxnLst/>
            <a:rect l="l" t="t" r="r" b="b"/>
            <a:pathLst>
              <a:path w="2000250" h="9525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994791" y="3172778"/>
            <a:ext cx="182201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Jieba 前缀词典与HMM切分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4791" y="3458528"/>
            <a:ext cx="17906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停用词集合过滤与标点清洗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4791" y="3744278"/>
            <a:ext cx="19319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三国前十回乱政主题高频映射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4791" y="4030028"/>
            <a:ext cx="17906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传记语料未登录词识别难题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5172" y="4466749"/>
            <a:ext cx="1329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无监督宏观主题感知流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486150" y="1476375"/>
            <a:ext cx="2476500" cy="3619500"/>
          </a:xfrm>
          <a:prstGeom prst="roundRect">
            <a:avLst>
              <a:gd name="adj" fmla="val 6154"/>
            </a:avLst>
          </a:prstGeom>
          <a:solidFill>
            <a:srgbClr val="1C2541"/>
          </a:solidFill>
          <a:ln w="14288">
            <a:solidFill>
              <a:srgbClr val="334155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3724275" y="1714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818CF8">
              <a:alpha val="15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3842467" y="1866900"/>
            <a:ext cx="2398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16655" y="2362200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指定类型统计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718941" y="26965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字符串匹配机制实战</a:t>
            </a:r>
          </a:p>
        </p:txBody>
      </p:sp>
      <p:sp>
        <p:nvSpPr>
          <p:cNvPr id="21" name="Line 21"/>
          <p:cNvSpPr/>
          <p:nvPr/>
        </p:nvSpPr>
        <p:spPr>
          <a:xfrm>
            <a:off x="3724275" y="3000375"/>
            <a:ext cx="2000250" cy="9525"/>
          </a:xfrm>
          <a:custGeom>
            <a:avLst/>
            <a:gdLst/>
            <a:ahLst/>
            <a:cxnLst/>
            <a:rect l="l" t="t" r="r" b="b"/>
            <a:pathLst>
              <a:path w="2000250" h="9525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718941" y="3172778"/>
            <a:ext cx="16652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str.count 纯字符匹配原理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18941" y="3458528"/>
            <a:ext cx="164925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无需分词介入的定向统计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718941" y="3744278"/>
            <a:ext cx="164925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科学家核心专有名词验证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718941" y="4030028"/>
            <a:ext cx="186914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频次对比：全文切分 vs 匹配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719322" y="4466749"/>
            <a:ext cx="11972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先验目标假说验证流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219825" y="1476375"/>
            <a:ext cx="2476500" cy="3619500"/>
          </a:xfrm>
          <a:prstGeom prst="roundRect">
            <a:avLst>
              <a:gd name="adj" fmla="val 6154"/>
            </a:avLst>
          </a:prstGeom>
          <a:solidFill>
            <a:srgbClr val="1C2541"/>
          </a:solidFill>
          <a:ln w="14288">
            <a:solidFill>
              <a:srgbClr val="334155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457950" y="1714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34D399">
              <a:alpha val="15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576142" y="1866900"/>
            <a:ext cx="2398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450330" y="2362200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人物武器挖掘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452616" y="26965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大数据统计与可视化</a:t>
            </a:r>
          </a:p>
        </p:txBody>
      </p:sp>
      <p:sp>
        <p:nvSpPr>
          <p:cNvPr id="32" name="Line 32"/>
          <p:cNvSpPr/>
          <p:nvPr/>
        </p:nvSpPr>
        <p:spPr>
          <a:xfrm>
            <a:off x="6457950" y="3000375"/>
            <a:ext cx="2000250" cy="9525"/>
          </a:xfrm>
          <a:custGeom>
            <a:avLst/>
            <a:gdLst/>
            <a:ahLst/>
            <a:cxnLst/>
            <a:rect l="l" t="t" r="r" b="b"/>
            <a:pathLst>
              <a:path w="2000250" h="9525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452616" y="3172778"/>
            <a:ext cx="18064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三国全书13位名将频次排行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52616" y="3458528"/>
            <a:ext cx="17906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武器装备长尾出场分布透视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52616" y="3744278"/>
            <a:ext cx="18692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震撼发现：关羽为何仅8次？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52616" y="4030028"/>
            <a:ext cx="194784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泛称混杂：大斧14次语义解析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452997" y="4466749"/>
            <a:ext cx="15749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跨平台 Matplotlib 绘图实操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953500" y="1476375"/>
            <a:ext cx="2476500" cy="3619500"/>
          </a:xfrm>
          <a:prstGeom prst="roundRect">
            <a:avLst>
              <a:gd name="adj" fmla="val 6154"/>
            </a:avLst>
          </a:prstGeom>
          <a:solidFill>
            <a:srgbClr val="1C2541"/>
          </a:solidFill>
          <a:ln w="14288">
            <a:solidFill>
              <a:srgbClr val="334155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9191625" y="1714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F59E0B">
              <a:alpha val="15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309817" y="1866900"/>
            <a:ext cx="2398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184005" y="2362200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方法论反思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186291" y="26965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通往实体与知识图谱</a:t>
            </a:r>
          </a:p>
        </p:txBody>
      </p:sp>
      <p:sp>
        <p:nvSpPr>
          <p:cNvPr id="43" name="Line 43"/>
          <p:cNvSpPr/>
          <p:nvPr/>
        </p:nvSpPr>
        <p:spPr>
          <a:xfrm>
            <a:off x="9191625" y="3000375"/>
            <a:ext cx="2000250" cy="9525"/>
          </a:xfrm>
          <a:custGeom>
            <a:avLst/>
            <a:gdLst/>
            <a:ahLst/>
            <a:cxnLst/>
            <a:rect l="l" t="t" r="r" b="b"/>
            <a:pathLst>
              <a:path w="2000250" h="9525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9186291" y="3172778"/>
            <a:ext cx="17906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词频价值：宏观晴雨表测度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186291" y="3458528"/>
            <a:ext cx="20733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致命瓶颈：同义指代与简称黑洞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186291" y="3744278"/>
            <a:ext cx="20733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破局之路：共指消解与别名对齐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186291" y="4030028"/>
            <a:ext cx="19319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知识跃迁：共现网络与三元组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86672" y="4466749"/>
            <a:ext cx="159303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从离散词频走向结构化认知</a:t>
            </a:r>
          </a:p>
        </p:txBody>
      </p:sp>
      <p:sp>
        <p:nvSpPr>
          <p:cNvPr id="49" name="Rectangle 49"/>
          <p:cNvSpPr/>
          <p:nvPr/>
        </p:nvSpPr>
        <p:spPr>
          <a:xfrm>
            <a:off x="762000" y="5334000"/>
            <a:ext cx="10668000" cy="714375"/>
          </a:xfrm>
          <a:prstGeom prst="roundRect">
            <a:avLst>
              <a:gd name="adj" fmla="val 18667"/>
            </a:avLst>
          </a:prstGeom>
          <a:solidFill>
            <a:srgbClr val="1E293B"/>
          </a:solidFill>
          <a:ln w="14288">
            <a:solidFill>
              <a:srgbClr val="3A506B"/>
            </a:solidFill>
          </a:ln>
        </p:spPr>
      </p:sp>
      <p:sp>
        <p:nvSpPr>
          <p:cNvPr id="50" name="Ellipse 50"/>
          <p:cNvSpPr/>
          <p:nvPr/>
        </p:nvSpPr>
        <p:spPr>
          <a:xfrm>
            <a:off x="990600" y="5534025"/>
            <a:ext cx="304800" cy="3048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1052093" y="5614035"/>
            <a:ext cx="18181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★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470279" y="54902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贯穿全讲的核心技术演进脉络：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471041" y="5744528"/>
            <a:ext cx="95539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无监督分词切分 (Tokenization) ➔ 先验规则字符匹配 (Pattern Matching) ➔ 频次统计与可视化 (Visualization) ➔ 指代消歧与知识图谱 (Knowledge Graph)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55295"/>
            <a:ext cx="774250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模块一 · 全文词频统计实战：三国演义与文言断句挑战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5904" y="870585"/>
            <a:ext cx="65345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基于 Jieba 分词处理《三国演义》前10回（sanguo_10.txt），探索古文词频特征与断句局限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906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1E293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428750"/>
            <a:ext cx="3333750" cy="40005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4288">
            <a:solidFill>
              <a:srgbClr val="38BDF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047750" y="1714500"/>
            <a:ext cx="1333500" cy="304800"/>
          </a:xfrm>
          <a:prstGeom prst="roundRect">
            <a:avLst>
              <a:gd name="adj" fmla="val 25000"/>
            </a:avLst>
          </a:prstGeom>
          <a:solidFill>
            <a:srgbClr val="38BDF8">
              <a:alpha val="15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355788" y="18107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剧情风向标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9368" y="2203132"/>
            <a:ext cx="223799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高频实体映射乱政主线</a:t>
            </a:r>
          </a:p>
        </p:txBody>
      </p:sp>
      <p:sp>
        <p:nvSpPr>
          <p:cNvPr id="9" name="Rectangle 9"/>
          <p:cNvSpPr/>
          <p:nvPr/>
        </p:nvSpPr>
        <p:spPr>
          <a:xfrm>
            <a:off x="1047750" y="2619375"/>
            <a:ext cx="2762250" cy="904875"/>
          </a:xfrm>
          <a:prstGeom prst="roundRect">
            <a:avLst>
              <a:gd name="adj" fmla="val 8421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85672" y="2771299"/>
            <a:ext cx="184055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03028" indent="-103028" algn="l">
              <a:buClr>
                <a:srgbClr val="38BDF8"/>
              </a:buClr>
              <a:buSzTx/>
              <a:buFontTx/>
              <a:buChar char="●"/>
            </a:pPr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董卓: 97次 (榜首) | 呂布: 60次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5672" y="3009424"/>
            <a:ext cx="21755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03028" indent="-103028" algn="l">
              <a:buClr>
                <a:srgbClr val="38BDF8"/>
              </a:buClr>
              <a:buSzTx/>
              <a:buFontTx/>
              <a:buChar char="●"/>
            </a:pPr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曹操: 59次 | 袁紹: 57次 | 天下: 53次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5672" y="3247549"/>
            <a:ext cx="21755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03028" indent="-103028" algn="l">
              <a:buClr>
                <a:srgbClr val="38BDF8"/>
              </a:buClr>
              <a:buSzTx/>
              <a:buFontTx/>
              <a:buChar char="●"/>
            </a:pPr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玄德: 48次 | 貂蟬: 37次 | 太守: 36次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2035" y="3640931"/>
            <a:ext cx="15191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2E8F0"/>
                </a:solidFill>
                <a:latin typeface="+mn-lt"/>
                <a:ea typeface="+mn-ea"/>
                <a:cs typeface="+mn-cs"/>
              </a:rPr>
              <a:t>实证观察与文本感知：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2416" y="3934778"/>
            <a:ext cx="287420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94A3B8"/>
              </a:buClr>
              <a:buSzTx/>
              <a:buFontTx/>
              <a:buChar char="•"/>
            </a:pPr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前十回词频之冠为“董卓”，印证进京专权核心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2416" y="4220528"/>
            <a:ext cx="26387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94A3B8"/>
              </a:buClr>
              <a:buSzTx/>
              <a:buFontTx/>
              <a:buChar char="•"/>
            </a:pPr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曹操刺董、十八路诸侯讨董构成叙事支柱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2416" y="4506278"/>
            <a:ext cx="26700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94A3B8"/>
              </a:buClr>
              <a:buSzTx/>
              <a:buFontTx/>
              <a:buChar char="•"/>
            </a:pPr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“天下/朝廷/天子”频发，凸显皇权动荡环境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2797" y="4942999"/>
            <a:ext cx="238460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验证：无监督统计精准抓取宏观剧情焦点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429125" y="1428750"/>
            <a:ext cx="3333750" cy="40005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4288">
            <a:solidFill>
              <a:srgbClr val="EF4444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714875" y="1714500"/>
            <a:ext cx="1333500" cy="304800"/>
          </a:xfrm>
          <a:prstGeom prst="roundRect">
            <a:avLst>
              <a:gd name="adj" fmla="val 25000"/>
            </a:avLst>
          </a:prstGeom>
          <a:solidFill>
            <a:srgbClr val="EF4444">
              <a:alpha val="15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952238" y="181070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算法水土不服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06493" y="2203132"/>
            <a:ext cx="246011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现代分词模型的文言缺陷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714875" y="2619375"/>
            <a:ext cx="2762250" cy="904875"/>
          </a:xfrm>
          <a:prstGeom prst="roundRect">
            <a:avLst>
              <a:gd name="adj" fmla="val 8421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852797" y="2771299"/>
            <a:ext cx="21133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❌ 成语错切：把“光武中兴”都断开了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52797" y="3009424"/>
            <a:ext cx="23627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⚠️ 动宾粘连：玄德曰(22次)、太師(22次)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52797" y="3247549"/>
            <a:ext cx="22308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⚠️ 对话标签：肅曰(17次)、問曰(10次)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09160" y="3640931"/>
            <a:ext cx="15191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2E8F0"/>
                </a:solidFill>
                <a:latin typeface="+mn-lt"/>
                <a:ea typeface="+mn-ea"/>
                <a:cs typeface="+mn-cs"/>
              </a:rPr>
              <a:t>文言文切分痛点反思：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09541" y="3934778"/>
            <a:ext cx="26387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94A3B8"/>
              </a:buClr>
              <a:buSzTx/>
              <a:buFontTx/>
              <a:buChar char="•"/>
            </a:pPr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通用分词库依据现代白话概率图模型构建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09541" y="4220528"/>
            <a:ext cx="287420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94A3B8"/>
              </a:buClr>
              <a:buSzTx/>
              <a:buFontTx/>
              <a:buChar char="•"/>
            </a:pPr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文言文“单字表义”极强，多字专有名词常碎裂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709541" y="4506278"/>
            <a:ext cx="28626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94A3B8"/>
              </a:buClr>
              <a:buSzTx/>
              <a:buFontTx/>
              <a:buChar char="•"/>
            </a:pPr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对话提示词（名+曰）未拆分，污染实体纯度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709922" y="4942999"/>
            <a:ext cx="27803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结论：现代分词器直接处理文言存在系统性偏差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96250" y="1428750"/>
            <a:ext cx="3333750" cy="40005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4288">
            <a:solidFill>
              <a:srgbClr val="34D399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382000" y="1714500"/>
            <a:ext cx="1333500" cy="304800"/>
          </a:xfrm>
          <a:prstGeom prst="roundRect">
            <a:avLst>
              <a:gd name="adj" fmla="val 25000"/>
            </a:avLst>
          </a:prstGeom>
          <a:solidFill>
            <a:srgbClr val="34D399">
              <a:alpha val="15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619363" y="181070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工程优化实践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3618" y="2203132"/>
            <a:ext cx="223799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停用词清洗与字典干预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382000" y="2619375"/>
            <a:ext cx="2762250" cy="904875"/>
          </a:xfrm>
          <a:prstGeom prst="roundRect">
            <a:avLst>
              <a:gd name="adj" fmla="val 8421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519922" y="2771299"/>
            <a:ext cx="183459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+mn-lt"/>
                <a:ea typeface="+mn-ea"/>
                <a:cs typeface="+mn-cs"/>
              </a:rPr>
              <a:t>代码：jieba.add_word('羅貫中')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519922" y="3009424"/>
            <a:ext cx="24051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停用集合：dele = {'。','！','？','的','“','”',...}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519922" y="3247549"/>
            <a:ext cx="25686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过滤逻辑：[w for w in words if w not in dele]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76285" y="3640931"/>
            <a:ext cx="15191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2E8F0"/>
                </a:solidFill>
                <a:latin typeface="+mn-lt"/>
                <a:ea typeface="+mn-ea"/>
                <a:cs typeface="+mn-cs"/>
              </a:rPr>
              <a:t>文言停用词优化路线：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76666" y="3934778"/>
            <a:ext cx="29527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94A3B8"/>
              </a:buClr>
              <a:buSzTx/>
              <a:buFontTx/>
              <a:buChar char="•"/>
            </a:pPr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基础标点过滤后，仍有“二人/不到/是夜”等虚词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76666" y="4220528"/>
            <a:ext cx="32041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94A3B8"/>
              </a:buClr>
              <a:buSzTx/>
              <a:buFontTx/>
              <a:buChar char="•"/>
            </a:pPr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必须定制古代汉语虚词表（之、乎、者、也、矣）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376666" y="4506278"/>
            <a:ext cx="278006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94A3B8"/>
              </a:buClr>
              <a:buSzTx/>
              <a:buFontTx/>
              <a:buChar char="•"/>
            </a:pPr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将古籍作者、特有典故词主动写入用户字典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377047" y="4942999"/>
            <a:ext cx="27803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经验：停用词表的精细度直接决定了词频信噪比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62000" y="5619750"/>
            <a:ext cx="10668000" cy="4762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1042416" y="5811202"/>
            <a:ext cx="78242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💡 阶段总结：全文分词能自底向上高效洞见历史文学的叙事主轴，但处理文言文本必须配合专有字典干预与文言停用词清洗！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55295"/>
            <a:ext cx="838868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模块一续 · 纪实文本词频统计：科学家传记与未登录词实战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5904" y="870585"/>
            <a:ext cx="64200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基于《科学家博物馆-黄旭华传记序言.txt》，实测专业纪实语料的词频分布与专有名词保护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906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1E293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428750"/>
            <a:ext cx="4286250" cy="4000500"/>
          </a:xfrm>
          <a:prstGeom prst="roundRect">
            <a:avLst>
              <a:gd name="adj" fmla="val 3810"/>
            </a:avLst>
          </a:prstGeom>
          <a:solidFill>
            <a:srgbClr val="1C2541"/>
          </a:solidFill>
          <a:ln w="14288">
            <a:solidFill>
              <a:srgbClr val="334155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000125" y="1666875"/>
            <a:ext cx="1333500" cy="285750"/>
          </a:xfrm>
          <a:prstGeom prst="roundRect">
            <a:avLst>
              <a:gd name="adj" fmla="val 26667"/>
            </a:avLst>
          </a:prstGeom>
          <a:solidFill>
            <a:srgbClr val="6366F1">
              <a:alpha val="2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66812" y="17535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传记高频词分布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1743" y="2107882"/>
            <a:ext cx="266130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序言文本 Top-10 核心特征</a:t>
            </a:r>
          </a:p>
        </p:txBody>
      </p:sp>
      <p:sp>
        <p:nvSpPr>
          <p:cNvPr id="9" name="Rectangle 9"/>
          <p:cNvSpPr/>
          <p:nvPr/>
        </p:nvSpPr>
        <p:spPr>
          <a:xfrm>
            <a:off x="1000125" y="2476500"/>
            <a:ext cx="3810000" cy="1428750"/>
          </a:xfrm>
          <a:prstGeom prst="roundRect">
            <a:avLst>
              <a:gd name="adj" fmla="val 6667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85672" y="2656999"/>
            <a:ext cx="3020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03028" indent="-103028" algn="l">
              <a:buClr>
                <a:srgbClr val="38BDF8"/>
              </a:buClr>
              <a:buSzTx/>
              <a:buFontTx/>
              <a:buChar char="●"/>
            </a:pPr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黄旭华: 53次 (核心传主) | 核潜艇: 32次 (科研重器)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5672" y="2895124"/>
            <a:ext cx="21755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03028" indent="-103028" algn="l">
              <a:buClr>
                <a:srgbClr val="38BDF8"/>
              </a:buClr>
              <a:buSzTx/>
              <a:buFontTx/>
              <a:buChar char="●"/>
            </a:pPr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采集: 29次 | 学术: 22次 | 资料: 21次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5672" y="3133249"/>
            <a:ext cx="289900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03028" indent="-103028" algn="l">
              <a:buClr>
                <a:srgbClr val="CBD5E1"/>
              </a:buClr>
              <a:buSzTx/>
              <a:buFontTx/>
              <a:buChar char="●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工作: 17次 | 成长: 15次 | 院士: 13次 | 专业: 13次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5672" y="3371374"/>
            <a:ext cx="289900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03028" indent="-103028" algn="l">
              <a:buClr>
                <a:srgbClr val="CBD5E1"/>
              </a:buClr>
              <a:buSzTx/>
              <a:buFontTx/>
              <a:buChar char="●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进行: 13次 | 技术: 12次 | 我国: 12次 | 研制: 12次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5672" y="3609499"/>
            <a:ext cx="2884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03028" indent="-103028" algn="l">
              <a:buClr>
                <a:srgbClr val="94A3B8"/>
              </a:buClr>
              <a:buSzTx/>
              <a:buFontTx/>
              <a:buChar char="●"/>
            </a:pP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工程: 11次 | 访谈: 10次 | 第一代: 8次 | 科学: 8次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4410" y="4069556"/>
            <a:ext cx="17193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📊 传记纪实语义链透视：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4791" y="4363402"/>
            <a:ext cx="34396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词频高度收敛于“老科学家学术成长资料采集”工程使命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4791" y="4649152"/>
            <a:ext cx="33139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“访谈/实物/整理/著录/长编”紧扣学术传记编撰全流程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4791" y="4934902"/>
            <a:ext cx="36281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纯实词序列直接为后续构建科学家知识图谱提供实体雏形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238750" y="1428750"/>
            <a:ext cx="6191250" cy="1190625"/>
          </a:xfrm>
          <a:prstGeom prst="roundRect">
            <a:avLst>
              <a:gd name="adj" fmla="val 11200"/>
            </a:avLst>
          </a:prstGeom>
          <a:solidFill>
            <a:srgbClr val="1C2541"/>
          </a:solidFill>
          <a:ln w="14288">
            <a:solidFill>
              <a:srgbClr val="334155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5400675" y="1590675"/>
            <a:ext cx="342900" cy="342900"/>
          </a:xfrm>
          <a:prstGeom prst="ellipse">
            <a:avLst/>
          </a:prstGeom>
          <a:solidFill>
            <a:srgbClr val="EF4444">
              <a:alpha val="20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521104" y="1689735"/>
            <a:ext cx="10204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898642" y="1616392"/>
            <a:ext cx="27397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未登录词惨案：传主姓名惨遭肢解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900547" y="1942624"/>
            <a:ext cx="35060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原生切分：...以 / 黄旭 / 华为 / 代表 / 的 / 五位 / 两院 / 院士...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00547" y="2228374"/>
            <a:ext cx="45503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缺陷剖析：Jieba将“黄旭华”错切为“黄旭”和“华为”，使核心传主频次漏统分散！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238750" y="2809875"/>
            <a:ext cx="6191250" cy="1190625"/>
          </a:xfrm>
          <a:prstGeom prst="roundRect">
            <a:avLst>
              <a:gd name="adj" fmla="val 11200"/>
            </a:avLst>
          </a:prstGeom>
          <a:solidFill>
            <a:srgbClr val="1C2541"/>
          </a:solidFill>
          <a:ln w="14288">
            <a:solidFill>
              <a:srgbClr val="334155"/>
            </a:solidFill>
          </a:ln>
        </p:spPr>
      </p:sp>
      <p:sp>
        <p:nvSpPr>
          <p:cNvPr id="26" name="Ellipse 26"/>
          <p:cNvSpPr/>
          <p:nvPr/>
        </p:nvSpPr>
        <p:spPr>
          <a:xfrm>
            <a:off x="5400675" y="2971800"/>
            <a:ext cx="342900" cy="342900"/>
          </a:xfrm>
          <a:prstGeom prst="ellipse">
            <a:avLst/>
          </a:prstGeom>
          <a:solidFill>
            <a:srgbClr val="38BDF8">
              <a:alpha val="2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521104" y="3070860"/>
            <a:ext cx="10204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98642" y="2997518"/>
            <a:ext cx="27397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注入专有词典：关键概念完整回归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900547" y="3323749"/>
            <a:ext cx="345437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代码操作：jieba.add_word('国立交通大学') 并强行补充人名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900547" y="3609499"/>
            <a:ext cx="470075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效果跃升：成功锁定母校名称（3次）与核心人名，杜绝长专有名词碎片化切割。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238750" y="4191000"/>
            <a:ext cx="6191250" cy="1238250"/>
          </a:xfrm>
          <a:prstGeom prst="roundRect">
            <a:avLst>
              <a:gd name="adj" fmla="val 10769"/>
            </a:avLst>
          </a:prstGeom>
          <a:solidFill>
            <a:srgbClr val="1C2541"/>
          </a:solidFill>
          <a:ln w="14288">
            <a:solidFill>
              <a:srgbClr val="334155"/>
            </a:solidFill>
          </a:ln>
        </p:spPr>
      </p:sp>
      <p:sp>
        <p:nvSpPr>
          <p:cNvPr id="32" name="Ellipse 32"/>
          <p:cNvSpPr/>
          <p:nvPr/>
        </p:nvSpPr>
        <p:spPr>
          <a:xfrm>
            <a:off x="5400675" y="4352925"/>
            <a:ext cx="342900" cy="342900"/>
          </a:xfrm>
          <a:prstGeom prst="ellipse">
            <a:avLst/>
          </a:prstGeom>
          <a:solidFill>
            <a:srgbClr val="10B981">
              <a:alpha val="20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521104" y="4451985"/>
            <a:ext cx="10204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0B981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898642" y="4378642"/>
            <a:ext cx="27397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停用词清洗：沉淀高纯度实体序列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900547" y="4704874"/>
            <a:ext cx="374789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+mn-lt"/>
                <a:ea typeface="+mn-ea"/>
                <a:cs typeface="+mn-cs"/>
              </a:rPr>
              <a:t>纯净结果：黄旭华/核潜艇/采集/学术/资料/院士/专业/工程/研制/...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900547" y="4990624"/>
            <a:ext cx="48471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清洗价值：剔除“在、已、的、了、以、更”等无信息量虚词，保留实词为图谱储备。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62000" y="5619750"/>
            <a:ext cx="10668000" cy="4762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1430">
            <a:solidFill>
              <a:srgbClr val="3A506B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042416" y="5811202"/>
            <a:ext cx="73151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📌 作业深度反思：未登录词（OOV）是分词最大的杀手！在科学纪实与专业领域，必须坚持“词典先行”的工程准则。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55295"/>
            <a:ext cx="838868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模块二 · 指定类型词频统计：字符串匹配机制与可视化实践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5904" y="870585"/>
            <a:ext cx="71657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对比分词统计与直接字符串匹配（data_txt.count），以黄旭华传记指定术语为例实现端到端统计绘图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906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1E293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428750"/>
            <a:ext cx="4381500" cy="4000500"/>
          </a:xfrm>
          <a:prstGeom prst="roundRect">
            <a:avLst>
              <a:gd name="adj" fmla="val 3810"/>
            </a:avLst>
          </a:prstGeom>
          <a:solidFill>
            <a:srgbClr val="1C2541"/>
          </a:solidFill>
          <a:ln w="14288">
            <a:solidFill>
              <a:srgbClr val="334155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39368" y="1679258"/>
            <a:ext cx="26822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字符串匹配机制与原理剖析</a:t>
            </a:r>
          </a:p>
        </p:txBody>
      </p:sp>
      <p:sp>
        <p:nvSpPr>
          <p:cNvPr id="7" name="Rectangle 7"/>
          <p:cNvSpPr/>
          <p:nvPr/>
        </p:nvSpPr>
        <p:spPr>
          <a:xfrm>
            <a:off x="1047750" y="2047875"/>
            <a:ext cx="3810000" cy="1047750"/>
          </a:xfrm>
          <a:prstGeom prst="roundRect">
            <a:avLst>
              <a:gd name="adj" fmla="val 9091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232916" y="2220278"/>
            <a:ext cx="23186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💻 核心代码机制（纯字符串匹配）：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3297" y="2514124"/>
            <a:ext cx="3132657" cy="4288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875"/>
              </a:lnSpc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terms = ['黄旭华', '核潜艇', '国立交通大学']</a:t>
            </a:r>
            <a:br/>
            <a:r>
              <a:rPr lang="en-US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for term in terms: terms_dict[term] = data_txt.count(term)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1654" y="3299460"/>
            <a:ext cx="20036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⚖️ 两大统计范式机理对比：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2416" y="3649028"/>
            <a:ext cx="35360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94A3B8"/>
              </a:buClr>
              <a:buSzTx/>
              <a:buFontTx/>
              <a:buChar char="•"/>
            </a:pPr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分词流：需遍历全局切分，易受词边界歧义与OOV干扰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2416" y="3934778"/>
            <a:ext cx="37695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94A3B8"/>
              </a:buClr>
              <a:buSzTx/>
              <a:buFontTx/>
              <a:buChar char="•"/>
            </a:pPr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匹配流：直接基于子串滑动匹配，跳过切分，结果绝对确定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2416" y="4220528"/>
            <a:ext cx="41471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94A3B8"/>
              </a:buClr>
              <a:buSzTx/>
              <a:buFontTx/>
              <a:buChar char="•"/>
            </a:pPr>
            <a:r>
              <a:rPr lang="zh-CN" sz="10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误差对比：全文分词得黄旭华53次，直接count得到59次真实全量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047750" y="4667250"/>
            <a:ext cx="3810000" cy="523875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233297" y="4895374"/>
            <a:ext cx="374052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✅ 核心优势：在特定目标假说检验中，精确匹配具备极高抗扰性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429250" y="1428750"/>
            <a:ext cx="1905000" cy="1238250"/>
          </a:xfrm>
          <a:prstGeom prst="roundRect">
            <a:avLst>
              <a:gd name="adj" fmla="val 10769"/>
            </a:avLst>
          </a:prstGeom>
          <a:solidFill>
            <a:srgbClr val="1C2541"/>
          </a:solidFill>
          <a:ln w="19050">
            <a:solidFill>
              <a:srgbClr val="38BDF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729478" y="16802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指定实体：黄旭华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39021" y="1945958"/>
            <a:ext cx="68545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59</a:t>
            </a:r>
            <a:r>
              <a:rPr lang="zh-CN" sz="1350" b="1" dirty="0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次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20711" y="2426970"/>
            <a:ext cx="132207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全篇核心传主 / 彻底召回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524750" y="1428750"/>
            <a:ext cx="1905000" cy="1238250"/>
          </a:xfrm>
          <a:prstGeom prst="roundRect">
            <a:avLst>
              <a:gd name="adj" fmla="val 10769"/>
            </a:avLst>
          </a:prstGeom>
          <a:solidFill>
            <a:srgbClr val="1C2541"/>
          </a:solidFill>
          <a:ln w="19050">
            <a:solidFill>
              <a:srgbClr val="818CF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824978" y="16802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指定实体：核潜艇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134521" y="1945958"/>
            <a:ext cx="68545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32</a:t>
            </a:r>
            <a:r>
              <a:rPr lang="zh-CN" sz="1350" b="1" dirty="0">
                <a:solidFill>
                  <a:srgbClr val="818CF8"/>
                </a:solidFill>
                <a:latin typeface="Microsoft YaHei"/>
                <a:ea typeface="Microsoft YaHei"/>
                <a:cs typeface="Microsoft YaHei"/>
              </a:rPr>
              <a:t>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16211" y="2426970"/>
            <a:ext cx="132207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战略重器 / 毕生奉献事业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620250" y="1428750"/>
            <a:ext cx="1809750" cy="1238250"/>
          </a:xfrm>
          <a:prstGeom prst="roundRect">
            <a:avLst>
              <a:gd name="adj" fmla="val 10769"/>
            </a:avLst>
          </a:prstGeom>
          <a:solidFill>
            <a:srgbClr val="1C2541"/>
          </a:solidFill>
          <a:ln w="19050">
            <a:solidFill>
              <a:srgbClr val="34D399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792081" y="1680210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指定实体：国立交大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00325" y="1945958"/>
            <a:ext cx="44959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3</a:t>
            </a:r>
            <a:r>
              <a:rPr lang="zh-CN" sz="1350" b="1" dirty="0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次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14572" y="2426970"/>
            <a:ext cx="12211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造船专业学术原点母校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429250" y="2857500"/>
            <a:ext cx="6000750" cy="2571750"/>
          </a:xfrm>
          <a:prstGeom prst="roundRect">
            <a:avLst>
              <a:gd name="adj" fmla="val 5185"/>
            </a:avLst>
          </a:prstGeom>
          <a:solidFill>
            <a:srgbClr val="1C2541"/>
          </a:solidFill>
          <a:ln w="14288">
            <a:solidFill>
              <a:srgbClr val="33415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660517" y="3045142"/>
            <a:ext cx="25580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数据可视化与工程实战排障反思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667375" y="3381375"/>
            <a:ext cx="5524500" cy="809625"/>
          </a:xfrm>
          <a:prstGeom prst="roundRect">
            <a:avLst>
              <a:gd name="adj" fmla="val 9412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852541" y="3506152"/>
            <a:ext cx="18945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⚠️ 跨平台中文字体缺失排障：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852922" y="3752374"/>
            <a:ext cx="470525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原始示例在Mac下指定 Heiti TC，在Windows环境运行会触发缺少字体方块乱码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852922" y="3971449"/>
            <a:ext cx="467444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38BDF8"/>
              </a:buClr>
              <a:buSzTx/>
              <a:buFontTx/>
              <a:buChar char="•"/>
            </a:pPr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修复方案：rcParams['font.sans-serif'] = ['Microsoft YaHei']，彻底解决中文乱码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667375" y="4333875"/>
            <a:ext cx="5524500" cy="809625"/>
          </a:xfrm>
          <a:prstGeom prst="roundRect">
            <a:avLst>
              <a:gd name="adj" fmla="val 9412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852541" y="4458652"/>
            <a:ext cx="18781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🛠️ Pandas 与绘图函数封装：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852922" y="4704874"/>
            <a:ext cx="480804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封装 draw_dict()：字典转DataFrame ➔ set_index('name') ➔ 降序plot(kind='bar')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852922" y="4923949"/>
            <a:ext cx="44712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94A3B8"/>
              </a:buClr>
              <a:buSzTx/>
              <a:buFontTx/>
              <a:buChar char="•"/>
            </a:pP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排障小记：针对Jupyter内核绘图卡顿，排查并重启Kernel保证图表正常输出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62000" y="5619750"/>
            <a:ext cx="10668000" cy="4762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1042416" y="5811202"/>
            <a:ext cx="80854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🔍 实践验证：指定词汇匹配不仅代码极其轻量，而且为后续的 Pandas 数据清洗与 Matplotlib 柱状图展示提供了规整的输入结构。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55295"/>
            <a:ext cx="871176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模块二续 · 三国人物与武器大数据：指代消歧危机与语义混杂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5904" y="870585"/>
            <a:ext cx="644306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基于《三国演义》全书统计13位名将与50+种兵器，揭示表面字面统计背后的重大认知陷阱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906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1E293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428750"/>
            <a:ext cx="5143500" cy="4000500"/>
          </a:xfrm>
          <a:prstGeom prst="roundRect">
            <a:avLst>
              <a:gd name="adj" fmla="val 3810"/>
            </a:avLst>
          </a:prstGeom>
          <a:solidFill>
            <a:srgbClr val="1C2541"/>
          </a:solidFill>
          <a:ln w="14288">
            <a:solidFill>
              <a:srgbClr val="38BDF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047750" y="1666875"/>
            <a:ext cx="1333500" cy="285750"/>
          </a:xfrm>
          <a:prstGeom prst="roundRect">
            <a:avLst>
              <a:gd name="adj" fmla="val 26667"/>
            </a:avLst>
          </a:prstGeom>
          <a:solidFill>
            <a:srgbClr val="38BDF8">
              <a:alpha val="2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355788" y="175355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名将排行榜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9368" y="2107882"/>
            <a:ext cx="312648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三国角色频次分布与“关羽之谜”</a:t>
            </a:r>
          </a:p>
        </p:txBody>
      </p:sp>
      <p:sp>
        <p:nvSpPr>
          <p:cNvPr id="9" name="Rectangle 9"/>
          <p:cNvSpPr/>
          <p:nvPr/>
        </p:nvSpPr>
        <p:spPr>
          <a:xfrm>
            <a:off x="1047750" y="2476500"/>
            <a:ext cx="4572000" cy="904875"/>
          </a:xfrm>
          <a:prstGeom prst="roundRect">
            <a:avLst>
              <a:gd name="adj" fmla="val 10526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233297" y="2628424"/>
            <a:ext cx="34506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🥇 曹操: 907次 (断层第一) | 🥈 張飛: 347次 | 🥉 呂布: 332次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3297" y="2866549"/>
            <a:ext cx="332444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03028" indent="-103028" algn="l">
              <a:buClr>
                <a:srgbClr val="CBD5E1"/>
              </a:buClr>
              <a:buSzTx/>
              <a:buFontTx/>
              <a:buChar char="●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孫權: 315次 | 趙雲: 301次 | 劉備: 291次 | 司馬懿: 272次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3297" y="3104674"/>
            <a:ext cx="40478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03028" indent="-103028" algn="l">
              <a:buClr>
                <a:srgbClr val="94A3B8"/>
              </a:buClr>
              <a:buSzTx/>
              <a:buFontTx/>
              <a:buChar char="●"/>
            </a:pP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周瑜: 235次 | 馬超: 212次 | 黃忠: 179次 | 諸葛亮: 149次 | 龐統: 80次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047750" y="3524250"/>
            <a:ext cx="4572000" cy="1714500"/>
          </a:xfrm>
          <a:prstGeom prst="roundRect">
            <a:avLst>
              <a:gd name="adj" fmla="val 5556"/>
            </a:avLst>
          </a:prstGeom>
          <a:solidFill>
            <a:srgbClr val="0B132B"/>
          </a:solidFill>
          <a:ln w="14288">
            <a:solidFill>
              <a:srgbClr val="EF4444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232535" y="3669506"/>
            <a:ext cx="298430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🚨 核心震撼发现：关羽 竟然仅出现 8 次？！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3297" y="3971449"/>
            <a:ext cx="351817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现象溯源：作为蜀汉核心战将与义绝化身，频次为何垫底？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3297" y="4209574"/>
            <a:ext cx="430973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F59E0B"/>
              </a:buClr>
              <a:buSzTx/>
              <a:buFontTx/>
              <a:buChar char="•"/>
            </a:pPr>
            <a:r>
              <a:rPr lang="zh-CN" sz="980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根本原因：原著对关羽极尽尊崇，正文中绝大多数场合称其尊称或字号！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3297" y="4447699"/>
            <a:ext cx="342978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38BDF8"/>
              </a:buClr>
              <a:buSzTx/>
              <a:buFontTx/>
              <a:buChar char="•"/>
            </a:pPr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真实化身：“云长”(数百次)、“关公”、“汉寿亭侯”、“关将军”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3297" y="4685824"/>
            <a:ext cx="373796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EF4444"/>
              </a:buClr>
              <a:buSzTx/>
              <a:buFontTx/>
              <a:buChar char="•"/>
            </a:pPr>
            <a:r>
              <a:rPr lang="zh-CN" sz="980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深刻警示：单纯字面匹配存在灾难性的“同义指代召回率黑洞”！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3488" y="4951095"/>
            <a:ext cx="38051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⚠️ 结论：若不进行“指代消解与别名合并”，统计结论将严重误导定性！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1428750"/>
            <a:ext cx="5238750" cy="4000500"/>
          </a:xfrm>
          <a:prstGeom prst="roundRect">
            <a:avLst>
              <a:gd name="adj" fmla="val 3810"/>
            </a:avLst>
          </a:prstGeom>
          <a:solidFill>
            <a:srgbClr val="1C2541"/>
          </a:solidFill>
          <a:ln w="14288">
            <a:solidFill>
              <a:srgbClr val="F59E0B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429375" y="1666875"/>
            <a:ext cx="1333500" cy="285750"/>
          </a:xfrm>
          <a:prstGeom prst="roundRect">
            <a:avLst>
              <a:gd name="adj" fmla="val 26667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666738" y="175355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兵器长尾特征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20993" y="210788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武器频次分布与语义混淆剖析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429375" y="2476500"/>
            <a:ext cx="4762500" cy="904875"/>
          </a:xfrm>
          <a:prstGeom prst="roundRect">
            <a:avLst>
              <a:gd name="adj" fmla="val 10526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614922" y="2628424"/>
            <a:ext cx="32087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03028" indent="-103028" algn="l">
              <a:buClr>
                <a:srgbClr val="F59E0B"/>
              </a:buClr>
              <a:buSzTx/>
              <a:buFontTx/>
              <a:buChar char="●"/>
            </a:pPr>
            <a:r>
              <a:rPr lang="zh-CN" sz="980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大斧: 14次 (高居第一) | 丈八點鋼矛: 4次 | 雙股劍: 3次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14922" y="2866549"/>
            <a:ext cx="352898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03028" indent="-103028" algn="l">
              <a:buClr>
                <a:srgbClr val="CBD5E1"/>
              </a:buClr>
              <a:buSzTx/>
              <a:buFontTx/>
              <a:buChar char="●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寶雕弓: 3次 | 流星錘: 3次 | 青龍偃月刀: 2次 | 方天畫戟: 2次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14922" y="3104674"/>
            <a:ext cx="419546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103028" indent="-103028" algn="l">
              <a:buClr>
                <a:srgbClr val="94A3B8"/>
              </a:buClr>
              <a:buSzTx/>
              <a:buFontTx/>
              <a:buChar char="●"/>
            </a:pPr>
            <a:r>
              <a:rPr lang="zh-CN" sz="98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大量神兵为 0 次：青釭剑、諸葛連弩、孟德劍、思召劍、松紋廂寶劍...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429375" y="3524250"/>
            <a:ext cx="4762500" cy="1714500"/>
          </a:xfrm>
          <a:prstGeom prst="roundRect">
            <a:avLst>
              <a:gd name="adj" fmla="val 5556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6614160" y="3669506"/>
            <a:ext cx="21716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🔍 兵器统计失真原因深度挖掘：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14922" y="3971449"/>
            <a:ext cx="400181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“大斧”频次居首：属于普通器物泛称，易与开山工具及行刑动词混淆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14922" y="4209574"/>
            <a:ext cx="39577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著名神兵简称出场：原著多写“提刀上马”，极少每次念“青龙偃月刀”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14922" y="4447699"/>
            <a:ext cx="400181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CBD5E1"/>
              </a:buClr>
              <a:buSzTx/>
              <a:buFontTx/>
              <a:buChar char="•"/>
            </a:pPr>
            <a:r>
              <a:rPr lang="zh-CN" sz="98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兵器归属无关联：字面统计只能计数，无法确定“丈八蛇矛属于张飞”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14922" y="4685824"/>
            <a:ext cx="351817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78148" indent="-78148" algn="l">
              <a:buClr>
                <a:srgbClr val="34D399"/>
              </a:buClr>
              <a:buSzTx/>
              <a:buFontTx/>
              <a:buChar char="•"/>
            </a:pPr>
            <a:r>
              <a:rPr lang="zh-CN" sz="980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破局之路：必须结合语法依存分析与实体所有格关系抽取！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15112" y="4951095"/>
            <a:ext cx="344166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🎯 启示：脱离上下文语境的匹配，无法还原真实的武备作战场景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62000" y="5619750"/>
            <a:ext cx="10668000" cy="4762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1430">
            <a:solidFill>
              <a:srgbClr val="3A506B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042416" y="5811202"/>
            <a:ext cx="940311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⚠️ 关键警示：字面匹配的致命软肋在于“一实多名”（Alias）与“一词多义”（Polysemy），若不引入共指消解与本体同义映射，统计结果将严重失真！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55295"/>
            <a:ext cx="838868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模块三 · 词频统计的方法论反思：从孤立频次走向认知图谱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5904" y="870585"/>
            <a:ext cx="5666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系统对比两大统计范式优劣，直面词频表征局限，探索迈向知识图谱的必由之路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906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1E293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428750"/>
            <a:ext cx="3333750" cy="40005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4288">
            <a:solidFill>
              <a:srgbClr val="38BDF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047750" y="1714500"/>
            <a:ext cx="1238250" cy="304800"/>
          </a:xfrm>
          <a:prstGeom prst="roundRect">
            <a:avLst>
              <a:gd name="adj" fmla="val 25000"/>
            </a:avLst>
          </a:prstGeom>
          <a:solidFill>
            <a:srgbClr val="38BDF8">
              <a:alpha val="2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07869" y="1810702"/>
            <a:ext cx="11180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反思 1：范式对比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0130" y="2171700"/>
            <a:ext cx="216942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分词统计 vs 字符串匹配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2035" y="2688431"/>
            <a:ext cx="15191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两大路径的本质权衡：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2416" y="2982278"/>
            <a:ext cx="17906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全文分词：无监督全域探索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2416" y="3268028"/>
            <a:ext cx="21801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自底向上生成主题，但受困于OOV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2416" y="3553778"/>
            <a:ext cx="19319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字符匹配：先验目标假设检验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2416" y="3839528"/>
            <a:ext cx="213093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零分词损耗，但依赖事先定义词表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2416" y="4125278"/>
            <a:ext cx="20733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结论：两者为互补关系而非替代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047750" y="4619625"/>
            <a:ext cx="2762250" cy="571500"/>
          </a:xfrm>
          <a:prstGeom prst="roundRect">
            <a:avLst>
              <a:gd name="adj" fmla="val 1333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185672" y="4738401"/>
            <a:ext cx="2001266" cy="3811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🎯 学员总结：探索未知用分词，</a:t>
            </a:r>
            <a:br>
              <a:rPr dirty="0"/>
            </a:br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精准测度用匹配，构建图谱需并举！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429125" y="1428750"/>
            <a:ext cx="3333750" cy="40005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4288">
            <a:solidFill>
              <a:srgbClr val="F59E0B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714875" y="1714500"/>
            <a:ext cx="1238250" cy="304800"/>
          </a:xfrm>
          <a:prstGeom prst="roundRect">
            <a:avLst>
              <a:gd name="adj" fmla="val 25000"/>
            </a:avLst>
          </a:prstGeom>
          <a:solidFill>
            <a:srgbClr val="F59E0B">
              <a:alpha val="2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774994" y="1810702"/>
            <a:ext cx="11180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反思 2：固有缺陷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07255" y="217170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词频本身存在什么局限？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09160" y="2688431"/>
            <a:ext cx="15191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噪声失真与指代盲区：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09541" y="2982278"/>
            <a:ext cx="23560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虚词与标点刷榜，需重度停用词维护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09541" y="3268028"/>
            <a:ext cx="23952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一实多名（关羽/云长）导致频次撕裂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09541" y="3553778"/>
            <a:ext cx="23560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一词多义（大斧）导致概念泛化失真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09541" y="3839528"/>
            <a:ext cx="23560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频次高不等于重要，长尾罕见词常具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09541" y="4125278"/>
            <a:ext cx="22722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颠覆性知识价值（如冷门科技术语）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714875" y="4619625"/>
            <a:ext cx="2762250" cy="571500"/>
          </a:xfrm>
          <a:prstGeom prst="roundRect">
            <a:avLst>
              <a:gd name="adj" fmla="val 1333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4852797" y="4734058"/>
            <a:ext cx="2284761" cy="3811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CN" sz="980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⚠️ 学员总结：若不洗停用词，统计失效；</a:t>
            </a:r>
            <a:br>
              <a:rPr dirty="0"/>
            </a:br>
            <a:r>
              <a:rPr lang="zh-CN" sz="980" dirty="0">
                <a:solidFill>
                  <a:srgbClr val="F59E0B"/>
                </a:solidFill>
                <a:latin typeface="+mn-lt"/>
                <a:ea typeface="+mn-ea"/>
                <a:cs typeface="+mn-cs"/>
              </a:rPr>
              <a:t>若单看频次，极易产生定性误判！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096250" y="1428750"/>
            <a:ext cx="3333750" cy="40005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4288">
            <a:solidFill>
              <a:srgbClr val="EF4444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8382000" y="1714500"/>
            <a:ext cx="1238250" cy="304800"/>
          </a:xfrm>
          <a:prstGeom prst="roundRect">
            <a:avLst>
              <a:gd name="adj" fmla="val 25000"/>
            </a:avLst>
          </a:prstGeom>
          <a:solidFill>
            <a:srgbClr val="EF4444">
              <a:alpha val="20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442119" y="1810702"/>
            <a:ext cx="11180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反思 3：终极破局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74380" y="2171700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如何从孤立走向因果关联？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6285" y="2688431"/>
            <a:ext cx="182072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迈向知识图谱的三大阶梯：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6666" y="2982278"/>
            <a:ext cx="19319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阶梯一：实体对齐与共指消解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6666" y="3268028"/>
            <a:ext cx="21229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将“云长/关公”聚合为唯一实体关羽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76666" y="3553778"/>
            <a:ext cx="19319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阶梯二：共现网络与社区发现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76666" y="3839528"/>
            <a:ext cx="217800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通过曹操-刘备同框频次构建关系边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76666" y="4125278"/>
            <a:ext cx="19319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阶梯三：大模型实体关系抽取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382000" y="4619625"/>
            <a:ext cx="2762250" cy="571500"/>
          </a:xfrm>
          <a:prstGeom prst="roundRect">
            <a:avLst>
              <a:gd name="adj" fmla="val 1333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8519922" y="4738401"/>
            <a:ext cx="2284761" cy="3811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CN" sz="980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🚀 学员洞察：必须引入语义抽取与图谱，</a:t>
            </a:r>
            <a:br>
              <a:rPr dirty="0"/>
            </a:br>
            <a:r>
              <a:rPr lang="zh-CN" sz="980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才能将离散频次编织为因果知识！</a:t>
            </a:r>
          </a:p>
        </p:txBody>
      </p:sp>
      <p:sp>
        <p:nvSpPr>
          <p:cNvPr id="41" name="Rectangle 41"/>
          <p:cNvSpPr/>
          <p:nvPr/>
        </p:nvSpPr>
        <p:spPr>
          <a:xfrm>
            <a:off x="762000" y="5619750"/>
            <a:ext cx="10668000" cy="4762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1430">
            <a:solidFill>
              <a:srgbClr val="3A506B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1042416" y="5811202"/>
            <a:ext cx="73057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⚡ 核心结语：传统分词统计让我们“感知”了词频的存在；但要“理解”世界的知识关系，必须引入实体对齐与知识图谱！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55295"/>
            <a:ext cx="548088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课程总结与反思 · 感知世界、洞见知识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5904" y="870585"/>
            <a:ext cx="61508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综合复盘：技术工具链掌握、工程排障沉淀、以及从离散词频走向知识图谱的学术跃迁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906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4288">
            <a:solidFill>
              <a:srgbClr val="1E293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428750"/>
            <a:ext cx="3333750" cy="38100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4288">
            <a:solidFill>
              <a:srgbClr val="38BDF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047750" y="1714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38BDF8">
              <a:alpha val="15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53948" y="1850708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0130" y="2314575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技术工具链沉淀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2416" y="2648902"/>
            <a:ext cx="1706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“工欲善其事，必先利其器”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2416" y="3077528"/>
            <a:ext cx="24945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熟练运用 Jieba 分词与自定义词典机制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2416" y="3363278"/>
            <a:ext cx="285237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掌握多编码读写（UTF-8/GB18030/ANSI）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2416" y="3649028"/>
            <a:ext cx="263654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掌握字典聚合、列表推导与 Pandas 整理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2416" y="3934778"/>
            <a:ext cx="233664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构建 Matplotlib 排序柱状图可视化流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047750" y="4429125"/>
            <a:ext cx="2762250" cy="571500"/>
          </a:xfrm>
          <a:prstGeom prst="roundRect">
            <a:avLst>
              <a:gd name="adj" fmla="val 1333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185672" y="4548704"/>
            <a:ext cx="2160301" cy="3811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🌟 学员心声：打通了从文本底层读取到</a:t>
            </a:r>
            <a:br>
              <a:rPr dirty="0"/>
            </a:br>
            <a:r>
              <a:rPr lang="zh-CN" sz="980" dirty="0">
                <a:solidFill>
                  <a:srgbClr val="38BDF8"/>
                </a:solidFill>
                <a:latin typeface="+mn-lt"/>
                <a:ea typeface="+mn-ea"/>
                <a:cs typeface="+mn-cs"/>
              </a:rPr>
              <a:t>统计图表直观输出的完整工程闭环。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429125" y="1428750"/>
            <a:ext cx="3333750" cy="38100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4288">
            <a:solidFill>
              <a:srgbClr val="818CF8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714875" y="1714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818CF8">
              <a:alpha val="15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821073" y="1850708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07255" y="2314575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严谨工程排障反思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09541" y="2648902"/>
            <a:ext cx="22722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“细微之处见真章，数据必须求甚解”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09541" y="3077528"/>
            <a:ext cx="28193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警惕分词拆散（黄旭/华为），树立词典意识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09541" y="3363278"/>
            <a:ext cx="238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剖析“关羽仅8次”，识破表面字面陷阱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09541" y="3649028"/>
            <a:ext cx="27833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调试跨平台字体映射（微软雅黑替代Heiti）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09541" y="3934778"/>
            <a:ext cx="24973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面对文言特殊句法，懂得因地制宜优化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714875" y="4429125"/>
            <a:ext cx="2762250" cy="571500"/>
          </a:xfrm>
          <a:prstGeom prst="roundRect">
            <a:avLst>
              <a:gd name="adj" fmla="val 1333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852797" y="4542567"/>
            <a:ext cx="2125726" cy="3811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CN" sz="980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🎯 调优核心：统计不是盲目跑数，</a:t>
            </a:r>
            <a:br>
              <a:rPr dirty="0"/>
            </a:br>
            <a:r>
              <a:rPr lang="zh-CN" sz="980" dirty="0">
                <a:solidFill>
                  <a:srgbClr val="818CF8"/>
                </a:solidFill>
                <a:latin typeface="+mn-lt"/>
                <a:ea typeface="+mn-ea"/>
                <a:cs typeface="+mn-cs"/>
              </a:rPr>
              <a:t>对异常结果的溯源追问才是科研精髓。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428750"/>
            <a:ext cx="3333750" cy="3810000"/>
          </a:xfrm>
          <a:prstGeom prst="roundRect">
            <a:avLst>
              <a:gd name="adj" fmla="val 4571"/>
            </a:avLst>
          </a:prstGeom>
          <a:solidFill>
            <a:srgbClr val="1C2541"/>
          </a:solidFill>
          <a:ln w="14288">
            <a:solidFill>
              <a:srgbClr val="34D399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8382000" y="1714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34D399">
              <a:alpha val="15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488198" y="1850708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4380" y="2314575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知识图谱进阶远景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76666" y="2648902"/>
            <a:ext cx="15655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从离散频次走向语义网络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76666" y="3077528"/>
            <a:ext cx="24973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词频统计是知识图谱中实体挖掘的基础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6666" y="3363278"/>
            <a:ext cx="26713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下一步：引入命名实体识别（NER）技术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6666" y="3649028"/>
            <a:ext cx="28079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探索大模型（Gemini）在实体抽取中的赋能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6666" y="3934778"/>
            <a:ext cx="27641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83730" indent="-83730" algn="l">
              <a:buClr>
                <a:srgbClr val="CBD5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抽取 (实体-关系-实体) 三元组构建行业图谱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382000" y="4429125"/>
            <a:ext cx="2762250" cy="571500"/>
          </a:xfrm>
          <a:prstGeom prst="roundRect">
            <a:avLst>
              <a:gd name="adj" fmla="val 13333"/>
            </a:avLst>
          </a:prstGeom>
          <a:solidFill>
            <a:srgbClr val="0B132B"/>
          </a:solidFill>
          <a:ln w="9525">
            <a:solidFill>
              <a:srgbClr val="334155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519922" y="4524279"/>
            <a:ext cx="2374646" cy="3811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1500"/>
              </a:lnSpc>
            </a:pPr>
            <a:r>
              <a:rPr lang="zh-CN" sz="980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🚀 未来方向：把离散实体连成因果网络，</a:t>
            </a:r>
            <a:br>
              <a:rPr dirty="0"/>
            </a:br>
            <a:r>
              <a:rPr lang="zh-CN" sz="980" dirty="0">
                <a:solidFill>
                  <a:srgbClr val="34D399"/>
                </a:solidFill>
                <a:latin typeface="+mn-lt"/>
                <a:ea typeface="+mn-ea"/>
                <a:cs typeface="+mn-cs"/>
              </a:rPr>
              <a:t>构建垂直领域高价值科技与文史知识图谱！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62000" y="5476875"/>
            <a:ext cx="10668000" cy="619125"/>
          </a:xfrm>
          <a:prstGeom prst="roundRect">
            <a:avLst>
              <a:gd name="adj" fmla="val 21538"/>
            </a:avLst>
          </a:prstGeom>
          <a:solidFill>
            <a:srgbClr val="1E293B"/>
          </a:solidFill>
          <a:ln w="14288">
            <a:solidFill>
              <a:srgbClr val="3A506B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3850349" y="5695950"/>
            <a:ext cx="449130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感谢聆听 · 欢迎交流与探讨！ 感知世界，洞见知识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text_mining_lecture2_assignment">
  <a:themeElements>
    <a:clrScheme name="text_mining_lecture2_assignmen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xt_mining_lecture2_assignmen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xt_mining_lecture2_assignm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4343</Words>
  <Application>Microsoft Office PowerPoint</Application>
  <PresentationFormat>宽屏</PresentationFormat>
  <Paragraphs>222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Microsoft YaHei</vt:lpstr>
      <vt:lpstr>Arial</vt:lpstr>
      <vt:lpstr>text_mining_lecture2_assignment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梓祺 钟</cp:lastModifiedBy>
  <cp:revision>2</cp:revision>
  <dcterms:created xsi:type="dcterms:W3CDTF">2026-10-09T06:25:56Z</dcterms:created>
  <dcterms:modified xsi:type="dcterms:W3CDTF">2026-10-09T06:31:16Z</dcterms:modified>
  <cp:category/>
  <cp:contentStatus/>
  <dc:language>zh-CN</dc:language>
</cp:coreProperties>
</file>